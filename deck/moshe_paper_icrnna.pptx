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accuracy %</c:v>
                </c:pt>
              </c:strCache>
            </c:strRef>
          </c:tx>
          <c:spPr>
            <a:solidFill>
              <a:srgbClr val="0F1B2D"/>
            </a:solidFill>
            <a:effectLst/>
          </c:spPr>
          <c:invertIfNegative val="0"/>
          <c:dLbls>
            <c:numFmt formatCode="0.00" sourceLinked="0"/>
            <c:txPr>
              <a:bodyPr/>
              <a:lstStyle/>
              <a:p>
                <a:pPr>
                  <a:defRPr b="0" i="0" strike="noStrike" sz="1500" u="none">
                    <a:solidFill>
                      <a:srgbClr val="1E293B"/>
                    </a:solidFill>
                    <a:latin typeface="Calibri"/>
                  </a:defRPr>
                </a:pPr>
              </a:p>
            </c:txPr>
            <c:showLegendKey val="0"/>
            <c:showVal val="1"/>
            <c:showCatName val="0"/>
            <c:showSerName val="0"/>
            <c:showPercent val="0"/>
            <c:showBubbleSize val="0"/>
            <c:showLeaderLines val="0"/>
          </c:dLbls>
          <c:dPt>
            <c:idx val="0"/>
            <c:invertIfNegative val="0"/>
            <c:bubble3D val="0"/>
            <c:spPr>
              <a:solidFill>
                <a:srgbClr val="0F1B2D"/>
              </a:solidFill>
              <a:effectLst/>
            </c:spPr>
          </c:dPt>
          <c:dPt>
            <c:idx val="1"/>
            <c:invertIfNegative val="0"/>
            <c:bubble3D val="0"/>
            <c:spPr>
              <a:solidFill>
                <a:srgbClr val="0F1B2D"/>
              </a:solidFill>
              <a:effectLst/>
            </c:spPr>
          </c:dPt>
          <c:dPt>
            <c:idx val="2"/>
            <c:invertIfNegative val="0"/>
            <c:bubble3D val="0"/>
            <c:spPr>
              <a:solidFill>
                <a:srgbClr val="0F1B2D"/>
              </a:solidFill>
              <a:effectLst/>
            </c:spPr>
          </c:dPt>
          <c:dPt>
            <c:idx val="3"/>
            <c:invertIfNegative val="0"/>
            <c:bubble3D val="0"/>
            <c:spPr>
              <a:solidFill>
                <a:srgbClr val="0F1B2D"/>
              </a:solidFill>
              <a:effectLst/>
            </c:spPr>
          </c:dPt>
          <c:dPt>
            <c:idx val="4"/>
            <c:invertIfNegative val="0"/>
            <c:bubble3D val="0"/>
            <c:spPr>
              <a:solidFill>
                <a:srgbClr val="0F1B2D"/>
              </a:solidFill>
              <a:effectLst/>
            </c:spPr>
          </c:dPt>
          <c:dPt>
            <c:idx val="5"/>
            <c:invertIfNegative val="0"/>
            <c:bubble3D val="0"/>
            <c:spPr>
              <a:solidFill>
                <a:srgbClr val="0F1B2D"/>
              </a:solidFill>
              <a:effectLst/>
            </c:spPr>
          </c:dPt>
          <c:dPt>
            <c:idx val="6"/>
            <c:invertIfNegative val="0"/>
            <c:bubble3D val="0"/>
            <c:spPr>
              <a:solidFill>
                <a:srgbClr val="0F1B2D"/>
              </a:solidFill>
              <a:effectLst/>
            </c:spPr>
          </c:dPt>
          <c:dPt>
            <c:idx val="7"/>
            <c:invertIfNegative val="0"/>
            <c:bubble3D val="0"/>
            <c:spPr>
              <a:solidFill>
                <a:srgbClr val="0F1B2D"/>
              </a:solidFill>
              <a:effectLst/>
            </c:spPr>
          </c:dPt>
          <c:dPt>
            <c:idx val="8"/>
            <c:invertIfNegative val="0"/>
            <c:bubble3D val="0"/>
            <c:spPr>
              <a:solidFill>
                <a:srgbClr val="0F1B2D"/>
              </a:solidFill>
              <a:effectLst/>
            </c:spPr>
          </c:dPt>
          <c:dPt>
            <c:idx val="9"/>
            <c:invertIfNegative val="0"/>
            <c:bubble3D val="0"/>
            <c:spPr>
              <a:solidFill>
                <a:srgbClr val="0F1B2D"/>
              </a:solidFill>
              <a:effectLst/>
            </c:spPr>
          </c:dPt>
          <c:dPt>
            <c:idx val="10"/>
            <c:invertIfNegative val="0"/>
            <c:bubble3D val="0"/>
            <c:spPr>
              <a:solidFill>
                <a:srgbClr val="8FA0B5"/>
              </a:solidFill>
              <a:effectLst/>
            </c:spPr>
          </c:dPt>
          <c:dPt>
            <c:idx val="11"/>
            <c:invertIfNegative val="0"/>
            <c:bubble3D val="0"/>
            <c:spPr>
              <a:solidFill>
                <a:srgbClr val="F08A24"/>
              </a:solidFill>
              <a:effectLst/>
            </c:spPr>
          </c:dPt>
          <c:cat>
            <c:multiLvlStrRef>
              <c:f>Sheet1!$A$2:$A$13</c:f>
              <c:multiLvlStrCache>
                <c:ptCount val="12"/>
                <c:lvl>
                  <c:pt idx="0">
                    <c:v>Transformer</c:v>
                  </c:pt>
                  <c:pt idx="1">
                    <c:v>MCNet</c:v>
                  </c:pt>
                  <c:pt idx="2">
                    <c:v>CGDNet</c:v>
                  </c:pt>
                  <c:pt idx="3">
                    <c:v>IC-AMCNet</c:v>
                  </c:pt>
                  <c:pt idx="4">
                    <c:v>CVCNN</c:v>
                  </c:pt>
                  <c:pt idx="5">
                    <c:v>ResNet</c:v>
                  </c:pt>
                  <c:pt idx="6">
                    <c:v>DAE</c:v>
                  </c:pt>
                  <c:pt idx="7">
                    <c:v>PET-CGDNN</c:v>
                  </c:pt>
                  <c:pt idx="8">
                    <c:v>MAMCA</c:v>
                  </c:pt>
                  <c:pt idx="9">
                    <c:v>MCLDNN</c:v>
                  </c:pt>
                  <c:pt idx="10">
                    <c:v>CNN-BiLSTM-DNN</c:v>
                  </c:pt>
                  <c:pt idx="11">
                    <c:v>ICRNNA</c:v>
                  </c:pt>
                </c:lvl>
              </c:multiLvlStrCache>
            </c:multiLvlStrRef>
          </c:cat>
          <c:val>
            <c:numRef>
              <c:f>Sheet1!$B$2:$B$13</c:f>
              <c:numCache>
                <c:formatCode>General</c:formatCode>
                <c:ptCount val="12"/>
                <c:pt idx="0">
                  <c:v>55.34</c:v>
                </c:pt>
                <c:pt idx="1">
                  <c:v>56.2</c:v>
                </c:pt>
                <c:pt idx="2">
                  <c:v>56.21</c:v>
                </c:pt>
                <c:pt idx="3">
                  <c:v>56.3</c:v>
                </c:pt>
                <c:pt idx="4">
                  <c:v>56.37</c:v>
                </c:pt>
                <c:pt idx="5">
                  <c:v>57.1</c:v>
                </c:pt>
                <c:pt idx="6">
                  <c:v>60.22</c:v>
                </c:pt>
                <c:pt idx="7">
                  <c:v>60.58</c:v>
                </c:pt>
                <c:pt idx="8">
                  <c:v>60.79</c:v>
                </c:pt>
                <c:pt idx="9">
                  <c:v>61.42</c:v>
                </c:pt>
                <c:pt idx="10">
                  <c:v>62.73</c:v>
                </c:pt>
                <c:pt idx="11">
                  <c:v>63.24</c:v>
                </c:pt>
              </c:numCache>
            </c:numRef>
          </c:val>
        </c:ser>
        <c:dLbls>
          <c:numFmt formatCode="0.00" sourceLinked="0"/>
          <c:txPr>
            <a:bodyPr/>
            <a:lstStyle/>
            <a:p>
              <a:pPr>
                <a:defRPr b="0" i="0" strike="noStrike" sz="1500" u="none">
                  <a:solidFill>
                    <a:srgbClr val="1E293B"/>
                  </a:solidFill>
                  <a:latin typeface="Calibri"/>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500" b="0" i="0" u="none" strike="noStrike">
                <a:solidFill>
                  <a:srgbClr val="1E293B"/>
                </a:solidFill>
                <a:latin typeface="Calibri"/>
              </a:defRPr>
            </a:pPr>
            <a:endParaRPr lang="en-US"/>
          </a:p>
        </c:txPr>
        <c:crossAx val="2094734552"/>
        <c:crosses val="autoZero"/>
        <c:auto val="1"/>
        <c:lblAlgn val="ctr"/>
        <c:noMultiLvlLbl val="1"/>
      </c:catAx>
      <c:valAx>
        <c:axId val="2094734552"/>
        <c:scaling>
          <c:orientation val="minMax"/>
          <c:max val="7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numbers</c:v>
                </c:pt>
              </c:strCache>
            </c:strRef>
          </c:tx>
          <c:spPr>
            <a:solidFill>
              <a:schemeClr val="accent1"/>
            </a:solidFill>
            <a:ln w="9525" cap="flat">
              <a:solidFill>
                <a:srgbClr val="F9F9F9"/>
              </a:solidFill>
              <a:prstDash val="solid"/>
              <a:round/>
            </a:ln>
            <a:effectLst/>
          </c:spPr>
          <c:dPt>
            <c:idx val="0"/>
            <c:bubble3D val="0"/>
            <c:spPr>
              <a:solidFill>
                <a:srgbClr val="F08A24"/>
              </a:solidFill>
              <a:effectLst/>
            </c:spPr>
          </c:dPt>
          <c:dPt>
            <c:idx val="1"/>
            <c:bubble3D val="0"/>
            <c:spPr>
              <a:solidFill>
                <a:srgbClr val="0F1B2D"/>
              </a:solidFill>
              <a:effectLst/>
            </c:spPr>
          </c:dPt>
          <c:dPt>
            <c:idx val="2"/>
            <c:bubble3D val="0"/>
            <c:spPr>
              <a:solidFill>
                <a:srgbClr val="8FA0B5"/>
              </a:solidFill>
              <a:effectLst/>
            </c:spPr>
          </c:dPt>
          <c:dPt>
            <c:idx val="3"/>
            <c:bubble3D val="0"/>
            <c:spPr>
              <a:solidFill>
                <a:srgbClr val="C9D3E0"/>
              </a:solidFill>
              <a:effectLst/>
            </c:spPr>
          </c:dPt>
          <c:dLbls>
            <c:dLbl>
              <c:idx val="0"/>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BiLSTM</c:v>
                </c:pt>
                <c:pt idx="1">
                  <c:v>Attention</c:v>
                </c:pt>
                <c:pt idx="2">
                  <c:v>Dense</c:v>
                </c:pt>
                <c:pt idx="3">
                  <c:v>CNN</c:v>
                </c:pt>
              </c:strCache>
            </c:strRef>
          </c:cat>
          <c:val>
            <c:numRef>
              <c:f>Sheet1!$B$2:$B$5</c:f>
              <c:numCache>
                <c:ptCount val="4"/>
                <c:pt idx="0">
                  <c:v>659456</c:v>
                </c:pt>
                <c:pt idx="1">
                  <c:v>66177</c:v>
                </c:pt>
                <c:pt idx="2">
                  <c:v>42635</c:v>
                </c:pt>
                <c:pt idx="3">
                  <c:v>25920</c:v>
                </c:pt>
              </c:numCache>
            </c:numRef>
          </c:val>
        </c:ser>
        <c:firstSliceAng val="0"/>
        <c:holeSize val="55"/>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 present the paper our classifier comes from: ICRNNA, from a group in Morocco, published in 2025. I'll keep it simple: what it does, how it works, what it reports, and whether it holds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in one sentence: a neural network looks at 128 samples of a radio signal and says which of 11 modulations sent it. They report 63.24 percent right on this dataset, the best of the twelve models they compare. My own classifier is built on this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the same dataset we use, RML2016.10a: eleven modulation types, eight digital and three analog. Twenty noise levels, from minus 20 to plus 18 dB in steps of 2, and 1,000 frames of each type at each level: 220,000 frames. Each frame is 128 samples of I and 128 of Q. That is the only input; the network sees nothing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it work? Four steps. One: it looks at short pieces of the signal, with small filters that slide along it. Two: it reads those pieces in order, forwards and backwards, carrying a memory from piece to piece. Three: it weighs the pieces and takes a weighted average. Four: it gives eleven confidence scores, one per modulation, and the largest wins. Most of the network, 83 percent, is in step two. That is the heart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an LSTM? It is the layer in step two. It reads the 64 pieces one at a time and carries a memory of 128 numbers from piece to piece. At every piece, three gates act like valves. The forget gate decides how much of the old memory to keep: zero erases it, one keeps all of it. The input gate decides how much of the new piece to write into the memory. The output gate decides how much of the memory to pass on. Each gate is a small learned layer, set fresh at every piece. In signal-processing terms, the memory update is a leaky integrator whose pole the data sets at every step: near one it holds, near zero it resets. In ICRNNA it reads the frame forwards and backwards, in two layers, and holds 83 percent of the model's numbers. It matters because a modulation is a pattern across symbols, and this is the only step that reads across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was it trained and tested? The dataset is split three ways. 70 percent of it, 154,000 frames with the right answer, to learn from. 15 percent, 33,000 frames, to decide when to stop learning. And the last 15 percent, 33,000 frames, kept aside to test the classifier: they are never used for learning, and every result is counted on them. It stopped by itself after 58 passes over the data, and they did it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Their main result. ICRNNA is first, at 63.24 percent. The next model is half a point behind. The well-known older ones are two to three points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it still make mistakes, at 0 dB? This is their figure. About 150 test frames of each type, labelled 0 dB, went in; each row is one true type, and the columns are what the classifier said. Three weak spots. WBFM is called AM-DSB more than half the time: about 85 of some 145 frames. QAM16 and QAM64 are mixed up, about 6 percent each way. And 8PSK: of 161 frames, 148 are right; 7 are called QPSK, its nearest neighbour, and a few go to the QAM types. The other seven types are 96 to 100 percent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much better is it, really? We trained five published models the same way: same data, same split, three repeats each. ICRNNA is first, but only by about one point. At 10 dB and above, the best four are all about 91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It is a neural network in four steps, and step two, reading in order, does most of the work. And it is about one point better than older models, not a big jump. For us, it is a solid classifier to build on. Thank you. I have more detail on each step if you'd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slides with the details, if you want to go deeper.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model. A frame of 2 by 128 goes in. Four blocks process it. Eleven probabilities come out, one per modulation, and the largest is the answer. Below each block I wrote the size of what comes out of it, so you can follow one frame through. I'll now take the blocks one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one: two convolution layers. A convolution here is a short filter, three samples long, slid along the frame, like an FIR filter whose taps are learned instead of designed. The first layer has 64 such filters, the second 128. So every time step is now described by 128 numbers. Then a pooling step keeps the larger of each pair of neighbours, so 128 time steps become 64. Each of the 64 steps summarizes about 6 samples, less than one symbol.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two: two bidirectional LSTM layers. An LSTM reads the 64 steps in order, one at a time, and carries a memory from step to step. Bidirectional means a second LSTM reads the same steps backwards. So at every step, the output knows what came before and what comes after: 128 numbers from each direction, 256 in total. This block holds 83 percent of the model's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three: attention. Each of the 64 steps gets a score from a small learned network. A softmax turns the scores into weights that add up to one. The output is the weighted average of the 64 steps: one vector of 256 numbers for the whole frame. The paper calls it improved because of three additions. From their code we now know exactly what they are: a learned scale on the scores, dropout on the weights, and a normalization of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four: the decision. Two ordinary layers, 128 and 64 numbers, and then 11 outputs. A softmax turns them into probabilities, and the largest one is the answer. In total the model has 794 thousand numbers. The pie shows where they are: almost all in the LSTM.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it is trained. Seventy percent of the frames to learn from, fifteen to watch, fifteen to test. Batches of 32 frames; the loss is cross-entropy; the optimizer is Adam with learning rate 0.001. When the validation loss stops improving for 5 epochs, the learning rate is cut by five. When it stops improving for 6 epochs, training stops and the best weights are restored. The paper's table says 58 epochs. From their code we now know that 58 is where this stopping rule fired, not a number they chose. They trained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their code tell us? Three things. First, the model in the code is the model in the paper: same layers, 794 thousand numbers. Second, the 58 epochs in the paper were not a choice: the training stops by itself when it stops improving, and for them that happened at 58. Third, they trained it once: one split of the data, one run, one number. And one run leaves a question: how much would that number move if you ran it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detail about the 58 epochs. Their stopping rule watches the validation loss, and the loss had flattened. But the validation accuracy, in their own figure on the right, is still rising at 58. When I trained our rebuild for a fixed 58 epochs, I got 61.75 percent. Letting it continue, it peaked at epoch 107 at 63.21. So their number is real, but it sits where the accuracy was still climbing.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knew any code existed, I rebuilt the model from the paper's text alone. Its size matched: 794,827 numbers. In August the authors released their code, and it confirms our reading: one pooling step, normalization after each LSTM, dropout on the attention weights. We missed a few details: the exact form of the attention, the input normalization, and gradient clipping. Trained until it stopped improving, our rebuild reached 63.21 percent, against their 63.24.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their tables closely, three statements in the text don't match their own numbers. Best at low SNR: in their Table 5, other models are higher at minus 10, minus 8 and minus 6 dB. Highest precision: in Table 6, the LSTM-only model is higher. And MCLDNN is listed with 406 million parameters; it has 406 thousand. So ICRNNA is about twice the size of MCLDNN, not smaller.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three things the paper doesn't tell us. It reports one training run, with no spread; across seeds we see up to a point of variation, so a half-point lead may not be real. It doesn't say whether the other models were retrained or copied from their papers. And it treats the SNR label as a true SNR; in this data, at label 0 dB, QAM16 has about 9 dB more signal than QPSK.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548640" y="914400"/>
            <a:ext cx="5486400" cy="365760"/>
          </a:xfrm>
          <a:prstGeom prst="rect">
            <a:avLst/>
          </a:prstGeom>
          <a:noFill/>
          <a:ln/>
        </p:spPr>
        <p:txBody>
          <a:bodyPr wrap="square" lIns="0" tIns="0" rIns="0" bIns="0" rtlCol="0" anchor="t"/>
          <a:lstStyle/>
          <a:p>
            <a:pPr indent="0" marL="0">
              <a:buNone/>
            </a:pPr>
            <a:r>
              <a:rPr lang="en-US" sz="1600" b="1" spc="400" kern="0" dirty="0">
                <a:solidFill>
                  <a:srgbClr val="F08A24"/>
                </a:solidFill>
                <a:latin typeface="Calibri" pitchFamily="34" charset="0"/>
                <a:ea typeface="Calibri" pitchFamily="34" charset="-122"/>
                <a:cs typeface="Calibri" pitchFamily="34" charset="-120"/>
              </a:rPr>
              <a:t>PAPER PRESENTATION</a:t>
            </a:r>
            <a:endParaRPr lang="en-US" sz="1600" dirty="0"/>
          </a:p>
        </p:txBody>
      </p:sp>
      <p:sp>
        <p:nvSpPr>
          <p:cNvPr id="3" name="Text 1"/>
          <p:cNvSpPr txBox="1"/>
          <p:nvPr/>
        </p:nvSpPr>
        <p:spPr>
          <a:xfrm>
            <a:off x="548640" y="1325880"/>
            <a:ext cx="10972800" cy="1097280"/>
          </a:xfrm>
          <a:prstGeom prst="rect">
            <a:avLst/>
          </a:prstGeom>
          <a:noFill/>
          <a:ln/>
        </p:spPr>
        <p:txBody>
          <a:bodyPr wrap="square" lIns="0" tIns="0" rIns="0" bIns="0" rtlCol="0" anchor="t"/>
          <a:lstStyle/>
          <a:p>
            <a:pPr indent="0" marL="0">
              <a:buNone/>
            </a:pPr>
            <a:r>
              <a:rPr lang="en-US" sz="6600" b="1" dirty="0">
                <a:solidFill>
                  <a:srgbClr val="FFFFFF"/>
                </a:solidFill>
                <a:latin typeface="Calibri" pitchFamily="34" charset="0"/>
                <a:ea typeface="Calibri" pitchFamily="34" charset="-122"/>
                <a:cs typeface="Calibri" pitchFamily="34" charset="-120"/>
              </a:rPr>
              <a:t>ICRNNA</a:t>
            </a:r>
            <a:endParaRPr lang="en-US" sz="6600" dirty="0"/>
          </a:p>
        </p:txBody>
      </p:sp>
      <p:sp>
        <p:nvSpPr>
          <p:cNvPr id="4" name="Text 2"/>
          <p:cNvSpPr txBox="1"/>
          <p:nvPr/>
        </p:nvSpPr>
        <p:spPr>
          <a:xfrm>
            <a:off x="548640" y="2468880"/>
            <a:ext cx="10515600" cy="914400"/>
          </a:xfrm>
          <a:prstGeom prst="rect">
            <a:avLst/>
          </a:prstGeom>
          <a:noFill/>
          <a:ln/>
        </p:spPr>
        <p:txBody>
          <a:bodyPr wrap="square" lIns="0" tIns="0" rIns="0" bIns="0" rtlCol="0" anchor="t"/>
          <a:lstStyle/>
          <a:p>
            <a:pPr indent="0" marL="0">
              <a:buNone/>
            </a:pPr>
            <a:r>
              <a:rPr lang="en-US" sz="2600" dirty="0">
                <a:solidFill>
                  <a:srgbClr val="C9D3E0"/>
                </a:solidFill>
                <a:latin typeface="Calibri" pitchFamily="34" charset="0"/>
                <a:ea typeface="Calibri" pitchFamily="34" charset="-122"/>
                <a:cs typeface="Calibri" pitchFamily="34" charset="-120"/>
              </a:rPr>
              <a:t>Improved automatic modulation recognition using deep learning with additive attention</a:t>
            </a:r>
            <a:endParaRPr lang="en-US" sz="2600" dirty="0"/>
          </a:p>
        </p:txBody>
      </p:sp>
      <p:sp>
        <p:nvSpPr>
          <p:cNvPr id="5" name="Text 3"/>
          <p:cNvSpPr txBox="1"/>
          <p:nvPr/>
        </p:nvSpPr>
        <p:spPr>
          <a:xfrm>
            <a:off x="548640" y="3520440"/>
            <a:ext cx="11155680" cy="457200"/>
          </a:xfrm>
          <a:prstGeom prst="rect">
            <a:avLst/>
          </a:prstGeom>
          <a:noFill/>
          <a:ln/>
        </p:spPr>
        <p:txBody>
          <a:bodyPr wrap="square" lIns="0" tIns="0" rIns="0" bIns="0" rtlCol="0" anchor="t"/>
          <a:lstStyle/>
          <a:p>
            <a:pPr indent="0" marL="0">
              <a:buNone/>
            </a:pPr>
            <a:r>
              <a:rPr lang="en-US" sz="1700" dirty="0">
                <a:solidFill>
                  <a:srgbClr val="9AA8BA"/>
                </a:solidFill>
                <a:latin typeface="Calibri" pitchFamily="34" charset="0"/>
                <a:ea typeface="Calibri" pitchFamily="34" charset="-122"/>
                <a:cs typeface="Calibri" pitchFamily="34" charset="-120"/>
              </a:rPr>
              <a:t>El-Haryqy, Kharbouche, Ouamna, Madini, Zouine  ·  Ibn Tofail University, Morocco  ·  Results in Engineering 26 (2025) 104783</a:t>
            </a:r>
            <a:endParaRPr lang="en-US" sz="1700" dirty="0"/>
          </a:p>
        </p:txBody>
      </p:sp>
      <p:sp>
        <p:nvSpPr>
          <p:cNvPr id="6" name="Shape 4"/>
          <p:cNvSpPr/>
          <p:nvPr/>
        </p:nvSpPr>
        <p:spPr>
          <a:xfrm>
            <a:off x="548640" y="4434840"/>
            <a:ext cx="1920240" cy="594360"/>
          </a:xfrm>
          <a:prstGeom prst="roundRect">
            <a:avLst>
              <a:gd name="adj" fmla="val 18462"/>
            </a:avLst>
          </a:prstGeom>
          <a:solidFill>
            <a:srgbClr val="F08A24"/>
          </a:solidFill>
          <a:ln w="12700">
            <a:solidFill>
              <a:srgbClr val="F08A24"/>
            </a:solidFill>
            <a:prstDash val="solid"/>
          </a:ln>
        </p:spPr>
      </p:sp>
      <p:sp>
        <p:nvSpPr>
          <p:cNvPr id="7" name="Text 5"/>
          <p:cNvSpPr txBox="1"/>
          <p:nvPr/>
        </p:nvSpPr>
        <p:spPr>
          <a:xfrm>
            <a:off x="548640" y="4434840"/>
            <a:ext cx="192024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Look</a:t>
            </a:r>
            <a:endParaRPr lang="en-US" sz="2000" dirty="0"/>
          </a:p>
        </p:txBody>
      </p:sp>
      <p:sp>
        <p:nvSpPr>
          <p:cNvPr id="8" name="Shape 6"/>
          <p:cNvSpPr/>
          <p:nvPr/>
        </p:nvSpPr>
        <p:spPr>
          <a:xfrm>
            <a:off x="2514600" y="4544568"/>
            <a:ext cx="365760" cy="384048"/>
          </a:xfrm>
          <a:prstGeom prst="rightArrow">
            <a:avLst/>
          </a:prstGeom>
          <a:solidFill>
            <a:srgbClr val="F08A24"/>
          </a:solidFill>
          <a:ln w="12700">
            <a:solidFill>
              <a:srgbClr val="F08A24"/>
            </a:solidFill>
            <a:prstDash val="solid"/>
          </a:ln>
        </p:spPr>
      </p:sp>
      <p:sp>
        <p:nvSpPr>
          <p:cNvPr id="9" name="Shape 7"/>
          <p:cNvSpPr/>
          <p:nvPr/>
        </p:nvSpPr>
        <p:spPr>
          <a:xfrm>
            <a:off x="2926080" y="4434840"/>
            <a:ext cx="1920240" cy="594360"/>
          </a:xfrm>
          <a:prstGeom prst="roundRect">
            <a:avLst>
              <a:gd name="adj" fmla="val 18462"/>
            </a:avLst>
          </a:prstGeom>
          <a:solidFill>
            <a:srgbClr val="F08A24"/>
          </a:solidFill>
          <a:ln w="12700">
            <a:solidFill>
              <a:srgbClr val="F08A24"/>
            </a:solidFill>
            <a:prstDash val="solid"/>
          </a:ln>
        </p:spPr>
      </p:sp>
      <p:sp>
        <p:nvSpPr>
          <p:cNvPr id="10" name="Text 8"/>
          <p:cNvSpPr txBox="1"/>
          <p:nvPr/>
        </p:nvSpPr>
        <p:spPr>
          <a:xfrm>
            <a:off x="2926080" y="4434840"/>
            <a:ext cx="192024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Read in order</a:t>
            </a:r>
            <a:endParaRPr lang="en-US" sz="2000" dirty="0"/>
          </a:p>
        </p:txBody>
      </p:sp>
      <p:sp>
        <p:nvSpPr>
          <p:cNvPr id="11" name="Shape 9"/>
          <p:cNvSpPr/>
          <p:nvPr/>
        </p:nvSpPr>
        <p:spPr>
          <a:xfrm>
            <a:off x="4892040" y="4544568"/>
            <a:ext cx="365760" cy="384048"/>
          </a:xfrm>
          <a:prstGeom prst="rightArrow">
            <a:avLst/>
          </a:prstGeom>
          <a:solidFill>
            <a:srgbClr val="F08A24"/>
          </a:solidFill>
          <a:ln w="12700">
            <a:solidFill>
              <a:srgbClr val="F08A24"/>
            </a:solidFill>
            <a:prstDash val="solid"/>
          </a:ln>
        </p:spPr>
      </p:sp>
      <p:sp>
        <p:nvSpPr>
          <p:cNvPr id="12" name="Shape 10"/>
          <p:cNvSpPr/>
          <p:nvPr/>
        </p:nvSpPr>
        <p:spPr>
          <a:xfrm>
            <a:off x="5303520" y="4434840"/>
            <a:ext cx="1920240" cy="594360"/>
          </a:xfrm>
          <a:prstGeom prst="roundRect">
            <a:avLst>
              <a:gd name="adj" fmla="val 18462"/>
            </a:avLst>
          </a:prstGeom>
          <a:solidFill>
            <a:srgbClr val="F08A24"/>
          </a:solidFill>
          <a:ln w="12700">
            <a:solidFill>
              <a:srgbClr val="F08A24"/>
            </a:solidFill>
            <a:prstDash val="solid"/>
          </a:ln>
        </p:spPr>
      </p:sp>
      <p:sp>
        <p:nvSpPr>
          <p:cNvPr id="13" name="Text 11"/>
          <p:cNvSpPr txBox="1"/>
          <p:nvPr/>
        </p:nvSpPr>
        <p:spPr>
          <a:xfrm>
            <a:off x="5303520" y="4434840"/>
            <a:ext cx="192024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Weigh</a:t>
            </a:r>
            <a:endParaRPr lang="en-US" sz="2000" dirty="0"/>
          </a:p>
        </p:txBody>
      </p:sp>
      <p:sp>
        <p:nvSpPr>
          <p:cNvPr id="14" name="Shape 12"/>
          <p:cNvSpPr/>
          <p:nvPr/>
        </p:nvSpPr>
        <p:spPr>
          <a:xfrm>
            <a:off x="7269480" y="4544568"/>
            <a:ext cx="365760" cy="384048"/>
          </a:xfrm>
          <a:prstGeom prst="rightArrow">
            <a:avLst/>
          </a:prstGeom>
          <a:solidFill>
            <a:srgbClr val="F08A24"/>
          </a:solidFill>
          <a:ln w="12700">
            <a:solidFill>
              <a:srgbClr val="F08A24"/>
            </a:solidFill>
            <a:prstDash val="solid"/>
          </a:ln>
        </p:spPr>
      </p:sp>
      <p:sp>
        <p:nvSpPr>
          <p:cNvPr id="15" name="Shape 13"/>
          <p:cNvSpPr/>
          <p:nvPr/>
        </p:nvSpPr>
        <p:spPr>
          <a:xfrm>
            <a:off x="7680960" y="4434840"/>
            <a:ext cx="1920240" cy="594360"/>
          </a:xfrm>
          <a:prstGeom prst="roundRect">
            <a:avLst>
              <a:gd name="adj" fmla="val 18462"/>
            </a:avLst>
          </a:prstGeom>
          <a:solidFill>
            <a:srgbClr val="F08A24"/>
          </a:solidFill>
          <a:ln w="12700">
            <a:solidFill>
              <a:srgbClr val="F08A24"/>
            </a:solidFill>
            <a:prstDash val="solid"/>
          </a:ln>
        </p:spPr>
      </p:sp>
      <p:sp>
        <p:nvSpPr>
          <p:cNvPr id="16" name="Text 14"/>
          <p:cNvSpPr txBox="1"/>
          <p:nvPr/>
        </p:nvSpPr>
        <p:spPr>
          <a:xfrm>
            <a:off x="7680960" y="4434840"/>
            <a:ext cx="192024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Decide</a:t>
            </a:r>
            <a:endParaRPr lang="en-US" sz="2000" dirty="0"/>
          </a:p>
        </p:txBody>
      </p:sp>
      <p:sp>
        <p:nvSpPr>
          <p:cNvPr id="17" name="Text 15"/>
          <p:cNvSpPr txBox="1"/>
          <p:nvPr/>
        </p:nvSpPr>
        <p:spPr>
          <a:xfrm>
            <a:off x="548640" y="5943600"/>
            <a:ext cx="9144000" cy="365760"/>
          </a:xfrm>
          <a:prstGeom prst="rect">
            <a:avLst/>
          </a:prstGeom>
          <a:noFill/>
          <a:ln/>
        </p:spPr>
        <p:txBody>
          <a:bodyPr wrap="square" lIns="0" tIns="0" rIns="0" bIns="0" rtlCol="0" anchor="t"/>
          <a:lstStyle/>
          <a:p>
            <a:pPr indent="0" marL="0">
              <a:buNone/>
            </a:pPr>
            <a:r>
              <a:rPr lang="en-US" sz="1600" dirty="0">
                <a:solidFill>
                  <a:srgbClr val="9AA8BA"/>
                </a:solidFill>
                <a:latin typeface="Calibri" pitchFamily="34" charset="0"/>
                <a:ea typeface="Calibri" pitchFamily="34" charset="-122"/>
                <a:cs typeface="Calibri" pitchFamily="34" charset="-120"/>
              </a:rPr>
              <a:t>Yusuf Bilal Cetinkaya  ·  Moshe Kam's research group  ·  NJIT  ·  October 2026</a:t>
            </a:r>
            <a:endParaRPr lang="en-US" sz="1600" dirty="0"/>
          </a:p>
        </p:txBody>
      </p:sp>
      <p:sp>
        <p:nvSpPr>
          <p:cNvPr id="19" name="Text 16"/>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8FA0B5"/>
                </a:solidFill>
                <a:latin typeface="Calibri" pitchFamily="34" charset="0"/>
                <a:ea typeface="Calibri" pitchFamily="34" charset="-122"/>
                <a:cs typeface="Calibri" pitchFamily="34" charset="-120"/>
              </a:rPr>
              <a:t>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THE PAPER</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The paper in one sentence</a:t>
            </a:r>
            <a:endParaRPr lang="en-US" sz="3400" dirty="0"/>
          </a:p>
        </p:txBody>
      </p:sp>
      <p:sp>
        <p:nvSpPr>
          <p:cNvPr id="4" name="Shape 2"/>
          <p:cNvSpPr/>
          <p:nvPr/>
        </p:nvSpPr>
        <p:spPr>
          <a:xfrm>
            <a:off x="548640" y="1463040"/>
            <a:ext cx="11091672" cy="1737360"/>
          </a:xfrm>
          <a:prstGeom prst="roundRect">
            <a:avLst>
              <a:gd name="adj" fmla="val 6316"/>
            </a:avLst>
          </a:prstGeom>
          <a:solidFill>
            <a:srgbClr val="0F1B2D"/>
          </a:solidFill>
          <a:ln w="12700">
            <a:solidFill>
              <a:srgbClr val="0F1B2D"/>
            </a:solidFill>
            <a:prstDash val="solid"/>
          </a:ln>
        </p:spPr>
      </p:sp>
      <p:sp>
        <p:nvSpPr>
          <p:cNvPr id="5" name="Text 3"/>
          <p:cNvSpPr txBox="1"/>
          <p:nvPr/>
        </p:nvSpPr>
        <p:spPr>
          <a:xfrm>
            <a:off x="914400" y="1463040"/>
            <a:ext cx="10360152" cy="173736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 neural network looks at 128 samples of a radio signal and says which of 11 modulations sent it.</a:t>
            </a:r>
            <a:endParaRPr lang="en-US" sz="2800" dirty="0"/>
          </a:p>
        </p:txBody>
      </p:sp>
      <p:sp>
        <p:nvSpPr>
          <p:cNvPr id="6" name="Text 4"/>
          <p:cNvSpPr txBox="1"/>
          <p:nvPr/>
        </p:nvSpPr>
        <p:spPr>
          <a:xfrm>
            <a:off x="548640" y="3520440"/>
            <a:ext cx="5120640" cy="914400"/>
          </a:xfrm>
          <a:prstGeom prst="rect">
            <a:avLst/>
          </a:prstGeom>
          <a:noFill/>
          <a:ln/>
        </p:spPr>
        <p:txBody>
          <a:bodyPr wrap="square" lIns="0" tIns="0" rIns="0" bIns="0" rtlCol="0" anchor="b"/>
          <a:lstStyle/>
          <a:p>
            <a:pPr algn="l" indent="0" marL="0">
              <a:buNone/>
            </a:pPr>
            <a:r>
              <a:rPr lang="en-US" sz="5600" b="1" dirty="0">
                <a:solidFill>
                  <a:srgbClr val="F08A24"/>
                </a:solidFill>
                <a:latin typeface="Calibri" pitchFamily="34" charset="0"/>
                <a:ea typeface="Calibri" pitchFamily="34" charset="-122"/>
                <a:cs typeface="Calibri" pitchFamily="34" charset="-120"/>
              </a:rPr>
              <a:t>63.24%</a:t>
            </a:r>
            <a:endParaRPr lang="en-US" sz="5600" dirty="0"/>
          </a:p>
        </p:txBody>
      </p:sp>
      <p:sp>
        <p:nvSpPr>
          <p:cNvPr id="7" name="Text 5"/>
          <p:cNvSpPr txBox="1"/>
          <p:nvPr/>
        </p:nvSpPr>
        <p:spPr>
          <a:xfrm>
            <a:off x="548640" y="4480560"/>
            <a:ext cx="5120640" cy="731520"/>
          </a:xfrm>
          <a:prstGeom prst="rect">
            <a:avLst/>
          </a:prstGeom>
          <a:noFill/>
          <a:ln/>
        </p:spPr>
        <p:txBody>
          <a:bodyPr wrap="square" lIns="0" tIns="0" rIns="0" bIns="0" rtlCol="0" anchor="t"/>
          <a:lstStyle/>
          <a:p>
            <a:pPr algn="l" indent="0" marL="0">
              <a:buNone/>
            </a:pPr>
            <a:r>
              <a:rPr lang="en-US" sz="1900" dirty="0">
                <a:solidFill>
                  <a:srgbClr val="5B6B7F"/>
                </a:solidFill>
                <a:latin typeface="Calibri" pitchFamily="34" charset="0"/>
                <a:ea typeface="Calibri" pitchFamily="34" charset="-122"/>
                <a:cs typeface="Calibri" pitchFamily="34" charset="-120"/>
              </a:rPr>
              <a:t>right on RML2016.10a: the best of the 12 models they compare</a:t>
            </a:r>
            <a:endParaRPr lang="en-US" sz="1900" dirty="0"/>
          </a:p>
        </p:txBody>
      </p:sp>
      <p:sp>
        <p:nvSpPr>
          <p:cNvPr id="8" name="Text 6"/>
          <p:cNvSpPr txBox="1"/>
          <p:nvPr/>
        </p:nvSpPr>
        <p:spPr>
          <a:xfrm>
            <a:off x="6172200" y="3520440"/>
            <a:ext cx="5120640" cy="914400"/>
          </a:xfrm>
          <a:prstGeom prst="rect">
            <a:avLst/>
          </a:prstGeom>
          <a:noFill/>
          <a:ln/>
        </p:spPr>
        <p:txBody>
          <a:bodyPr wrap="square" lIns="0" tIns="0" rIns="0" bIns="0" rtlCol="0" anchor="b"/>
          <a:lstStyle/>
          <a:p>
            <a:pPr algn="l" indent="0" marL="0">
              <a:buNone/>
            </a:pPr>
            <a:r>
              <a:rPr lang="en-US" sz="5600" b="1" dirty="0">
                <a:solidFill>
                  <a:srgbClr val="1E293B"/>
                </a:solidFill>
                <a:latin typeface="Calibri" pitchFamily="34" charset="0"/>
                <a:ea typeface="Calibri" pitchFamily="34" charset="-122"/>
                <a:cs typeface="Calibri" pitchFamily="34" charset="-120"/>
              </a:rPr>
              <a:t>my classifier</a:t>
            </a:r>
            <a:endParaRPr lang="en-US" sz="5600" dirty="0"/>
          </a:p>
        </p:txBody>
      </p:sp>
      <p:sp>
        <p:nvSpPr>
          <p:cNvPr id="9" name="Text 7"/>
          <p:cNvSpPr txBox="1"/>
          <p:nvPr/>
        </p:nvSpPr>
        <p:spPr>
          <a:xfrm>
            <a:off x="6172200" y="4480560"/>
            <a:ext cx="5120640" cy="731520"/>
          </a:xfrm>
          <a:prstGeom prst="rect">
            <a:avLst/>
          </a:prstGeom>
          <a:noFill/>
          <a:ln/>
        </p:spPr>
        <p:txBody>
          <a:bodyPr wrap="square" lIns="0" tIns="0" rIns="0" bIns="0" rtlCol="0" anchor="t"/>
          <a:lstStyle/>
          <a:p>
            <a:pPr algn="l" indent="0" marL="0">
              <a:buNone/>
            </a:pPr>
            <a:r>
              <a:rPr lang="en-US" sz="1900" dirty="0">
                <a:solidFill>
                  <a:srgbClr val="5B6B7F"/>
                </a:solidFill>
                <a:latin typeface="Calibri" pitchFamily="34" charset="0"/>
                <a:ea typeface="Calibri" pitchFamily="34" charset="-122"/>
                <a:cs typeface="Calibri" pitchFamily="34" charset="-120"/>
              </a:rPr>
              <a:t>is built on this design</a:t>
            </a:r>
            <a:endParaRPr lang="en-US" sz="1900" dirty="0"/>
          </a:p>
        </p:txBody>
      </p:sp>
      <p:sp>
        <p:nvSpPr>
          <p:cNvPr id="11" name="Text 8"/>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THE PAPER  ·  DATA</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The data: what the model sees</a:t>
            </a:r>
            <a:endParaRPr lang="en-US" sz="3400" dirty="0"/>
          </a:p>
        </p:txBody>
      </p:sp>
      <p:sp>
        <p:nvSpPr>
          <p:cNvPr id="4" name="Text 2"/>
          <p:cNvSpPr txBox="1"/>
          <p:nvPr/>
        </p:nvSpPr>
        <p:spPr>
          <a:xfrm>
            <a:off x="548640" y="1325880"/>
            <a:ext cx="2651760" cy="914400"/>
          </a:xfrm>
          <a:prstGeom prst="rect">
            <a:avLst/>
          </a:prstGeom>
          <a:noFill/>
          <a:ln/>
        </p:spPr>
        <p:txBody>
          <a:bodyPr wrap="square" lIns="0" tIns="0" rIns="0" bIns="0" rtlCol="0" anchor="b"/>
          <a:lstStyle/>
          <a:p>
            <a:pPr algn="l" indent="0" marL="0">
              <a:buNone/>
            </a:pPr>
            <a:r>
              <a:rPr lang="en-US" sz="5000" b="1" dirty="0">
                <a:solidFill>
                  <a:srgbClr val="1E293B"/>
                </a:solidFill>
                <a:latin typeface="Calibri" pitchFamily="34" charset="0"/>
                <a:ea typeface="Calibri" pitchFamily="34" charset="-122"/>
                <a:cs typeface="Calibri" pitchFamily="34" charset="-120"/>
              </a:rPr>
              <a:t>11</a:t>
            </a:r>
            <a:endParaRPr lang="en-US" sz="5000" dirty="0"/>
          </a:p>
        </p:txBody>
      </p:sp>
      <p:sp>
        <p:nvSpPr>
          <p:cNvPr id="5" name="Text 3"/>
          <p:cNvSpPr txBox="1"/>
          <p:nvPr/>
        </p:nvSpPr>
        <p:spPr>
          <a:xfrm>
            <a:off x="548640" y="2286000"/>
            <a:ext cx="2651760" cy="731520"/>
          </a:xfrm>
          <a:prstGeom prst="rect">
            <a:avLst/>
          </a:prstGeom>
          <a:noFill/>
          <a:ln/>
        </p:spPr>
        <p:txBody>
          <a:bodyPr wrap="square" lIns="0" tIns="0" rIns="0" bIns="0" rtlCol="0" anchor="t"/>
          <a:lstStyle/>
          <a:p>
            <a:pPr algn="l" indent="0" marL="0">
              <a:buNone/>
            </a:pPr>
            <a:r>
              <a:rPr lang="en-US" sz="1900" dirty="0">
                <a:solidFill>
                  <a:srgbClr val="5B6B7F"/>
                </a:solidFill>
                <a:latin typeface="Calibri" pitchFamily="34" charset="0"/>
                <a:ea typeface="Calibri" pitchFamily="34" charset="-122"/>
                <a:cs typeface="Calibri" pitchFamily="34" charset="-120"/>
              </a:rPr>
              <a:t>modulation types:</a:t>
            </a:r>
            <a:endParaRPr lang="en-US" sz="1900" dirty="0"/>
          </a:p>
          <a:p>
            <a:pPr algn="l" indent="0" marL="0">
              <a:buNone/>
            </a:pPr>
            <a:r>
              <a:rPr lang="en-US" sz="1900" dirty="0">
                <a:solidFill>
                  <a:srgbClr val="5B6B7F"/>
                </a:solidFill>
                <a:latin typeface="Calibri" pitchFamily="34" charset="0"/>
                <a:ea typeface="Calibri" pitchFamily="34" charset="-122"/>
                <a:cs typeface="Calibri" pitchFamily="34" charset="-120"/>
              </a:rPr>
              <a:t>8 digital, 3 analog</a:t>
            </a:r>
            <a:endParaRPr lang="en-US" sz="1900" dirty="0"/>
          </a:p>
        </p:txBody>
      </p:sp>
      <p:sp>
        <p:nvSpPr>
          <p:cNvPr id="6" name="Text 4"/>
          <p:cNvSpPr txBox="1"/>
          <p:nvPr/>
        </p:nvSpPr>
        <p:spPr>
          <a:xfrm>
            <a:off x="3291840" y="1325880"/>
            <a:ext cx="2651760" cy="914400"/>
          </a:xfrm>
          <a:prstGeom prst="rect">
            <a:avLst/>
          </a:prstGeom>
          <a:noFill/>
          <a:ln/>
        </p:spPr>
        <p:txBody>
          <a:bodyPr wrap="square" lIns="0" tIns="0" rIns="0" bIns="0" rtlCol="0" anchor="b"/>
          <a:lstStyle/>
          <a:p>
            <a:pPr algn="l" indent="0" marL="0">
              <a:buNone/>
            </a:pPr>
            <a:r>
              <a:rPr lang="en-US" sz="5000" b="1" dirty="0">
                <a:solidFill>
                  <a:srgbClr val="1E293B"/>
                </a:solidFill>
                <a:latin typeface="Calibri" pitchFamily="34" charset="0"/>
                <a:ea typeface="Calibri" pitchFamily="34" charset="-122"/>
                <a:cs typeface="Calibri" pitchFamily="34" charset="-120"/>
              </a:rPr>
              <a:t>20</a:t>
            </a:r>
            <a:endParaRPr lang="en-US" sz="5000" dirty="0"/>
          </a:p>
        </p:txBody>
      </p:sp>
      <p:sp>
        <p:nvSpPr>
          <p:cNvPr id="7" name="Text 5"/>
          <p:cNvSpPr txBox="1"/>
          <p:nvPr/>
        </p:nvSpPr>
        <p:spPr>
          <a:xfrm>
            <a:off x="3291840" y="2286000"/>
            <a:ext cx="2651760" cy="731520"/>
          </a:xfrm>
          <a:prstGeom prst="rect">
            <a:avLst/>
          </a:prstGeom>
          <a:noFill/>
          <a:ln/>
        </p:spPr>
        <p:txBody>
          <a:bodyPr wrap="square" lIns="0" tIns="0" rIns="0" bIns="0" rtlCol="0" anchor="t"/>
          <a:lstStyle/>
          <a:p>
            <a:pPr algn="l" indent="0" marL="0">
              <a:buNone/>
            </a:pPr>
            <a:r>
              <a:rPr lang="en-US" sz="1900" dirty="0">
                <a:solidFill>
                  <a:srgbClr val="5B6B7F"/>
                </a:solidFill>
                <a:latin typeface="Calibri" pitchFamily="34" charset="0"/>
                <a:ea typeface="Calibri" pitchFamily="34" charset="-122"/>
                <a:cs typeface="Calibri" pitchFamily="34" charset="-120"/>
              </a:rPr>
              <a:t>SNR labels, −20 to 18 dB,</a:t>
            </a:r>
            <a:endParaRPr lang="en-US" sz="1900" dirty="0"/>
          </a:p>
          <a:p>
            <a:pPr algn="l" indent="0" marL="0">
              <a:buNone/>
            </a:pPr>
            <a:r>
              <a:rPr lang="en-US" sz="1900" dirty="0">
                <a:solidFill>
                  <a:srgbClr val="5B6B7F"/>
                </a:solidFill>
                <a:latin typeface="Calibri" pitchFamily="34" charset="0"/>
                <a:ea typeface="Calibri" pitchFamily="34" charset="-122"/>
                <a:cs typeface="Calibri" pitchFamily="34" charset="-120"/>
              </a:rPr>
              <a:t>in steps of 2 dB</a:t>
            </a:r>
            <a:endParaRPr lang="en-US" sz="1900" dirty="0"/>
          </a:p>
        </p:txBody>
      </p:sp>
      <p:sp>
        <p:nvSpPr>
          <p:cNvPr id="8" name="Text 6"/>
          <p:cNvSpPr txBox="1"/>
          <p:nvPr/>
        </p:nvSpPr>
        <p:spPr>
          <a:xfrm>
            <a:off x="6035040" y="1325880"/>
            <a:ext cx="2651760" cy="914400"/>
          </a:xfrm>
          <a:prstGeom prst="rect">
            <a:avLst/>
          </a:prstGeom>
          <a:noFill/>
          <a:ln/>
        </p:spPr>
        <p:txBody>
          <a:bodyPr wrap="square" lIns="0" tIns="0" rIns="0" bIns="0" rtlCol="0" anchor="b"/>
          <a:lstStyle/>
          <a:p>
            <a:pPr algn="l" indent="0" marL="0">
              <a:buNone/>
            </a:pPr>
            <a:r>
              <a:rPr lang="en-US" sz="5000" b="1" dirty="0">
                <a:solidFill>
                  <a:srgbClr val="1E293B"/>
                </a:solidFill>
                <a:latin typeface="Calibri" pitchFamily="34" charset="0"/>
                <a:ea typeface="Calibri" pitchFamily="34" charset="-122"/>
                <a:cs typeface="Calibri" pitchFamily="34" charset="-120"/>
              </a:rPr>
              <a:t>220,000</a:t>
            </a:r>
            <a:endParaRPr lang="en-US" sz="5000" dirty="0"/>
          </a:p>
        </p:txBody>
      </p:sp>
      <p:sp>
        <p:nvSpPr>
          <p:cNvPr id="9" name="Text 7"/>
          <p:cNvSpPr txBox="1"/>
          <p:nvPr/>
        </p:nvSpPr>
        <p:spPr>
          <a:xfrm>
            <a:off x="6035040" y="2286000"/>
            <a:ext cx="2651760" cy="731520"/>
          </a:xfrm>
          <a:prstGeom prst="rect">
            <a:avLst/>
          </a:prstGeom>
          <a:noFill/>
          <a:ln/>
        </p:spPr>
        <p:txBody>
          <a:bodyPr wrap="square" lIns="0" tIns="0" rIns="0" bIns="0" rtlCol="0" anchor="t"/>
          <a:lstStyle/>
          <a:p>
            <a:pPr algn="l" indent="0" marL="0">
              <a:buNone/>
            </a:pPr>
            <a:r>
              <a:rPr lang="en-US" sz="1900" dirty="0">
                <a:solidFill>
                  <a:srgbClr val="5B6B7F"/>
                </a:solidFill>
                <a:latin typeface="Calibri" pitchFamily="34" charset="0"/>
                <a:ea typeface="Calibri" pitchFamily="34" charset="-122"/>
                <a:cs typeface="Calibri" pitchFamily="34" charset="-120"/>
              </a:rPr>
              <a:t>frames: 1,000 per type</a:t>
            </a:r>
            <a:endParaRPr lang="en-US" sz="1900" dirty="0"/>
          </a:p>
          <a:p>
            <a:pPr algn="l" indent="0" marL="0">
              <a:buNone/>
            </a:pPr>
            <a:r>
              <a:rPr lang="en-US" sz="1900" dirty="0">
                <a:solidFill>
                  <a:srgbClr val="5B6B7F"/>
                </a:solidFill>
                <a:latin typeface="Calibri" pitchFamily="34" charset="0"/>
                <a:ea typeface="Calibri" pitchFamily="34" charset="-122"/>
                <a:cs typeface="Calibri" pitchFamily="34" charset="-120"/>
              </a:rPr>
              <a:t>at each SNR</a:t>
            </a:r>
            <a:endParaRPr lang="en-US" sz="1900" dirty="0"/>
          </a:p>
        </p:txBody>
      </p:sp>
      <p:pic>
        <p:nvPicPr>
          <p:cNvPr id="10" name="Image 0" descr="simple/frame.png">    </p:cNvPr>
          <p:cNvPicPr>
            <a:picLocks noChangeAspect="1"/>
          </p:cNvPicPr>
          <p:nvPr/>
        </p:nvPicPr>
        <p:blipFill>
          <a:blip r:embed="rId1"/>
          <a:stretch>
            <a:fillRect/>
          </a:stretch>
        </p:blipFill>
        <p:spPr>
          <a:xfrm>
            <a:off x="8503920" y="1417320"/>
            <a:ext cx="3154680" cy="1121664"/>
          </a:xfrm>
          <a:prstGeom prst="rect">
            <a:avLst/>
          </a:prstGeom>
        </p:spPr>
      </p:pic>
      <p:sp>
        <p:nvSpPr>
          <p:cNvPr id="11" name="Text 8"/>
          <p:cNvSpPr txBox="1"/>
          <p:nvPr/>
        </p:nvSpPr>
        <p:spPr>
          <a:xfrm>
            <a:off x="8503920" y="2606040"/>
            <a:ext cx="3154680" cy="365760"/>
          </a:xfrm>
          <a:prstGeom prst="rect">
            <a:avLst/>
          </a:prstGeom>
          <a:noFill/>
          <a:ln/>
        </p:spPr>
        <p:txBody>
          <a:bodyPr wrap="square" lIns="0" tIns="0" rIns="0" bIns="0" rtlCol="0" anchor="t"/>
          <a:lstStyle/>
          <a:p>
            <a:pPr indent="0" marL="0">
              <a:buNone/>
            </a:pPr>
            <a:r>
              <a:rPr lang="en-US" sz="1500" dirty="0">
                <a:solidFill>
                  <a:srgbClr val="5B6B7F"/>
                </a:solidFill>
                <a:latin typeface="Calibri" pitchFamily="34" charset="0"/>
                <a:ea typeface="Calibri" pitchFamily="34" charset="-122"/>
                <a:cs typeface="Calibri" pitchFamily="34" charset="-120"/>
              </a:rPr>
              <a:t>one frame: I (orange), Q (blue)</a:t>
            </a:r>
            <a:endParaRPr lang="en-US" sz="1500" dirty="0"/>
          </a:p>
        </p:txBody>
      </p:sp>
      <p:sp>
        <p:nvSpPr>
          <p:cNvPr id="12" name="Shape 9"/>
          <p:cNvSpPr/>
          <p:nvPr/>
        </p:nvSpPr>
        <p:spPr>
          <a:xfrm>
            <a:off x="548640" y="3337560"/>
            <a:ext cx="11091672" cy="1554480"/>
          </a:xfrm>
          <a:prstGeom prst="roundRect">
            <a:avLst>
              <a:gd name="adj" fmla="val 7059"/>
            </a:avLst>
          </a:prstGeom>
          <a:solidFill>
            <a:srgbClr val="0F1B2D"/>
          </a:solidFill>
          <a:ln w="12700">
            <a:solidFill>
              <a:srgbClr val="0F1B2D"/>
            </a:solidFill>
            <a:prstDash val="solid"/>
          </a:ln>
        </p:spPr>
      </p:sp>
      <p:sp>
        <p:nvSpPr>
          <p:cNvPr id="13" name="Text 10"/>
          <p:cNvSpPr txBox="1"/>
          <p:nvPr/>
        </p:nvSpPr>
        <p:spPr>
          <a:xfrm>
            <a:off x="914400" y="3429000"/>
            <a:ext cx="3657600" cy="1371600"/>
          </a:xfrm>
          <a:prstGeom prst="rect">
            <a:avLst/>
          </a:prstGeom>
          <a:noFill/>
          <a:ln/>
        </p:spPr>
        <p:txBody>
          <a:bodyPr wrap="square" lIns="0" tIns="0" rIns="0" bIns="0" rtlCol="0" anchor="ctr"/>
          <a:lstStyle/>
          <a:p>
            <a:pPr indent="0" marL="0">
              <a:buNone/>
            </a:pPr>
            <a:r>
              <a:rPr lang="en-US" sz="6600" b="1" dirty="0">
                <a:solidFill>
                  <a:srgbClr val="F08A24"/>
                </a:solidFill>
                <a:latin typeface="Calibri" pitchFamily="34" charset="0"/>
                <a:ea typeface="Calibri" pitchFamily="34" charset="-122"/>
                <a:cs typeface="Calibri" pitchFamily="34" charset="-120"/>
              </a:rPr>
              <a:t>2 × 128</a:t>
            </a:r>
            <a:endParaRPr lang="en-US" sz="6600" dirty="0"/>
          </a:p>
        </p:txBody>
      </p:sp>
      <p:sp>
        <p:nvSpPr>
          <p:cNvPr id="14" name="Text 11"/>
          <p:cNvSpPr txBox="1"/>
          <p:nvPr/>
        </p:nvSpPr>
        <p:spPr>
          <a:xfrm>
            <a:off x="4754880" y="3429000"/>
            <a:ext cx="6583680" cy="1371600"/>
          </a:xfrm>
          <a:prstGeom prst="rect">
            <a:avLst/>
          </a:prstGeom>
          <a:noFill/>
          <a:ln/>
        </p:spPr>
        <p:txBody>
          <a:bodyPr wrap="square" lIns="0" tIns="0" rIns="0" bIns="0" rtlCol="0" anchor="ctr"/>
          <a:lstStyle/>
          <a:p>
            <a:pPr indent="0" marL="0">
              <a:buNone/>
            </a:pPr>
            <a:r>
              <a:rPr lang="en-US" sz="2400" dirty="0">
                <a:solidFill>
                  <a:srgbClr val="FFFFFF"/>
                </a:solidFill>
                <a:latin typeface="Calibri" pitchFamily="34" charset="0"/>
                <a:ea typeface="Calibri" pitchFamily="34" charset="-122"/>
                <a:cs typeface="Calibri" pitchFamily="34" charset="-120"/>
              </a:rPr>
              <a:t>Each frame: 128 samples of I and 128 of Q.</a:t>
            </a:r>
            <a:endParaRPr lang="en-US" sz="2400" dirty="0"/>
          </a:p>
          <a:p>
            <a:pPr indent="0" marL="0">
              <a:buNone/>
            </a:pPr>
            <a:r>
              <a:rPr lang="en-US" sz="2400" dirty="0">
                <a:solidFill>
                  <a:srgbClr val="FFFFFF"/>
                </a:solidFill>
                <a:latin typeface="Calibri" pitchFamily="34" charset="0"/>
                <a:ea typeface="Calibri" pitchFamily="34" charset="-122"/>
                <a:cs typeface="Calibri" pitchFamily="34" charset="-120"/>
              </a:rPr>
              <a:t>That array is the only input.</a:t>
            </a:r>
            <a:endParaRPr lang="en-US" sz="2400" dirty="0"/>
          </a:p>
        </p:txBody>
      </p:sp>
      <p:sp>
        <p:nvSpPr>
          <p:cNvPr id="15" name="Text 12"/>
          <p:cNvSpPr txBox="1"/>
          <p:nvPr/>
        </p:nvSpPr>
        <p:spPr>
          <a:xfrm>
            <a:off x="548640" y="530352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RML2016.10a, the same dataset we use.</a:t>
            </a:r>
            <a:endParaRPr lang="en-US" sz="2400" dirty="0"/>
          </a:p>
        </p:txBody>
      </p:sp>
      <p:sp>
        <p:nvSpPr>
          <p:cNvPr id="17" name="Text 13"/>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THE PAPER  ·  THE MODEL</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How it works: four steps</a:t>
            </a:r>
            <a:endParaRPr lang="en-US" sz="3400" dirty="0"/>
          </a:p>
        </p:txBody>
      </p:sp>
      <p:sp>
        <p:nvSpPr>
          <p:cNvPr id="4" name="Shape 2"/>
          <p:cNvSpPr/>
          <p:nvPr/>
        </p:nvSpPr>
        <p:spPr>
          <a:xfrm>
            <a:off x="548640" y="1417320"/>
            <a:ext cx="2606040" cy="3246120"/>
          </a:xfrm>
          <a:prstGeom prst="roundRect">
            <a:avLst>
              <a:gd name="adj" fmla="val 4211"/>
            </a:avLst>
          </a:prstGeom>
          <a:solidFill>
            <a:srgbClr val="EEF2F6"/>
          </a:solidFill>
          <a:ln w="12700">
            <a:solidFill>
              <a:srgbClr val="EEF2F6"/>
            </a:solidFill>
            <a:prstDash val="solid"/>
          </a:ln>
        </p:spPr>
      </p:sp>
      <p:sp>
        <p:nvSpPr>
          <p:cNvPr id="5" name="Shape 3"/>
          <p:cNvSpPr/>
          <p:nvPr/>
        </p:nvSpPr>
        <p:spPr>
          <a:xfrm>
            <a:off x="777240" y="1600200"/>
            <a:ext cx="548640" cy="548640"/>
          </a:xfrm>
          <a:prstGeom prst="ellipse">
            <a:avLst/>
          </a:prstGeom>
          <a:solidFill>
            <a:srgbClr val="0F1B2D"/>
          </a:solidFill>
          <a:ln w="12700">
            <a:solidFill>
              <a:srgbClr val="0F1B2D"/>
            </a:solidFill>
            <a:prstDash val="solid"/>
          </a:ln>
        </p:spPr>
      </p:sp>
      <p:sp>
        <p:nvSpPr>
          <p:cNvPr id="6" name="Text 4"/>
          <p:cNvSpPr txBox="1"/>
          <p:nvPr/>
        </p:nvSpPr>
        <p:spPr>
          <a:xfrm>
            <a:off x="777240" y="16002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Text 5"/>
          <p:cNvSpPr txBox="1"/>
          <p:nvPr/>
        </p:nvSpPr>
        <p:spPr>
          <a:xfrm>
            <a:off x="777240" y="2286000"/>
            <a:ext cx="2194560" cy="868680"/>
          </a:xfrm>
          <a:prstGeom prst="rect">
            <a:avLst/>
          </a:prstGeom>
          <a:noFill/>
          <a:ln/>
        </p:spPr>
        <p:txBody>
          <a:bodyPr wrap="square" lIns="0" tIns="0" rIns="0" bIns="0" rtlCol="0" anchor="t"/>
          <a:lstStyle/>
          <a:p>
            <a:pPr indent="0" marL="0">
              <a:buNone/>
            </a:pPr>
            <a:r>
              <a:rPr lang="en-US" sz="2300" b="1" dirty="0">
                <a:solidFill>
                  <a:srgbClr val="1E293B"/>
                </a:solidFill>
                <a:latin typeface="Calibri" pitchFamily="34" charset="0"/>
                <a:ea typeface="Calibri" pitchFamily="34" charset="-122"/>
                <a:cs typeface="Calibri" pitchFamily="34" charset="-120"/>
              </a:rPr>
              <a:t>Look at short pieces</a:t>
            </a:r>
            <a:endParaRPr lang="en-US" sz="2300" dirty="0"/>
          </a:p>
        </p:txBody>
      </p:sp>
      <p:sp>
        <p:nvSpPr>
          <p:cNvPr id="8" name="Text 6"/>
          <p:cNvSpPr txBox="1"/>
          <p:nvPr/>
        </p:nvSpPr>
        <p:spPr>
          <a:xfrm>
            <a:off x="777240" y="3154680"/>
            <a:ext cx="2194560" cy="411480"/>
          </a:xfrm>
          <a:prstGeom prst="rect">
            <a:avLst/>
          </a:prstGeom>
          <a:noFill/>
          <a:ln/>
        </p:spPr>
        <p:txBody>
          <a:bodyPr wrap="square" lIns="0" tIns="0" rIns="0" bIns="0" rtlCol="0" anchor="t"/>
          <a:lstStyle/>
          <a:p>
            <a:pPr indent="0" marL="0">
              <a:buNone/>
            </a:pPr>
            <a:r>
              <a:rPr lang="en-US" sz="1600" i="1" dirty="0">
                <a:solidFill>
                  <a:srgbClr val="5B6B7F"/>
                </a:solidFill>
                <a:latin typeface="Calibri" pitchFamily="34" charset="0"/>
                <a:ea typeface="Calibri" pitchFamily="34" charset="-122"/>
                <a:cs typeface="Calibri" pitchFamily="34" charset="-120"/>
              </a:rPr>
              <a:t>CNN</a:t>
            </a:r>
            <a:endParaRPr lang="en-US" sz="1600" dirty="0"/>
          </a:p>
        </p:txBody>
      </p:sp>
      <p:sp>
        <p:nvSpPr>
          <p:cNvPr id="9" name="Text 7"/>
          <p:cNvSpPr txBox="1"/>
          <p:nvPr/>
        </p:nvSpPr>
        <p:spPr>
          <a:xfrm>
            <a:off x="777240" y="3611880"/>
            <a:ext cx="2194560" cy="914400"/>
          </a:xfrm>
          <a:prstGeom prst="rect">
            <a:avLst/>
          </a:prstGeom>
          <a:noFill/>
          <a:ln/>
        </p:spPr>
        <p:txBody>
          <a:bodyPr wrap="square" lIns="0" tIns="0" rIns="0" bIns="0" rtlCol="0" anchor="t"/>
          <a:lstStyle/>
          <a:p>
            <a:pPr indent="0" marL="0">
              <a:buNone/>
            </a:pPr>
            <a:r>
              <a:rPr lang="en-US" sz="1800" dirty="0">
                <a:solidFill>
                  <a:srgbClr val="1E293B"/>
                </a:solidFill>
                <a:latin typeface="Calibri" pitchFamily="34" charset="0"/>
                <a:ea typeface="Calibri" pitchFamily="34" charset="-122"/>
                <a:cs typeface="Calibri" pitchFamily="34" charset="-120"/>
              </a:rPr>
              <a:t>short filters slide along the signal</a:t>
            </a:r>
            <a:endParaRPr lang="en-US" sz="1800" dirty="0"/>
          </a:p>
        </p:txBody>
      </p:sp>
      <p:sp>
        <p:nvSpPr>
          <p:cNvPr id="10" name="Shape 8"/>
          <p:cNvSpPr/>
          <p:nvPr/>
        </p:nvSpPr>
        <p:spPr>
          <a:xfrm>
            <a:off x="3364992" y="1417320"/>
            <a:ext cx="2606040" cy="3246120"/>
          </a:xfrm>
          <a:prstGeom prst="roundRect">
            <a:avLst>
              <a:gd name="adj" fmla="val 4211"/>
            </a:avLst>
          </a:prstGeom>
          <a:solidFill>
            <a:srgbClr val="0F1B2D"/>
          </a:solidFill>
          <a:ln w="12700">
            <a:solidFill>
              <a:srgbClr val="0F1B2D"/>
            </a:solidFill>
            <a:prstDash val="solid"/>
          </a:ln>
        </p:spPr>
      </p:sp>
      <p:sp>
        <p:nvSpPr>
          <p:cNvPr id="11" name="Shape 9"/>
          <p:cNvSpPr/>
          <p:nvPr/>
        </p:nvSpPr>
        <p:spPr>
          <a:xfrm>
            <a:off x="3593592" y="1600200"/>
            <a:ext cx="548640" cy="548640"/>
          </a:xfrm>
          <a:prstGeom prst="ellipse">
            <a:avLst/>
          </a:prstGeom>
          <a:solidFill>
            <a:srgbClr val="F08A24"/>
          </a:solidFill>
          <a:ln w="12700">
            <a:solidFill>
              <a:srgbClr val="F08A24"/>
            </a:solidFill>
            <a:prstDash val="solid"/>
          </a:ln>
        </p:spPr>
      </p:sp>
      <p:sp>
        <p:nvSpPr>
          <p:cNvPr id="12" name="Text 10"/>
          <p:cNvSpPr txBox="1"/>
          <p:nvPr/>
        </p:nvSpPr>
        <p:spPr>
          <a:xfrm>
            <a:off x="3593592" y="16002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3" name="Text 11"/>
          <p:cNvSpPr txBox="1"/>
          <p:nvPr/>
        </p:nvSpPr>
        <p:spPr>
          <a:xfrm>
            <a:off x="3593592" y="2286000"/>
            <a:ext cx="2194560" cy="868680"/>
          </a:xfrm>
          <a:prstGeom prst="rect">
            <a:avLst/>
          </a:prstGeom>
          <a:noFill/>
          <a:ln/>
        </p:spPr>
        <p:txBody>
          <a:bodyPr wrap="square" lIns="0" tIns="0" rIns="0" bIns="0" rtlCol="0" anchor="t"/>
          <a:lstStyle/>
          <a:p>
            <a:pPr indent="0" marL="0">
              <a:buNone/>
            </a:pPr>
            <a:r>
              <a:rPr lang="en-US" sz="2300" b="1" dirty="0">
                <a:solidFill>
                  <a:srgbClr val="FFFFFF"/>
                </a:solidFill>
                <a:latin typeface="Calibri" pitchFamily="34" charset="0"/>
                <a:ea typeface="Calibri" pitchFamily="34" charset="-122"/>
                <a:cs typeface="Calibri" pitchFamily="34" charset="-120"/>
              </a:rPr>
              <a:t>Read them in order</a:t>
            </a:r>
            <a:endParaRPr lang="en-US" sz="2300" dirty="0"/>
          </a:p>
        </p:txBody>
      </p:sp>
      <p:sp>
        <p:nvSpPr>
          <p:cNvPr id="14" name="Text 12"/>
          <p:cNvSpPr txBox="1"/>
          <p:nvPr/>
        </p:nvSpPr>
        <p:spPr>
          <a:xfrm>
            <a:off x="3593592" y="3154680"/>
            <a:ext cx="2194560" cy="411480"/>
          </a:xfrm>
          <a:prstGeom prst="rect">
            <a:avLst/>
          </a:prstGeom>
          <a:noFill/>
          <a:ln/>
        </p:spPr>
        <p:txBody>
          <a:bodyPr wrap="square" lIns="0" tIns="0" rIns="0" bIns="0" rtlCol="0" anchor="t"/>
          <a:lstStyle/>
          <a:p>
            <a:pPr indent="0" marL="0">
              <a:buNone/>
            </a:pPr>
            <a:r>
              <a:rPr lang="en-US" sz="1600" i="1" dirty="0">
                <a:solidFill>
                  <a:srgbClr val="C9D3E0"/>
                </a:solidFill>
                <a:latin typeface="Calibri" pitchFamily="34" charset="0"/>
                <a:ea typeface="Calibri" pitchFamily="34" charset="-122"/>
                <a:cs typeface="Calibri" pitchFamily="34" charset="-120"/>
              </a:rPr>
              <a:t>LSTM, both directions</a:t>
            </a:r>
            <a:endParaRPr lang="en-US" sz="1600" dirty="0"/>
          </a:p>
        </p:txBody>
      </p:sp>
      <p:sp>
        <p:nvSpPr>
          <p:cNvPr id="15" name="Text 13"/>
          <p:cNvSpPr txBox="1"/>
          <p:nvPr/>
        </p:nvSpPr>
        <p:spPr>
          <a:xfrm>
            <a:off x="3593592" y="3611880"/>
            <a:ext cx="2194560" cy="91440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carries a memory from piece to piece</a:t>
            </a:r>
            <a:endParaRPr lang="en-US" sz="1800" dirty="0"/>
          </a:p>
        </p:txBody>
      </p:sp>
      <p:sp>
        <p:nvSpPr>
          <p:cNvPr id="16" name="Shape 14"/>
          <p:cNvSpPr/>
          <p:nvPr/>
        </p:nvSpPr>
        <p:spPr>
          <a:xfrm>
            <a:off x="6181344" y="1417320"/>
            <a:ext cx="2606040" cy="3246120"/>
          </a:xfrm>
          <a:prstGeom prst="roundRect">
            <a:avLst>
              <a:gd name="adj" fmla="val 4211"/>
            </a:avLst>
          </a:prstGeom>
          <a:solidFill>
            <a:srgbClr val="EEF2F6"/>
          </a:solidFill>
          <a:ln w="12700">
            <a:solidFill>
              <a:srgbClr val="EEF2F6"/>
            </a:solidFill>
            <a:prstDash val="solid"/>
          </a:ln>
        </p:spPr>
      </p:sp>
      <p:sp>
        <p:nvSpPr>
          <p:cNvPr id="17" name="Shape 15"/>
          <p:cNvSpPr/>
          <p:nvPr/>
        </p:nvSpPr>
        <p:spPr>
          <a:xfrm>
            <a:off x="6409944" y="1600200"/>
            <a:ext cx="548640" cy="548640"/>
          </a:xfrm>
          <a:prstGeom prst="ellipse">
            <a:avLst/>
          </a:prstGeom>
          <a:solidFill>
            <a:srgbClr val="0F1B2D"/>
          </a:solidFill>
          <a:ln w="12700">
            <a:solidFill>
              <a:srgbClr val="0F1B2D"/>
            </a:solidFill>
            <a:prstDash val="solid"/>
          </a:ln>
        </p:spPr>
      </p:sp>
      <p:sp>
        <p:nvSpPr>
          <p:cNvPr id="18" name="Text 16"/>
          <p:cNvSpPr txBox="1"/>
          <p:nvPr/>
        </p:nvSpPr>
        <p:spPr>
          <a:xfrm>
            <a:off x="6409944" y="16002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9" name="Text 17"/>
          <p:cNvSpPr txBox="1"/>
          <p:nvPr/>
        </p:nvSpPr>
        <p:spPr>
          <a:xfrm>
            <a:off x="6409944" y="2286000"/>
            <a:ext cx="2194560" cy="868680"/>
          </a:xfrm>
          <a:prstGeom prst="rect">
            <a:avLst/>
          </a:prstGeom>
          <a:noFill/>
          <a:ln/>
        </p:spPr>
        <p:txBody>
          <a:bodyPr wrap="square" lIns="0" tIns="0" rIns="0" bIns="0" rtlCol="0" anchor="t"/>
          <a:lstStyle/>
          <a:p>
            <a:pPr indent="0" marL="0">
              <a:buNone/>
            </a:pPr>
            <a:r>
              <a:rPr lang="en-US" sz="2300" b="1" dirty="0">
                <a:solidFill>
                  <a:srgbClr val="1E293B"/>
                </a:solidFill>
                <a:latin typeface="Calibri" pitchFamily="34" charset="0"/>
                <a:ea typeface="Calibri" pitchFamily="34" charset="-122"/>
                <a:cs typeface="Calibri" pitchFamily="34" charset="-120"/>
              </a:rPr>
              <a:t>Weigh the pieces</a:t>
            </a:r>
            <a:endParaRPr lang="en-US" sz="2300" dirty="0"/>
          </a:p>
        </p:txBody>
      </p:sp>
      <p:sp>
        <p:nvSpPr>
          <p:cNvPr id="20" name="Text 18"/>
          <p:cNvSpPr txBox="1"/>
          <p:nvPr/>
        </p:nvSpPr>
        <p:spPr>
          <a:xfrm>
            <a:off x="6409944" y="3154680"/>
            <a:ext cx="2194560" cy="411480"/>
          </a:xfrm>
          <a:prstGeom prst="rect">
            <a:avLst/>
          </a:prstGeom>
          <a:noFill/>
          <a:ln/>
        </p:spPr>
        <p:txBody>
          <a:bodyPr wrap="square" lIns="0" tIns="0" rIns="0" bIns="0" rtlCol="0" anchor="t"/>
          <a:lstStyle/>
          <a:p>
            <a:pPr indent="0" marL="0">
              <a:buNone/>
            </a:pPr>
            <a:r>
              <a:rPr lang="en-US" sz="1600" i="1" dirty="0">
                <a:solidFill>
                  <a:srgbClr val="5B6B7F"/>
                </a:solidFill>
                <a:latin typeface="Calibri" pitchFamily="34" charset="0"/>
                <a:ea typeface="Calibri" pitchFamily="34" charset="-122"/>
                <a:cs typeface="Calibri" pitchFamily="34" charset="-120"/>
              </a:rPr>
              <a:t>attention</a:t>
            </a:r>
            <a:endParaRPr lang="en-US" sz="1600" dirty="0"/>
          </a:p>
        </p:txBody>
      </p:sp>
      <p:sp>
        <p:nvSpPr>
          <p:cNvPr id="21" name="Text 19"/>
          <p:cNvSpPr txBox="1"/>
          <p:nvPr/>
        </p:nvSpPr>
        <p:spPr>
          <a:xfrm>
            <a:off x="6409944" y="3611880"/>
            <a:ext cx="2194560" cy="914400"/>
          </a:xfrm>
          <a:prstGeom prst="rect">
            <a:avLst/>
          </a:prstGeom>
          <a:noFill/>
          <a:ln/>
        </p:spPr>
        <p:txBody>
          <a:bodyPr wrap="square" lIns="0" tIns="0" rIns="0" bIns="0" rtlCol="0" anchor="t"/>
          <a:lstStyle/>
          <a:p>
            <a:pPr indent="0" marL="0">
              <a:buNone/>
            </a:pPr>
            <a:r>
              <a:rPr lang="en-US" sz="1800" dirty="0">
                <a:solidFill>
                  <a:srgbClr val="1E293B"/>
                </a:solidFill>
                <a:latin typeface="Calibri" pitchFamily="34" charset="0"/>
                <a:ea typeface="Calibri" pitchFamily="34" charset="-122"/>
                <a:cs typeface="Calibri" pitchFamily="34" charset="-120"/>
              </a:rPr>
              <a:t>a weighted average of all the pieces</a:t>
            </a:r>
            <a:endParaRPr lang="en-US" sz="1800" dirty="0"/>
          </a:p>
        </p:txBody>
      </p:sp>
      <p:sp>
        <p:nvSpPr>
          <p:cNvPr id="22" name="Shape 20"/>
          <p:cNvSpPr/>
          <p:nvPr/>
        </p:nvSpPr>
        <p:spPr>
          <a:xfrm>
            <a:off x="8997696" y="1417320"/>
            <a:ext cx="2606040" cy="3246120"/>
          </a:xfrm>
          <a:prstGeom prst="roundRect">
            <a:avLst>
              <a:gd name="adj" fmla="val 4211"/>
            </a:avLst>
          </a:prstGeom>
          <a:solidFill>
            <a:srgbClr val="EEF2F6"/>
          </a:solidFill>
          <a:ln w="12700">
            <a:solidFill>
              <a:srgbClr val="EEF2F6"/>
            </a:solidFill>
            <a:prstDash val="solid"/>
          </a:ln>
        </p:spPr>
      </p:sp>
      <p:sp>
        <p:nvSpPr>
          <p:cNvPr id="23" name="Shape 21"/>
          <p:cNvSpPr/>
          <p:nvPr/>
        </p:nvSpPr>
        <p:spPr>
          <a:xfrm>
            <a:off x="9226296" y="1600200"/>
            <a:ext cx="548640" cy="548640"/>
          </a:xfrm>
          <a:prstGeom prst="ellipse">
            <a:avLst/>
          </a:prstGeom>
          <a:solidFill>
            <a:srgbClr val="0F1B2D"/>
          </a:solidFill>
          <a:ln w="12700">
            <a:solidFill>
              <a:srgbClr val="0F1B2D"/>
            </a:solidFill>
            <a:prstDash val="solid"/>
          </a:ln>
        </p:spPr>
      </p:sp>
      <p:sp>
        <p:nvSpPr>
          <p:cNvPr id="24" name="Text 22"/>
          <p:cNvSpPr txBox="1"/>
          <p:nvPr/>
        </p:nvSpPr>
        <p:spPr>
          <a:xfrm>
            <a:off x="9226296" y="16002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5" name="Text 23"/>
          <p:cNvSpPr txBox="1"/>
          <p:nvPr/>
        </p:nvSpPr>
        <p:spPr>
          <a:xfrm>
            <a:off x="9226296" y="2286000"/>
            <a:ext cx="2194560" cy="868680"/>
          </a:xfrm>
          <a:prstGeom prst="rect">
            <a:avLst/>
          </a:prstGeom>
          <a:noFill/>
          <a:ln/>
        </p:spPr>
        <p:txBody>
          <a:bodyPr wrap="square" lIns="0" tIns="0" rIns="0" bIns="0" rtlCol="0" anchor="t"/>
          <a:lstStyle/>
          <a:p>
            <a:pPr indent="0" marL="0">
              <a:buNone/>
            </a:pPr>
            <a:r>
              <a:rPr lang="en-US" sz="2300" b="1" dirty="0">
                <a:solidFill>
                  <a:srgbClr val="1E293B"/>
                </a:solidFill>
                <a:latin typeface="Calibri" pitchFamily="34" charset="0"/>
                <a:ea typeface="Calibri" pitchFamily="34" charset="-122"/>
                <a:cs typeface="Calibri" pitchFamily="34" charset="-120"/>
              </a:rPr>
              <a:t>Decide</a:t>
            </a:r>
            <a:endParaRPr lang="en-US" sz="2300" dirty="0"/>
          </a:p>
        </p:txBody>
      </p:sp>
      <p:sp>
        <p:nvSpPr>
          <p:cNvPr id="26" name="Text 24"/>
          <p:cNvSpPr txBox="1"/>
          <p:nvPr/>
        </p:nvSpPr>
        <p:spPr>
          <a:xfrm>
            <a:off x="9226296" y="3154680"/>
            <a:ext cx="2194560" cy="411480"/>
          </a:xfrm>
          <a:prstGeom prst="rect">
            <a:avLst/>
          </a:prstGeom>
          <a:noFill/>
          <a:ln/>
        </p:spPr>
        <p:txBody>
          <a:bodyPr wrap="square" lIns="0" tIns="0" rIns="0" bIns="0" rtlCol="0" anchor="t"/>
          <a:lstStyle/>
          <a:p>
            <a:pPr indent="0" marL="0">
              <a:buNone/>
            </a:pPr>
            <a:r>
              <a:rPr lang="en-US" sz="1600" i="1" dirty="0">
                <a:solidFill>
                  <a:srgbClr val="5B6B7F"/>
                </a:solidFill>
                <a:latin typeface="Calibri" pitchFamily="34" charset="0"/>
                <a:ea typeface="Calibri" pitchFamily="34" charset="-122"/>
                <a:cs typeface="Calibri" pitchFamily="34" charset="-120"/>
              </a:rPr>
              <a:t>dense layers</a:t>
            </a:r>
            <a:endParaRPr lang="en-US" sz="1600" dirty="0"/>
          </a:p>
        </p:txBody>
      </p:sp>
      <p:sp>
        <p:nvSpPr>
          <p:cNvPr id="27" name="Text 25"/>
          <p:cNvSpPr txBox="1"/>
          <p:nvPr/>
        </p:nvSpPr>
        <p:spPr>
          <a:xfrm>
            <a:off x="9226296" y="3611880"/>
            <a:ext cx="2194560" cy="914400"/>
          </a:xfrm>
          <a:prstGeom prst="rect">
            <a:avLst/>
          </a:prstGeom>
          <a:noFill/>
          <a:ln/>
        </p:spPr>
        <p:txBody>
          <a:bodyPr wrap="square" lIns="0" tIns="0" rIns="0" bIns="0" rtlCol="0" anchor="t"/>
          <a:lstStyle/>
          <a:p>
            <a:pPr indent="0" marL="0">
              <a:buNone/>
            </a:pPr>
            <a:r>
              <a:rPr lang="en-US" sz="1800" dirty="0">
                <a:solidFill>
                  <a:srgbClr val="1E293B"/>
                </a:solidFill>
                <a:latin typeface="Calibri" pitchFamily="34" charset="0"/>
                <a:ea typeface="Calibri" pitchFamily="34" charset="-122"/>
                <a:cs typeface="Calibri" pitchFamily="34" charset="-120"/>
              </a:rPr>
              <a:t>11 confidence scores, one per type; the largest wins</a:t>
            </a:r>
            <a:endParaRPr lang="en-US" sz="1800" dirty="0"/>
          </a:p>
        </p:txBody>
      </p:sp>
      <p:sp>
        <p:nvSpPr>
          <p:cNvPr id="28" name="Text 26"/>
          <p:cNvSpPr txBox="1"/>
          <p:nvPr/>
        </p:nvSpPr>
        <p:spPr>
          <a:xfrm>
            <a:off x="548640" y="4892040"/>
            <a:ext cx="11091672" cy="457200"/>
          </a:xfrm>
          <a:prstGeom prst="rect">
            <a:avLst/>
          </a:prstGeom>
          <a:noFill/>
          <a:ln/>
        </p:spPr>
        <p:txBody>
          <a:bodyPr wrap="square" lIns="0" tIns="0" rIns="0" bIns="0" rtlCol="0" anchor="t"/>
          <a:lstStyle/>
          <a:p>
            <a:pPr indent="0" marL="0">
              <a:buNone/>
            </a:pPr>
            <a:r>
              <a:rPr lang="en-US" sz="1900" dirty="0">
                <a:solidFill>
                  <a:srgbClr val="5B6B7F"/>
                </a:solidFill>
                <a:latin typeface="Calibri" pitchFamily="34" charset="0"/>
                <a:ea typeface="Calibri" pitchFamily="34" charset="-122"/>
                <a:cs typeface="Calibri" pitchFamily="34" charset="-120"/>
              </a:rPr>
              <a:t>In: 128 samples (I and Q).  Out: 11 scores.  794,188 numbers learned, 83% of them in step 2.</a:t>
            </a:r>
            <a:endParaRPr lang="en-US" sz="1900" dirty="0"/>
          </a:p>
        </p:txBody>
      </p:sp>
      <p:sp>
        <p:nvSpPr>
          <p:cNvPr id="29" name="Text 27"/>
          <p:cNvSpPr txBox="1"/>
          <p:nvPr/>
        </p:nvSpPr>
        <p:spPr>
          <a:xfrm>
            <a:off x="548640" y="544068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Step 2, reading the pieces in order, is the heart of it.</a:t>
            </a:r>
            <a:endParaRPr lang="en-US" sz="2400" dirty="0"/>
          </a:p>
        </p:txBody>
      </p:sp>
      <p:sp>
        <p:nvSpPr>
          <p:cNvPr id="31" name="Text 28"/>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THE PAPER  ·  THE MODEL</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Step 2 up close: what is an LSTM?</a:t>
            </a:r>
            <a:endParaRPr lang="en-US" sz="3400" dirty="0"/>
          </a:p>
        </p:txBody>
      </p:sp>
      <p:sp>
        <p:nvSpPr>
          <p:cNvPr id="4" name="Text 2"/>
          <p:cNvSpPr txBox="1"/>
          <p:nvPr/>
        </p:nvSpPr>
        <p:spPr>
          <a:xfrm>
            <a:off x="548640" y="1298448"/>
            <a:ext cx="11091672" cy="777240"/>
          </a:xfrm>
          <a:prstGeom prst="rect">
            <a:avLst/>
          </a:prstGeom>
          <a:noFill/>
          <a:ln/>
        </p:spPr>
        <p:txBody>
          <a:bodyPr wrap="square" lIns="0" tIns="0" rIns="0" bIns="0" rtlCol="0" anchor="t"/>
          <a:lstStyle/>
          <a:p>
            <a:pPr indent="0" marL="0">
              <a:buNone/>
            </a:pPr>
            <a:r>
              <a:rPr lang="en-US" sz="2100" dirty="0">
                <a:solidFill>
                  <a:srgbClr val="1E293B"/>
                </a:solidFill>
                <a:latin typeface="Calibri" pitchFamily="34" charset="0"/>
                <a:ea typeface="Calibri" pitchFamily="34" charset="-122"/>
                <a:cs typeface="Calibri" pitchFamily="34" charset="-120"/>
              </a:rPr>
              <a:t>It reads the 64 pieces one at a time and carries a memory of 128 numbers from piece to piece. At every piece, three gates act like valves:</a:t>
            </a:r>
            <a:endParaRPr lang="en-US" sz="2100" dirty="0"/>
          </a:p>
        </p:txBody>
      </p:sp>
      <p:sp>
        <p:nvSpPr>
          <p:cNvPr id="5" name="Shape 3"/>
          <p:cNvSpPr/>
          <p:nvPr/>
        </p:nvSpPr>
        <p:spPr>
          <a:xfrm>
            <a:off x="548640" y="2240280"/>
            <a:ext cx="2240280" cy="2240280"/>
          </a:xfrm>
          <a:prstGeom prst="roundRect">
            <a:avLst>
              <a:gd name="adj" fmla="val 4898"/>
            </a:avLst>
          </a:prstGeom>
          <a:solidFill>
            <a:srgbClr val="EEF2F6"/>
          </a:solidFill>
          <a:ln w="12700">
            <a:solidFill>
              <a:srgbClr val="EEF2F6"/>
            </a:solidFill>
            <a:prstDash val="solid"/>
          </a:ln>
        </p:spPr>
      </p:sp>
      <p:sp>
        <p:nvSpPr>
          <p:cNvPr id="6" name="Shape 4"/>
          <p:cNvSpPr/>
          <p:nvPr/>
        </p:nvSpPr>
        <p:spPr>
          <a:xfrm>
            <a:off x="749808" y="2395728"/>
            <a:ext cx="457200" cy="457200"/>
          </a:xfrm>
          <a:prstGeom prst="ellipse">
            <a:avLst/>
          </a:prstGeom>
          <a:solidFill>
            <a:srgbClr val="0F1B2D"/>
          </a:solidFill>
          <a:ln w="12700">
            <a:solidFill>
              <a:srgbClr val="0F1B2D"/>
            </a:solidFill>
            <a:prstDash val="solid"/>
          </a:ln>
        </p:spPr>
      </p:sp>
      <p:sp>
        <p:nvSpPr>
          <p:cNvPr id="7" name="Text 5"/>
          <p:cNvSpPr txBox="1"/>
          <p:nvPr/>
        </p:nvSpPr>
        <p:spPr>
          <a:xfrm>
            <a:off x="749808" y="2395728"/>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8" name="Text 6"/>
          <p:cNvSpPr txBox="1"/>
          <p:nvPr/>
        </p:nvSpPr>
        <p:spPr>
          <a:xfrm>
            <a:off x="1325880" y="2395728"/>
            <a:ext cx="1325880" cy="457200"/>
          </a:xfrm>
          <a:prstGeom prst="rect">
            <a:avLst/>
          </a:prstGeom>
          <a:noFill/>
          <a:ln/>
        </p:spPr>
        <p:txBody>
          <a:bodyPr wrap="square" lIns="0" tIns="0" rIns="0" bIns="0" rtlCol="0" anchor="ctr"/>
          <a:lstStyle/>
          <a:p>
            <a:pPr indent="0" marL="0">
              <a:buNone/>
            </a:pPr>
            <a:r>
              <a:rPr lang="en-US" sz="2300" b="1" dirty="0">
                <a:solidFill>
                  <a:srgbClr val="1E293B"/>
                </a:solidFill>
                <a:latin typeface="Calibri" pitchFamily="34" charset="0"/>
                <a:ea typeface="Calibri" pitchFamily="34" charset="-122"/>
                <a:cs typeface="Calibri" pitchFamily="34" charset="-120"/>
              </a:rPr>
              <a:t>Keep</a:t>
            </a:r>
            <a:endParaRPr lang="en-US" sz="2300" dirty="0"/>
          </a:p>
        </p:txBody>
      </p:sp>
      <p:sp>
        <p:nvSpPr>
          <p:cNvPr id="9" name="Text 7"/>
          <p:cNvSpPr txBox="1"/>
          <p:nvPr/>
        </p:nvSpPr>
        <p:spPr>
          <a:xfrm>
            <a:off x="749808" y="2926080"/>
            <a:ext cx="1874520" cy="365760"/>
          </a:xfrm>
          <a:prstGeom prst="rect">
            <a:avLst/>
          </a:prstGeom>
          <a:noFill/>
          <a:ln/>
        </p:spPr>
        <p:txBody>
          <a:bodyPr wrap="square" lIns="0" tIns="0" rIns="0" bIns="0" rtlCol="0" anchor="t"/>
          <a:lstStyle/>
          <a:p>
            <a:pPr indent="0" marL="0">
              <a:buNone/>
            </a:pPr>
            <a:r>
              <a:rPr lang="en-US" sz="1500" i="1" dirty="0">
                <a:solidFill>
                  <a:srgbClr val="5B6B7F"/>
                </a:solidFill>
                <a:latin typeface="Calibri" pitchFamily="34" charset="0"/>
                <a:ea typeface="Calibri" pitchFamily="34" charset="-122"/>
                <a:cs typeface="Calibri" pitchFamily="34" charset="-120"/>
              </a:rPr>
              <a:t>forget gate</a:t>
            </a:r>
            <a:endParaRPr lang="en-US" sz="1500" dirty="0"/>
          </a:p>
        </p:txBody>
      </p:sp>
      <p:sp>
        <p:nvSpPr>
          <p:cNvPr id="10" name="Text 8"/>
          <p:cNvSpPr txBox="1"/>
          <p:nvPr/>
        </p:nvSpPr>
        <p:spPr>
          <a:xfrm>
            <a:off x="749808" y="3291840"/>
            <a:ext cx="1874520" cy="1097280"/>
          </a:xfrm>
          <a:prstGeom prst="rect">
            <a:avLst/>
          </a:prstGeom>
          <a:noFill/>
          <a:ln/>
        </p:spPr>
        <p:txBody>
          <a:bodyPr wrap="square" lIns="0" tIns="0" rIns="0" bIns="0" rtlCol="0" anchor="t"/>
          <a:lstStyle/>
          <a:p>
            <a:pPr indent="0" marL="0">
              <a:buNone/>
            </a:pPr>
            <a:r>
              <a:rPr lang="en-US" sz="1700" dirty="0">
                <a:solidFill>
                  <a:srgbClr val="1E293B"/>
                </a:solidFill>
                <a:latin typeface="Calibri" pitchFamily="34" charset="0"/>
                <a:ea typeface="Calibri" pitchFamily="34" charset="-122"/>
                <a:cs typeface="Calibri" pitchFamily="34" charset="-120"/>
              </a:rPr>
              <a:t>how much of the old memory to keep: 0 erases it, 1 keeps all of it</a:t>
            </a:r>
            <a:endParaRPr lang="en-US" sz="1700" dirty="0"/>
          </a:p>
        </p:txBody>
      </p:sp>
      <p:sp>
        <p:nvSpPr>
          <p:cNvPr id="11" name="Shape 9"/>
          <p:cNvSpPr/>
          <p:nvPr/>
        </p:nvSpPr>
        <p:spPr>
          <a:xfrm>
            <a:off x="2944368" y="2240280"/>
            <a:ext cx="2240280" cy="2240280"/>
          </a:xfrm>
          <a:prstGeom prst="roundRect">
            <a:avLst>
              <a:gd name="adj" fmla="val 4898"/>
            </a:avLst>
          </a:prstGeom>
          <a:solidFill>
            <a:srgbClr val="EEF2F6"/>
          </a:solidFill>
          <a:ln w="12700">
            <a:solidFill>
              <a:srgbClr val="EEF2F6"/>
            </a:solidFill>
            <a:prstDash val="solid"/>
          </a:ln>
        </p:spPr>
      </p:sp>
      <p:sp>
        <p:nvSpPr>
          <p:cNvPr id="12" name="Shape 10"/>
          <p:cNvSpPr/>
          <p:nvPr/>
        </p:nvSpPr>
        <p:spPr>
          <a:xfrm>
            <a:off x="3145536" y="2395728"/>
            <a:ext cx="457200" cy="457200"/>
          </a:xfrm>
          <a:prstGeom prst="ellipse">
            <a:avLst/>
          </a:prstGeom>
          <a:solidFill>
            <a:srgbClr val="0F1B2D"/>
          </a:solidFill>
          <a:ln w="12700">
            <a:solidFill>
              <a:srgbClr val="0F1B2D"/>
            </a:solidFill>
            <a:prstDash val="solid"/>
          </a:ln>
        </p:spPr>
      </p:sp>
      <p:sp>
        <p:nvSpPr>
          <p:cNvPr id="13" name="Text 11"/>
          <p:cNvSpPr txBox="1"/>
          <p:nvPr/>
        </p:nvSpPr>
        <p:spPr>
          <a:xfrm>
            <a:off x="3145536" y="2395728"/>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4" name="Text 12"/>
          <p:cNvSpPr txBox="1"/>
          <p:nvPr/>
        </p:nvSpPr>
        <p:spPr>
          <a:xfrm>
            <a:off x="3721608" y="2395728"/>
            <a:ext cx="1325880" cy="457200"/>
          </a:xfrm>
          <a:prstGeom prst="rect">
            <a:avLst/>
          </a:prstGeom>
          <a:noFill/>
          <a:ln/>
        </p:spPr>
        <p:txBody>
          <a:bodyPr wrap="square" lIns="0" tIns="0" rIns="0" bIns="0" rtlCol="0" anchor="ctr"/>
          <a:lstStyle/>
          <a:p>
            <a:pPr indent="0" marL="0">
              <a:buNone/>
            </a:pPr>
            <a:r>
              <a:rPr lang="en-US" sz="2300" b="1" dirty="0">
                <a:solidFill>
                  <a:srgbClr val="1E293B"/>
                </a:solidFill>
                <a:latin typeface="Calibri" pitchFamily="34" charset="0"/>
                <a:ea typeface="Calibri" pitchFamily="34" charset="-122"/>
                <a:cs typeface="Calibri" pitchFamily="34" charset="-120"/>
              </a:rPr>
              <a:t>Write</a:t>
            </a:r>
            <a:endParaRPr lang="en-US" sz="2300" dirty="0"/>
          </a:p>
        </p:txBody>
      </p:sp>
      <p:sp>
        <p:nvSpPr>
          <p:cNvPr id="15" name="Text 13"/>
          <p:cNvSpPr txBox="1"/>
          <p:nvPr/>
        </p:nvSpPr>
        <p:spPr>
          <a:xfrm>
            <a:off x="3145536" y="2926080"/>
            <a:ext cx="1874520" cy="365760"/>
          </a:xfrm>
          <a:prstGeom prst="rect">
            <a:avLst/>
          </a:prstGeom>
          <a:noFill/>
          <a:ln/>
        </p:spPr>
        <p:txBody>
          <a:bodyPr wrap="square" lIns="0" tIns="0" rIns="0" bIns="0" rtlCol="0" anchor="t"/>
          <a:lstStyle/>
          <a:p>
            <a:pPr indent="0" marL="0">
              <a:buNone/>
            </a:pPr>
            <a:r>
              <a:rPr lang="en-US" sz="1500" i="1" dirty="0">
                <a:solidFill>
                  <a:srgbClr val="5B6B7F"/>
                </a:solidFill>
                <a:latin typeface="Calibri" pitchFamily="34" charset="0"/>
                <a:ea typeface="Calibri" pitchFamily="34" charset="-122"/>
                <a:cs typeface="Calibri" pitchFamily="34" charset="-120"/>
              </a:rPr>
              <a:t>input gate</a:t>
            </a:r>
            <a:endParaRPr lang="en-US" sz="1500" dirty="0"/>
          </a:p>
        </p:txBody>
      </p:sp>
      <p:sp>
        <p:nvSpPr>
          <p:cNvPr id="16" name="Text 14"/>
          <p:cNvSpPr txBox="1"/>
          <p:nvPr/>
        </p:nvSpPr>
        <p:spPr>
          <a:xfrm>
            <a:off x="3145536" y="3291840"/>
            <a:ext cx="1874520" cy="1097280"/>
          </a:xfrm>
          <a:prstGeom prst="rect">
            <a:avLst/>
          </a:prstGeom>
          <a:noFill/>
          <a:ln/>
        </p:spPr>
        <p:txBody>
          <a:bodyPr wrap="square" lIns="0" tIns="0" rIns="0" bIns="0" rtlCol="0" anchor="t"/>
          <a:lstStyle/>
          <a:p>
            <a:pPr indent="0" marL="0">
              <a:buNone/>
            </a:pPr>
            <a:r>
              <a:rPr lang="en-US" sz="1700" dirty="0">
                <a:solidFill>
                  <a:srgbClr val="1E293B"/>
                </a:solidFill>
                <a:latin typeface="Calibri" pitchFamily="34" charset="0"/>
                <a:ea typeface="Calibri" pitchFamily="34" charset="-122"/>
                <a:cs typeface="Calibri" pitchFamily="34" charset="-120"/>
              </a:rPr>
              <a:t>how much of the new piece to add to the memory</a:t>
            </a:r>
            <a:endParaRPr lang="en-US" sz="1700" dirty="0"/>
          </a:p>
        </p:txBody>
      </p:sp>
      <p:sp>
        <p:nvSpPr>
          <p:cNvPr id="17" name="Shape 15"/>
          <p:cNvSpPr/>
          <p:nvPr/>
        </p:nvSpPr>
        <p:spPr>
          <a:xfrm>
            <a:off x="5340096" y="2240280"/>
            <a:ext cx="2240280" cy="2240280"/>
          </a:xfrm>
          <a:prstGeom prst="roundRect">
            <a:avLst>
              <a:gd name="adj" fmla="val 4898"/>
            </a:avLst>
          </a:prstGeom>
          <a:solidFill>
            <a:srgbClr val="EEF2F6"/>
          </a:solidFill>
          <a:ln w="12700">
            <a:solidFill>
              <a:srgbClr val="EEF2F6"/>
            </a:solidFill>
            <a:prstDash val="solid"/>
          </a:ln>
        </p:spPr>
      </p:sp>
      <p:sp>
        <p:nvSpPr>
          <p:cNvPr id="18" name="Shape 16"/>
          <p:cNvSpPr/>
          <p:nvPr/>
        </p:nvSpPr>
        <p:spPr>
          <a:xfrm>
            <a:off x="5541264" y="2395728"/>
            <a:ext cx="457200" cy="457200"/>
          </a:xfrm>
          <a:prstGeom prst="ellipse">
            <a:avLst/>
          </a:prstGeom>
          <a:solidFill>
            <a:srgbClr val="0F1B2D"/>
          </a:solidFill>
          <a:ln w="12700">
            <a:solidFill>
              <a:srgbClr val="0F1B2D"/>
            </a:solidFill>
            <a:prstDash val="solid"/>
          </a:ln>
        </p:spPr>
      </p:sp>
      <p:sp>
        <p:nvSpPr>
          <p:cNvPr id="19" name="Text 17"/>
          <p:cNvSpPr txBox="1"/>
          <p:nvPr/>
        </p:nvSpPr>
        <p:spPr>
          <a:xfrm>
            <a:off x="5541264" y="2395728"/>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0" name="Text 18"/>
          <p:cNvSpPr txBox="1"/>
          <p:nvPr/>
        </p:nvSpPr>
        <p:spPr>
          <a:xfrm>
            <a:off x="6117336" y="2395728"/>
            <a:ext cx="1325880" cy="457200"/>
          </a:xfrm>
          <a:prstGeom prst="rect">
            <a:avLst/>
          </a:prstGeom>
          <a:noFill/>
          <a:ln/>
        </p:spPr>
        <p:txBody>
          <a:bodyPr wrap="square" lIns="0" tIns="0" rIns="0" bIns="0" rtlCol="0" anchor="ctr"/>
          <a:lstStyle/>
          <a:p>
            <a:pPr indent="0" marL="0">
              <a:buNone/>
            </a:pPr>
            <a:r>
              <a:rPr lang="en-US" sz="2300" b="1" dirty="0">
                <a:solidFill>
                  <a:srgbClr val="1E293B"/>
                </a:solidFill>
                <a:latin typeface="Calibri" pitchFamily="34" charset="0"/>
                <a:ea typeface="Calibri" pitchFamily="34" charset="-122"/>
                <a:cs typeface="Calibri" pitchFamily="34" charset="-120"/>
              </a:rPr>
              <a:t>Show</a:t>
            </a:r>
            <a:endParaRPr lang="en-US" sz="2300" dirty="0"/>
          </a:p>
        </p:txBody>
      </p:sp>
      <p:sp>
        <p:nvSpPr>
          <p:cNvPr id="21" name="Text 19"/>
          <p:cNvSpPr txBox="1"/>
          <p:nvPr/>
        </p:nvSpPr>
        <p:spPr>
          <a:xfrm>
            <a:off x="5541264" y="2926080"/>
            <a:ext cx="1874520" cy="365760"/>
          </a:xfrm>
          <a:prstGeom prst="rect">
            <a:avLst/>
          </a:prstGeom>
          <a:noFill/>
          <a:ln/>
        </p:spPr>
        <p:txBody>
          <a:bodyPr wrap="square" lIns="0" tIns="0" rIns="0" bIns="0" rtlCol="0" anchor="t"/>
          <a:lstStyle/>
          <a:p>
            <a:pPr indent="0" marL="0">
              <a:buNone/>
            </a:pPr>
            <a:r>
              <a:rPr lang="en-US" sz="1500" i="1" dirty="0">
                <a:solidFill>
                  <a:srgbClr val="5B6B7F"/>
                </a:solidFill>
                <a:latin typeface="Calibri" pitchFamily="34" charset="0"/>
                <a:ea typeface="Calibri" pitchFamily="34" charset="-122"/>
                <a:cs typeface="Calibri" pitchFamily="34" charset="-120"/>
              </a:rPr>
              <a:t>output gate</a:t>
            </a:r>
            <a:endParaRPr lang="en-US" sz="1500" dirty="0"/>
          </a:p>
        </p:txBody>
      </p:sp>
      <p:sp>
        <p:nvSpPr>
          <p:cNvPr id="22" name="Text 20"/>
          <p:cNvSpPr txBox="1"/>
          <p:nvPr/>
        </p:nvSpPr>
        <p:spPr>
          <a:xfrm>
            <a:off x="5541264" y="3291840"/>
            <a:ext cx="1874520" cy="1097280"/>
          </a:xfrm>
          <a:prstGeom prst="rect">
            <a:avLst/>
          </a:prstGeom>
          <a:noFill/>
          <a:ln/>
        </p:spPr>
        <p:txBody>
          <a:bodyPr wrap="square" lIns="0" tIns="0" rIns="0" bIns="0" rtlCol="0" anchor="t"/>
          <a:lstStyle/>
          <a:p>
            <a:pPr indent="0" marL="0">
              <a:buNone/>
            </a:pPr>
            <a:r>
              <a:rPr lang="en-US" sz="1700" dirty="0">
                <a:solidFill>
                  <a:srgbClr val="1E293B"/>
                </a:solidFill>
                <a:latin typeface="Calibri" pitchFamily="34" charset="0"/>
                <a:ea typeface="Calibri" pitchFamily="34" charset="-122"/>
                <a:cs typeface="Calibri" pitchFamily="34" charset="-120"/>
              </a:rPr>
              <a:t>how much of the memory to pass on</a:t>
            </a:r>
            <a:endParaRPr lang="en-US" sz="1700" dirty="0"/>
          </a:p>
        </p:txBody>
      </p:sp>
      <p:sp>
        <p:nvSpPr>
          <p:cNvPr id="23" name="Shape 21"/>
          <p:cNvSpPr/>
          <p:nvPr/>
        </p:nvSpPr>
        <p:spPr>
          <a:xfrm>
            <a:off x="7735824" y="2240280"/>
            <a:ext cx="3904488" cy="2240280"/>
          </a:xfrm>
          <a:prstGeom prst="roundRect">
            <a:avLst>
              <a:gd name="adj" fmla="val 4898"/>
            </a:avLst>
          </a:prstGeom>
          <a:solidFill>
            <a:srgbClr val="0F1B2D"/>
          </a:solidFill>
          <a:ln w="12700">
            <a:solidFill>
              <a:srgbClr val="0F1B2D"/>
            </a:solidFill>
            <a:prstDash val="solid"/>
          </a:ln>
        </p:spPr>
      </p:sp>
      <p:sp>
        <p:nvSpPr>
          <p:cNvPr id="24" name="Text 22"/>
          <p:cNvSpPr txBox="1"/>
          <p:nvPr/>
        </p:nvSpPr>
        <p:spPr>
          <a:xfrm>
            <a:off x="8010144" y="2377440"/>
            <a:ext cx="3355848" cy="411480"/>
          </a:xfrm>
          <a:prstGeom prst="rect">
            <a:avLst/>
          </a:prstGeom>
          <a:noFill/>
          <a:ln/>
        </p:spPr>
        <p:txBody>
          <a:bodyPr wrap="square" lIns="0" tIns="0" rIns="0" bIns="0" rtlCol="0" anchor="t"/>
          <a:lstStyle/>
          <a:p>
            <a:pPr indent="0" marL="0">
              <a:buNone/>
            </a:pPr>
            <a:r>
              <a:rPr lang="en-US" sz="1700" b="1" dirty="0">
                <a:solidFill>
                  <a:srgbClr val="F08A24"/>
                </a:solidFill>
                <a:latin typeface="Calibri" pitchFamily="34" charset="0"/>
                <a:ea typeface="Calibri" pitchFamily="34" charset="-122"/>
                <a:cs typeface="Calibri" pitchFamily="34" charset="-120"/>
              </a:rPr>
              <a:t>Signal-processing view</a:t>
            </a:r>
            <a:endParaRPr lang="en-US" sz="1700" dirty="0"/>
          </a:p>
        </p:txBody>
      </p:sp>
      <p:sp>
        <p:nvSpPr>
          <p:cNvPr id="25" name="Text 23"/>
          <p:cNvSpPr txBox="1"/>
          <p:nvPr/>
        </p:nvSpPr>
        <p:spPr>
          <a:xfrm>
            <a:off x="8010144" y="2788920"/>
            <a:ext cx="3355848" cy="731520"/>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memory(t) = keep × memory(t−1) + write × new</a:t>
            </a:r>
            <a:endParaRPr lang="en-US" sz="1900" dirty="0"/>
          </a:p>
        </p:txBody>
      </p:sp>
      <p:sp>
        <p:nvSpPr>
          <p:cNvPr id="26" name="Text 24"/>
          <p:cNvSpPr txBox="1"/>
          <p:nvPr/>
        </p:nvSpPr>
        <p:spPr>
          <a:xfrm>
            <a:off x="8010144" y="3566160"/>
            <a:ext cx="3355848" cy="822960"/>
          </a:xfrm>
          <a:prstGeom prst="rect">
            <a:avLst/>
          </a:prstGeom>
          <a:noFill/>
          <a:ln/>
        </p:spPr>
        <p:txBody>
          <a:bodyPr wrap="square" lIns="0" tIns="0" rIns="0" bIns="0" rtlCol="0" anchor="t"/>
          <a:lstStyle/>
          <a:p>
            <a:pPr indent="0" marL="0">
              <a:buNone/>
            </a:pPr>
            <a:r>
              <a:rPr lang="en-US" sz="1600" dirty="0">
                <a:solidFill>
                  <a:srgbClr val="C9D3E0"/>
                </a:solidFill>
                <a:latin typeface="Calibri" pitchFamily="34" charset="0"/>
                <a:ea typeface="Calibri" pitchFamily="34" charset="-122"/>
                <a:cs typeface="Calibri" pitchFamily="34" charset="-120"/>
              </a:rPr>
              <a:t>A leaky integrator whose pole the data sets at every step: near 1 it holds, near 0 it resets.</a:t>
            </a:r>
            <a:endParaRPr lang="en-US" sz="1600" dirty="0"/>
          </a:p>
        </p:txBody>
      </p:sp>
      <p:sp>
        <p:nvSpPr>
          <p:cNvPr id="27" name="Text 25"/>
          <p:cNvSpPr txBox="1"/>
          <p:nvPr/>
        </p:nvSpPr>
        <p:spPr>
          <a:xfrm>
            <a:off x="548640" y="4663440"/>
            <a:ext cx="11091672" cy="685800"/>
          </a:xfrm>
          <a:prstGeom prst="rect">
            <a:avLst/>
          </a:prstGeom>
          <a:noFill/>
          <a:ln/>
        </p:spPr>
        <p:txBody>
          <a:bodyPr wrap="square" lIns="0" tIns="0" rIns="0" bIns="0" rtlCol="0" anchor="t"/>
          <a:lstStyle/>
          <a:p>
            <a:pPr indent="0" marL="0">
              <a:buNone/>
            </a:pPr>
            <a:r>
              <a:rPr lang="en-US" sz="1700" dirty="0">
                <a:solidFill>
                  <a:srgbClr val="5B6B7F"/>
                </a:solidFill>
                <a:latin typeface="Calibri" pitchFamily="34" charset="0"/>
                <a:ea typeface="Calibri" pitchFamily="34" charset="-122"/>
                <a:cs typeface="Calibri" pitchFamily="34" charset="-120"/>
              </a:rPr>
              <a:t>Each gate is a small learned layer giving numbers between 0 and 1. In ICRNNA: read forwards and backwards, 2 layers, 659,456 numbers (83% of the model).</a:t>
            </a:r>
            <a:endParaRPr lang="en-US" sz="1700" dirty="0"/>
          </a:p>
        </p:txBody>
      </p:sp>
      <p:sp>
        <p:nvSpPr>
          <p:cNvPr id="28" name="Text 26"/>
          <p:cNvSpPr txBox="1"/>
          <p:nvPr/>
        </p:nvSpPr>
        <p:spPr>
          <a:xfrm>
            <a:off x="548640" y="544068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It is the only step that reads across symbols, which is where a modulation shows.</a:t>
            </a:r>
            <a:endParaRPr lang="en-US" sz="2400" dirty="0"/>
          </a:p>
        </p:txBody>
      </p:sp>
      <p:sp>
        <p:nvSpPr>
          <p:cNvPr id="30" name="Text 27"/>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THE PAPER</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How they trained and tested it</a:t>
            </a:r>
            <a:endParaRPr lang="en-US" sz="3400" dirty="0"/>
          </a:p>
        </p:txBody>
      </p:sp>
      <p:sp>
        <p:nvSpPr>
          <p:cNvPr id="4" name="Shape 2"/>
          <p:cNvSpPr/>
          <p:nvPr/>
        </p:nvSpPr>
        <p:spPr>
          <a:xfrm>
            <a:off x="548640" y="1463040"/>
            <a:ext cx="3520440" cy="2651760"/>
          </a:xfrm>
          <a:prstGeom prst="roundRect">
            <a:avLst>
              <a:gd name="adj" fmla="val 4138"/>
            </a:avLst>
          </a:prstGeom>
          <a:solidFill>
            <a:srgbClr val="EEF2F6"/>
          </a:solidFill>
          <a:ln w="12700">
            <a:solidFill>
              <a:srgbClr val="EEF2F6"/>
            </a:solidFill>
            <a:prstDash val="solid"/>
          </a:ln>
        </p:spPr>
      </p:sp>
      <p:sp>
        <p:nvSpPr>
          <p:cNvPr id="5" name="Text 3"/>
          <p:cNvSpPr txBox="1"/>
          <p:nvPr/>
        </p:nvSpPr>
        <p:spPr>
          <a:xfrm>
            <a:off x="822960" y="1600200"/>
            <a:ext cx="3108960" cy="411480"/>
          </a:xfrm>
          <a:prstGeom prst="rect">
            <a:avLst/>
          </a:prstGeom>
          <a:noFill/>
          <a:ln/>
        </p:spPr>
        <p:txBody>
          <a:bodyPr wrap="square" lIns="0" tIns="0" rIns="0" bIns="0" rtlCol="0" anchor="t"/>
          <a:lstStyle/>
          <a:p>
            <a:pPr indent="0" marL="0">
              <a:buNone/>
            </a:pPr>
            <a:r>
              <a:rPr lang="en-US" sz="1800" b="1" dirty="0">
                <a:solidFill>
                  <a:srgbClr val="0F1B2D"/>
                </a:solidFill>
                <a:latin typeface="Calibri" pitchFamily="34" charset="0"/>
                <a:ea typeface="Calibri" pitchFamily="34" charset="-122"/>
                <a:cs typeface="Calibri" pitchFamily="34" charset="-120"/>
              </a:rPr>
              <a:t>70% of the dataset: training</a:t>
            </a:r>
            <a:endParaRPr lang="en-US" sz="1800" dirty="0"/>
          </a:p>
        </p:txBody>
      </p:sp>
      <p:sp>
        <p:nvSpPr>
          <p:cNvPr id="6" name="Text 4"/>
          <p:cNvSpPr txBox="1"/>
          <p:nvPr/>
        </p:nvSpPr>
        <p:spPr>
          <a:xfrm>
            <a:off x="822960" y="1920240"/>
            <a:ext cx="3017520" cy="914400"/>
          </a:xfrm>
          <a:prstGeom prst="rect">
            <a:avLst/>
          </a:prstGeom>
          <a:noFill/>
          <a:ln/>
        </p:spPr>
        <p:txBody>
          <a:bodyPr wrap="square" lIns="0" tIns="0" rIns="0" bIns="0" rtlCol="0" anchor="b"/>
          <a:lstStyle/>
          <a:p>
            <a:pPr algn="l" indent="0" marL="0">
              <a:buNone/>
            </a:pPr>
            <a:r>
              <a:rPr lang="en-US" sz="5000" b="1" dirty="0">
                <a:solidFill>
                  <a:srgbClr val="1E293B"/>
                </a:solidFill>
                <a:latin typeface="Calibri" pitchFamily="34" charset="0"/>
                <a:ea typeface="Calibri" pitchFamily="34" charset="-122"/>
                <a:cs typeface="Calibri" pitchFamily="34" charset="-120"/>
              </a:rPr>
              <a:t>154,000</a:t>
            </a:r>
            <a:endParaRPr lang="en-US" sz="5000" dirty="0"/>
          </a:p>
        </p:txBody>
      </p:sp>
      <p:sp>
        <p:nvSpPr>
          <p:cNvPr id="7" name="Text 5"/>
          <p:cNvSpPr txBox="1"/>
          <p:nvPr/>
        </p:nvSpPr>
        <p:spPr>
          <a:xfrm>
            <a:off x="822960" y="2880360"/>
            <a:ext cx="3017520" cy="731520"/>
          </a:xfrm>
          <a:prstGeom prst="rect">
            <a:avLst/>
          </a:prstGeom>
          <a:noFill/>
          <a:ln/>
        </p:spPr>
        <p:txBody>
          <a:bodyPr wrap="square" lIns="0" tIns="0" rIns="0" bIns="0" rtlCol="0" anchor="t"/>
          <a:lstStyle/>
          <a:p>
            <a:pPr algn="l" indent="0" marL="0">
              <a:buNone/>
            </a:pPr>
            <a:r>
              <a:rPr lang="en-US" sz="1900" dirty="0">
                <a:solidFill>
                  <a:srgbClr val="5B6B7F"/>
                </a:solidFill>
                <a:latin typeface="Calibri" pitchFamily="34" charset="0"/>
                <a:ea typeface="Calibri" pitchFamily="34" charset="-122"/>
                <a:cs typeface="Calibri" pitchFamily="34" charset="-120"/>
              </a:rPr>
              <a:t>frames with the right answer: it learns from these</a:t>
            </a:r>
            <a:endParaRPr lang="en-US" sz="1900" dirty="0"/>
          </a:p>
        </p:txBody>
      </p:sp>
      <p:sp>
        <p:nvSpPr>
          <p:cNvPr id="8" name="Shape 6"/>
          <p:cNvSpPr/>
          <p:nvPr/>
        </p:nvSpPr>
        <p:spPr>
          <a:xfrm>
            <a:off x="4343400" y="1463040"/>
            <a:ext cx="3520440" cy="2651760"/>
          </a:xfrm>
          <a:prstGeom prst="roundRect">
            <a:avLst>
              <a:gd name="adj" fmla="val 4138"/>
            </a:avLst>
          </a:prstGeom>
          <a:solidFill>
            <a:srgbClr val="EEF2F6"/>
          </a:solidFill>
          <a:ln w="12700">
            <a:solidFill>
              <a:srgbClr val="EEF2F6"/>
            </a:solidFill>
            <a:prstDash val="solid"/>
          </a:ln>
        </p:spPr>
      </p:sp>
      <p:sp>
        <p:nvSpPr>
          <p:cNvPr id="9" name="Text 7"/>
          <p:cNvSpPr txBox="1"/>
          <p:nvPr/>
        </p:nvSpPr>
        <p:spPr>
          <a:xfrm>
            <a:off x="4617720" y="1600200"/>
            <a:ext cx="3108960" cy="411480"/>
          </a:xfrm>
          <a:prstGeom prst="rect">
            <a:avLst/>
          </a:prstGeom>
          <a:noFill/>
          <a:ln/>
        </p:spPr>
        <p:txBody>
          <a:bodyPr wrap="square" lIns="0" tIns="0" rIns="0" bIns="0" rtlCol="0" anchor="t"/>
          <a:lstStyle/>
          <a:p>
            <a:pPr indent="0" marL="0">
              <a:buNone/>
            </a:pPr>
            <a:r>
              <a:rPr lang="en-US" sz="1800" b="1" dirty="0">
                <a:solidFill>
                  <a:srgbClr val="8FA0B5"/>
                </a:solidFill>
                <a:latin typeface="Calibri" pitchFamily="34" charset="0"/>
                <a:ea typeface="Calibri" pitchFamily="34" charset="-122"/>
                <a:cs typeface="Calibri" pitchFamily="34" charset="-120"/>
              </a:rPr>
              <a:t>15%: validation</a:t>
            </a:r>
            <a:endParaRPr lang="en-US" sz="1800" dirty="0"/>
          </a:p>
        </p:txBody>
      </p:sp>
      <p:sp>
        <p:nvSpPr>
          <p:cNvPr id="10" name="Text 8"/>
          <p:cNvSpPr txBox="1"/>
          <p:nvPr/>
        </p:nvSpPr>
        <p:spPr>
          <a:xfrm>
            <a:off x="4617720" y="1920240"/>
            <a:ext cx="3017520" cy="914400"/>
          </a:xfrm>
          <a:prstGeom prst="rect">
            <a:avLst/>
          </a:prstGeom>
          <a:noFill/>
          <a:ln/>
        </p:spPr>
        <p:txBody>
          <a:bodyPr wrap="square" lIns="0" tIns="0" rIns="0" bIns="0" rtlCol="0" anchor="b"/>
          <a:lstStyle/>
          <a:p>
            <a:pPr algn="l" indent="0" marL="0">
              <a:buNone/>
            </a:pPr>
            <a:r>
              <a:rPr lang="en-US" sz="5000" b="1" dirty="0">
                <a:solidFill>
                  <a:srgbClr val="1E293B"/>
                </a:solidFill>
                <a:latin typeface="Calibri" pitchFamily="34" charset="0"/>
                <a:ea typeface="Calibri" pitchFamily="34" charset="-122"/>
                <a:cs typeface="Calibri" pitchFamily="34" charset="-120"/>
              </a:rPr>
              <a:t>33,000</a:t>
            </a:r>
            <a:endParaRPr lang="en-US" sz="5000" dirty="0"/>
          </a:p>
        </p:txBody>
      </p:sp>
      <p:sp>
        <p:nvSpPr>
          <p:cNvPr id="11" name="Text 9"/>
          <p:cNvSpPr txBox="1"/>
          <p:nvPr/>
        </p:nvSpPr>
        <p:spPr>
          <a:xfrm>
            <a:off x="4617720" y="2880360"/>
            <a:ext cx="3017520" cy="731520"/>
          </a:xfrm>
          <a:prstGeom prst="rect">
            <a:avLst/>
          </a:prstGeom>
          <a:noFill/>
          <a:ln/>
        </p:spPr>
        <p:txBody>
          <a:bodyPr wrap="square" lIns="0" tIns="0" rIns="0" bIns="0" rtlCol="0" anchor="t"/>
          <a:lstStyle/>
          <a:p>
            <a:pPr algn="l" indent="0" marL="0">
              <a:buNone/>
            </a:pPr>
            <a:r>
              <a:rPr lang="en-US" sz="1900" dirty="0">
                <a:solidFill>
                  <a:srgbClr val="5B6B7F"/>
                </a:solidFill>
                <a:latin typeface="Calibri" pitchFamily="34" charset="0"/>
                <a:ea typeface="Calibri" pitchFamily="34" charset="-122"/>
                <a:cs typeface="Calibri" pitchFamily="34" charset="-120"/>
              </a:rPr>
              <a:t>frames to decide when to stop learning</a:t>
            </a:r>
            <a:endParaRPr lang="en-US" sz="1900" dirty="0"/>
          </a:p>
        </p:txBody>
      </p:sp>
      <p:sp>
        <p:nvSpPr>
          <p:cNvPr id="12" name="Shape 10"/>
          <p:cNvSpPr/>
          <p:nvPr/>
        </p:nvSpPr>
        <p:spPr>
          <a:xfrm>
            <a:off x="8138160" y="1463040"/>
            <a:ext cx="3520440" cy="2651760"/>
          </a:xfrm>
          <a:prstGeom prst="roundRect">
            <a:avLst>
              <a:gd name="adj" fmla="val 4138"/>
            </a:avLst>
          </a:prstGeom>
          <a:solidFill>
            <a:srgbClr val="EEF2F6"/>
          </a:solidFill>
          <a:ln w="12700">
            <a:solidFill>
              <a:srgbClr val="EEF2F6"/>
            </a:solidFill>
            <a:prstDash val="solid"/>
          </a:ln>
        </p:spPr>
      </p:sp>
      <p:sp>
        <p:nvSpPr>
          <p:cNvPr id="13" name="Text 11"/>
          <p:cNvSpPr txBox="1"/>
          <p:nvPr/>
        </p:nvSpPr>
        <p:spPr>
          <a:xfrm>
            <a:off x="8412480" y="1600200"/>
            <a:ext cx="3108960" cy="411480"/>
          </a:xfrm>
          <a:prstGeom prst="rect">
            <a:avLst/>
          </a:prstGeom>
          <a:noFill/>
          <a:ln/>
        </p:spPr>
        <p:txBody>
          <a:bodyPr wrap="square" lIns="0" tIns="0" rIns="0" bIns="0" rtlCol="0" anchor="t"/>
          <a:lstStyle/>
          <a:p>
            <a:pPr indent="0" marL="0">
              <a:buNone/>
            </a:pPr>
            <a:r>
              <a:rPr lang="en-US" sz="1800" b="1" dirty="0">
                <a:solidFill>
                  <a:srgbClr val="F08A24"/>
                </a:solidFill>
                <a:latin typeface="Calibri" pitchFamily="34" charset="0"/>
                <a:ea typeface="Calibri" pitchFamily="34" charset="-122"/>
                <a:cs typeface="Calibri" pitchFamily="34" charset="-120"/>
              </a:rPr>
              <a:t>15%: testing the classifier</a:t>
            </a:r>
            <a:endParaRPr lang="en-US" sz="1800" dirty="0"/>
          </a:p>
        </p:txBody>
      </p:sp>
      <p:sp>
        <p:nvSpPr>
          <p:cNvPr id="14" name="Text 12"/>
          <p:cNvSpPr txBox="1"/>
          <p:nvPr/>
        </p:nvSpPr>
        <p:spPr>
          <a:xfrm>
            <a:off x="8412480" y="1920240"/>
            <a:ext cx="3017520" cy="914400"/>
          </a:xfrm>
          <a:prstGeom prst="rect">
            <a:avLst/>
          </a:prstGeom>
          <a:noFill/>
          <a:ln/>
        </p:spPr>
        <p:txBody>
          <a:bodyPr wrap="square" lIns="0" tIns="0" rIns="0" bIns="0" rtlCol="0" anchor="b"/>
          <a:lstStyle/>
          <a:p>
            <a:pPr algn="l" indent="0" marL="0">
              <a:buNone/>
            </a:pPr>
            <a:r>
              <a:rPr lang="en-US" sz="5000" b="1" dirty="0">
                <a:solidFill>
                  <a:srgbClr val="1E293B"/>
                </a:solidFill>
                <a:latin typeface="Calibri" pitchFamily="34" charset="0"/>
                <a:ea typeface="Calibri" pitchFamily="34" charset="-122"/>
                <a:cs typeface="Calibri" pitchFamily="34" charset="-120"/>
              </a:rPr>
              <a:t>33,000</a:t>
            </a:r>
            <a:endParaRPr lang="en-US" sz="5000" dirty="0"/>
          </a:p>
        </p:txBody>
      </p:sp>
      <p:sp>
        <p:nvSpPr>
          <p:cNvPr id="15" name="Text 13"/>
          <p:cNvSpPr txBox="1"/>
          <p:nvPr/>
        </p:nvSpPr>
        <p:spPr>
          <a:xfrm>
            <a:off x="8412480" y="2880360"/>
            <a:ext cx="3017520" cy="731520"/>
          </a:xfrm>
          <a:prstGeom prst="rect">
            <a:avLst/>
          </a:prstGeom>
          <a:noFill/>
          <a:ln/>
        </p:spPr>
        <p:txBody>
          <a:bodyPr wrap="square" lIns="0" tIns="0" rIns="0" bIns="0" rtlCol="0" anchor="t"/>
          <a:lstStyle/>
          <a:p>
            <a:pPr algn="l" indent="0" marL="0">
              <a:buNone/>
            </a:pPr>
            <a:r>
              <a:rPr lang="en-US" sz="1900" dirty="0">
                <a:solidFill>
                  <a:srgbClr val="5B6B7F"/>
                </a:solidFill>
                <a:latin typeface="Calibri" pitchFamily="34" charset="0"/>
                <a:ea typeface="Calibri" pitchFamily="34" charset="-122"/>
                <a:cs typeface="Calibri" pitchFamily="34" charset="-120"/>
              </a:rPr>
              <a:t>frames kept aside: every result is counted on these</a:t>
            </a:r>
            <a:endParaRPr lang="en-US" sz="1900" dirty="0"/>
          </a:p>
        </p:txBody>
      </p:sp>
      <p:sp>
        <p:nvSpPr>
          <p:cNvPr id="16" name="Text 14"/>
          <p:cNvSpPr txBox="1"/>
          <p:nvPr/>
        </p:nvSpPr>
        <p:spPr>
          <a:xfrm>
            <a:off x="548640" y="4389120"/>
            <a:ext cx="11091672" cy="548640"/>
          </a:xfrm>
          <a:prstGeom prst="rect">
            <a:avLst/>
          </a:prstGeom>
          <a:noFill/>
          <a:ln/>
        </p:spPr>
        <p:txBody>
          <a:bodyPr wrap="square" lIns="0" tIns="0" rIns="0" bIns="0" rtlCol="0" anchor="t"/>
          <a:lstStyle/>
          <a:p>
            <a:pPr indent="0" marL="0">
              <a:buNone/>
            </a:pPr>
            <a:r>
              <a:rPr lang="en-US" sz="2100" dirty="0">
                <a:solidFill>
                  <a:srgbClr val="1E293B"/>
                </a:solidFill>
                <a:latin typeface="Calibri" pitchFamily="34" charset="0"/>
                <a:ea typeface="Calibri" pitchFamily="34" charset="-122"/>
                <a:cs typeface="Calibri" pitchFamily="34" charset="-120"/>
              </a:rPr>
              <a:t>It stopped by itself after 58 passes over the data, when it stopped improving. Done once.</a:t>
            </a:r>
            <a:endParaRPr lang="en-US" sz="2100" dirty="0"/>
          </a:p>
        </p:txBody>
      </p:sp>
      <p:sp>
        <p:nvSpPr>
          <p:cNvPr id="17" name="Text 15"/>
          <p:cNvSpPr txBox="1"/>
          <p:nvPr/>
        </p:nvSpPr>
        <p:spPr>
          <a:xfrm>
            <a:off x="548640" y="525780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The test frames are never used for learning.</a:t>
            </a:r>
            <a:endParaRPr lang="en-US" sz="2400" dirty="0"/>
          </a:p>
        </p:txBody>
      </p:sp>
      <p:sp>
        <p:nvSpPr>
          <p:cNvPr id="19" name="Text 16"/>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THE PAPER  ·  TABLE 3</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Their main table: first by half a point</a:t>
            </a:r>
            <a:endParaRPr lang="en-US" sz="3400" dirty="0"/>
          </a:p>
        </p:txBody>
      </p:sp>
      <p:graphicFrame>
        <p:nvGraphicFramePr>
          <p:cNvPr id="4" name="Chart 0" descr=""/>
          <p:cNvGraphicFramePr/>
          <p:nvPr/>
        </p:nvGraphicFramePr>
        <p:xfrm>
          <a:off x="548640" y="1325880"/>
          <a:ext cx="11091672" cy="4343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76072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63.24 vs 62.73: the runner-up is half a point behind.</a:t>
            </a:r>
            <a:endParaRPr lang="en-US" sz="2400" dirty="0"/>
          </a:p>
        </p:txBody>
      </p:sp>
      <p:sp>
        <p:nvSpPr>
          <p:cNvPr id="7" name="Text 3"/>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THE PAPER  ·  FIG. 11</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Where it still fails, at 0 dB</a:t>
            </a:r>
            <a:endParaRPr lang="en-US" sz="3400" dirty="0"/>
          </a:p>
        </p:txBody>
      </p:sp>
      <p:pic>
        <p:nvPicPr>
          <p:cNvPr id="4" name="Image 0" descr="paper/fig11_icrnna_0db.jpg">    </p:cNvPr>
          <p:cNvPicPr>
            <a:picLocks noChangeAspect="1"/>
          </p:cNvPicPr>
          <p:nvPr/>
        </p:nvPicPr>
        <p:blipFill>
          <a:blip r:embed="rId1"/>
          <a:stretch>
            <a:fillRect/>
          </a:stretch>
        </p:blipFill>
        <p:spPr>
          <a:xfrm>
            <a:off x="548640" y="1325880"/>
            <a:ext cx="4480560" cy="3823411"/>
          </a:xfrm>
          <a:prstGeom prst="rect">
            <a:avLst/>
          </a:prstGeom>
        </p:spPr>
      </p:pic>
      <p:sp>
        <p:nvSpPr>
          <p:cNvPr id="5" name="Text 2"/>
          <p:cNvSpPr txBox="1"/>
          <p:nvPr/>
        </p:nvSpPr>
        <p:spPr>
          <a:xfrm>
            <a:off x="548640" y="5212080"/>
            <a:ext cx="6400800" cy="274320"/>
          </a:xfrm>
          <a:prstGeom prst="rect">
            <a:avLst/>
          </a:prstGeom>
          <a:noFill/>
          <a:ln/>
        </p:spPr>
        <p:txBody>
          <a:bodyPr wrap="square" lIns="0" tIns="0" rIns="0" bIns="0" rtlCol="0" anchor="t"/>
          <a:lstStyle/>
          <a:p>
            <a:pPr indent="0" marL="0">
              <a:buNone/>
            </a:pPr>
            <a:r>
              <a:rPr lang="en-US" sz="1200" i="1" dirty="0">
                <a:solidFill>
                  <a:srgbClr val="5B6B7F"/>
                </a:solidFill>
                <a:latin typeface="Calibri" pitchFamily="34" charset="0"/>
                <a:ea typeface="Calibri" pitchFamily="34" charset="-122"/>
                <a:cs typeface="Calibri" pitchFamily="34" charset="-120"/>
              </a:rPr>
              <a:t>Figure from El-Haryqy et al. 2025 (CC BY-NC 4.0)</a:t>
            </a:r>
            <a:endParaRPr lang="en-US" sz="1200" dirty="0"/>
          </a:p>
        </p:txBody>
      </p:sp>
      <p:sp>
        <p:nvSpPr>
          <p:cNvPr id="6" name="Text 3"/>
          <p:cNvSpPr txBox="1"/>
          <p:nvPr/>
        </p:nvSpPr>
        <p:spPr>
          <a:xfrm>
            <a:off x="5577840" y="1325880"/>
            <a:ext cx="6062472" cy="822960"/>
          </a:xfrm>
          <a:prstGeom prst="rect">
            <a:avLst/>
          </a:prstGeom>
          <a:noFill/>
          <a:ln/>
        </p:spPr>
        <p:txBody>
          <a:bodyPr wrap="square" lIns="0" tIns="0" rIns="0" bIns="0" rtlCol="0" anchor="t"/>
          <a:lstStyle/>
          <a:p>
            <a:pPr indent="0" marL="0">
              <a:buNone/>
            </a:pPr>
            <a:r>
              <a:rPr lang="en-US" sz="1600" dirty="0">
                <a:solidFill>
                  <a:srgbClr val="5B6B7F"/>
                </a:solidFill>
                <a:latin typeface="Calibri" pitchFamily="34" charset="0"/>
                <a:ea typeface="Calibri" pitchFamily="34" charset="-122"/>
                <a:cs typeface="Calibri" pitchFamily="34" charset="-120"/>
              </a:rPr>
              <a:t>Test frames labelled 0 dB, about 150 per type (≈1,650). Row: the true type. Column: the classifier's answer. Each row adds up to 100%.</a:t>
            </a:r>
            <a:endParaRPr lang="en-US" sz="1600" dirty="0"/>
          </a:p>
        </p:txBody>
      </p:sp>
      <p:sp>
        <p:nvSpPr>
          <p:cNvPr id="7" name="Text 4"/>
          <p:cNvSpPr txBox="1"/>
          <p:nvPr/>
        </p:nvSpPr>
        <p:spPr>
          <a:xfrm>
            <a:off x="5577840" y="2286000"/>
            <a:ext cx="2240280" cy="777240"/>
          </a:xfrm>
          <a:prstGeom prst="rect">
            <a:avLst/>
          </a:prstGeom>
          <a:noFill/>
          <a:ln/>
        </p:spPr>
        <p:txBody>
          <a:bodyPr wrap="square" lIns="0" tIns="0" rIns="0" bIns="0" rtlCol="0" anchor="ctr"/>
          <a:lstStyle/>
          <a:p>
            <a:pPr indent="0" marL="0">
              <a:buNone/>
            </a:pPr>
            <a:r>
              <a:rPr lang="en-US" sz="3600" b="1" dirty="0">
                <a:solidFill>
                  <a:srgbClr val="F08A24"/>
                </a:solidFill>
                <a:latin typeface="Calibri" pitchFamily="34" charset="0"/>
                <a:ea typeface="Calibri" pitchFamily="34" charset="-122"/>
                <a:cs typeface="Calibri" pitchFamily="34" charset="-120"/>
              </a:rPr>
              <a:t>57.9%</a:t>
            </a:r>
            <a:endParaRPr lang="en-US" sz="3600" dirty="0"/>
          </a:p>
        </p:txBody>
      </p:sp>
      <p:sp>
        <p:nvSpPr>
          <p:cNvPr id="8" name="Text 5"/>
          <p:cNvSpPr txBox="1"/>
          <p:nvPr/>
        </p:nvSpPr>
        <p:spPr>
          <a:xfrm>
            <a:off x="7909560" y="2286000"/>
            <a:ext cx="3730752" cy="777240"/>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of WBFM called AM-DSB: about 85 of ~145 frames</a:t>
            </a:r>
            <a:endParaRPr lang="en-US" sz="1700" dirty="0"/>
          </a:p>
        </p:txBody>
      </p:sp>
      <p:sp>
        <p:nvSpPr>
          <p:cNvPr id="9" name="Text 6"/>
          <p:cNvSpPr txBox="1"/>
          <p:nvPr/>
        </p:nvSpPr>
        <p:spPr>
          <a:xfrm>
            <a:off x="5577840" y="3273552"/>
            <a:ext cx="2240280" cy="777240"/>
          </a:xfrm>
          <a:prstGeom prst="rect">
            <a:avLst/>
          </a:prstGeom>
          <a:noFill/>
          <a:ln/>
        </p:spPr>
        <p:txBody>
          <a:bodyPr wrap="square" lIns="0" tIns="0" rIns="0" bIns="0" rtlCol="0" anchor="ctr"/>
          <a:lstStyle/>
          <a:p>
            <a:pPr indent="0" marL="0">
              <a:buNone/>
            </a:pPr>
            <a:r>
              <a:rPr lang="en-US" sz="3600" b="1" dirty="0">
                <a:solidFill>
                  <a:srgbClr val="1E293B"/>
                </a:solidFill>
                <a:latin typeface="Calibri" pitchFamily="34" charset="0"/>
                <a:ea typeface="Calibri" pitchFamily="34" charset="-122"/>
                <a:cs typeface="Calibri" pitchFamily="34" charset="-120"/>
              </a:rPr>
              <a:t>~6%</a:t>
            </a:r>
            <a:endParaRPr lang="en-US" sz="3600" dirty="0"/>
          </a:p>
        </p:txBody>
      </p:sp>
      <p:sp>
        <p:nvSpPr>
          <p:cNvPr id="10" name="Text 7"/>
          <p:cNvSpPr txBox="1"/>
          <p:nvPr/>
        </p:nvSpPr>
        <p:spPr>
          <a:xfrm>
            <a:off x="7909560" y="3273552"/>
            <a:ext cx="3730752" cy="777240"/>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QAM16 ↔ QAM64, each way: about 9 to 10 frames</a:t>
            </a:r>
            <a:endParaRPr lang="en-US" sz="1700" dirty="0"/>
          </a:p>
        </p:txBody>
      </p:sp>
      <p:sp>
        <p:nvSpPr>
          <p:cNvPr id="11" name="Text 8"/>
          <p:cNvSpPr txBox="1"/>
          <p:nvPr/>
        </p:nvSpPr>
        <p:spPr>
          <a:xfrm>
            <a:off x="5577840" y="4261104"/>
            <a:ext cx="2240280" cy="777240"/>
          </a:xfrm>
          <a:prstGeom prst="rect">
            <a:avLst/>
          </a:prstGeom>
          <a:noFill/>
          <a:ln/>
        </p:spPr>
        <p:txBody>
          <a:bodyPr wrap="square" lIns="0" tIns="0" rIns="0" bIns="0" rtlCol="0" anchor="ctr"/>
          <a:lstStyle/>
          <a:p>
            <a:pPr indent="0" marL="0">
              <a:buNone/>
            </a:pPr>
            <a:r>
              <a:rPr lang="en-US" sz="3600" b="1" dirty="0">
                <a:solidFill>
                  <a:srgbClr val="1E293B"/>
                </a:solidFill>
                <a:latin typeface="Calibri" pitchFamily="34" charset="0"/>
                <a:ea typeface="Calibri" pitchFamily="34" charset="-122"/>
                <a:cs typeface="Calibri" pitchFamily="34" charset="-120"/>
              </a:rPr>
              <a:t>91.9%</a:t>
            </a:r>
            <a:endParaRPr lang="en-US" sz="3600" dirty="0"/>
          </a:p>
        </p:txBody>
      </p:sp>
      <p:sp>
        <p:nvSpPr>
          <p:cNvPr id="12" name="Text 9"/>
          <p:cNvSpPr txBox="1"/>
          <p:nvPr/>
        </p:nvSpPr>
        <p:spPr>
          <a:xfrm>
            <a:off x="7909560" y="4261104"/>
            <a:ext cx="3730752" cy="777240"/>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of 8PSK right: 148 of 161 frames. The rest: 7 → QPSK, 3 → QAM16, 2 → AM-SSB, 1 → QAM64</a:t>
            </a:r>
            <a:endParaRPr lang="en-US" sz="1700" dirty="0"/>
          </a:p>
        </p:txBody>
      </p:sp>
      <p:sp>
        <p:nvSpPr>
          <p:cNvPr id="13" name="Text 10"/>
          <p:cNvSpPr txBox="1"/>
          <p:nvPr/>
        </p:nvSpPr>
        <p:spPr>
          <a:xfrm>
            <a:off x="548640" y="566928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The other seven types are 96 to 100% right at this level.</a:t>
            </a:r>
            <a:endParaRPr lang="en-US" sz="2400" dirty="0"/>
          </a:p>
        </p:txBody>
      </p:sp>
      <p:sp>
        <p:nvSpPr>
          <p:cNvPr id="15" name="Text 11"/>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OUR CHECK</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How much better is it, really?</a:t>
            </a:r>
            <a:endParaRPr lang="en-US" sz="3400" dirty="0"/>
          </a:p>
        </p:txBody>
      </p:sp>
      <p:sp>
        <p:nvSpPr>
          <p:cNvPr id="4" name="Text 2"/>
          <p:cNvSpPr txBox="1"/>
          <p:nvPr/>
        </p:nvSpPr>
        <p:spPr>
          <a:xfrm>
            <a:off x="548640" y="1234440"/>
            <a:ext cx="11091672" cy="457200"/>
          </a:xfrm>
          <a:prstGeom prst="rect">
            <a:avLst/>
          </a:prstGeom>
          <a:noFill/>
          <a:ln/>
        </p:spPr>
        <p:txBody>
          <a:bodyPr wrap="square" lIns="0" tIns="0" rIns="0" bIns="0" rtlCol="0" anchor="t"/>
          <a:lstStyle/>
          <a:p>
            <a:pPr indent="0" marL="0">
              <a:buNone/>
            </a:pPr>
            <a:r>
              <a:rPr lang="en-US" sz="2000" dirty="0">
                <a:solidFill>
                  <a:srgbClr val="5B6B7F"/>
                </a:solidFill>
                <a:latin typeface="Calibri" pitchFamily="34" charset="0"/>
                <a:ea typeface="Calibri" pitchFamily="34" charset="-122"/>
                <a:cs typeface="Calibri" pitchFamily="34" charset="-120"/>
              </a:rPr>
              <a:t>We trained five published models the same way: same data, same split, 3 repeats each.</a:t>
            </a:r>
            <a:endParaRPr lang="en-US" sz="2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1672" cy="914400"/>
        </p:xfrm>
        <a:graphic>
          <a:graphicData uri="http://schemas.openxmlformats.org/drawingml/2006/table">
            <a:tbl>
              <a:tblPr/>
              <a:tblGrid>
                <a:gridCol w="4206240"/>
                <a:gridCol w="3429000"/>
                <a:gridCol w="3456432"/>
              </a:tblGrid>
              <a:tr h="566928">
                <a:tc>
                  <a:txBody>
                    <a:bodyPr/>
                    <a:lstStyle/>
                    <a:p>
                      <a:pPr algn="l" indent="0" marL="0">
                        <a:buNone/>
                      </a:pPr>
                      <a:r>
                        <a:rPr lang="en-US" sz="1800" b="1" dirty="0">
                          <a:solidFill>
                            <a:srgbClr val="1E293B"/>
                          </a:solidFill>
                          <a:latin typeface="Calibri" pitchFamily="34" charset="0"/>
                          <a:ea typeface="Calibri" pitchFamily="34" charset="-122"/>
                          <a:cs typeface="Calibri" pitchFamily="34" charset="-120"/>
                        </a:rPr>
                        <a:t>model</a:t>
                      </a:r>
                      <a:endParaRPr lang="en-US" sz="18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EEF2F6"/>
                    </a:solidFill>
                  </a:tcPr>
                </a:tc>
                <a:tc>
                  <a:txBody>
                    <a:bodyPr/>
                    <a:lstStyle/>
                    <a:p>
                      <a:pPr algn="ctr" indent="0" marL="0">
                        <a:buNone/>
                      </a:pPr>
                      <a:r>
                        <a:rPr lang="en-US" sz="1800" b="1" dirty="0">
                          <a:solidFill>
                            <a:srgbClr val="1E293B"/>
                          </a:solidFill>
                          <a:latin typeface="Calibri" pitchFamily="34" charset="0"/>
                          <a:ea typeface="Calibri" pitchFamily="34" charset="-122"/>
                          <a:cs typeface="Calibri" pitchFamily="34" charset="-120"/>
                        </a:rPr>
                        <a:t>right, all noise levels</a:t>
                      </a:r>
                      <a:endParaRPr lang="en-US" sz="18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EEF2F6"/>
                    </a:solidFill>
                  </a:tcPr>
                </a:tc>
                <a:tc>
                  <a:txBody>
                    <a:bodyPr/>
                    <a:lstStyle/>
                    <a:p>
                      <a:pPr algn="ctr" indent="0" marL="0">
                        <a:buNone/>
                      </a:pPr>
                      <a:r>
                        <a:rPr lang="en-US" sz="1800" b="1" dirty="0">
                          <a:solidFill>
                            <a:srgbClr val="1E293B"/>
                          </a:solidFill>
                          <a:latin typeface="Calibri" pitchFamily="34" charset="0"/>
                          <a:ea typeface="Calibri" pitchFamily="34" charset="-122"/>
                          <a:cs typeface="Calibri" pitchFamily="34" charset="-120"/>
                        </a:rPr>
                        <a:t>right, 10 dB and above</a:t>
                      </a:r>
                      <a:endParaRPr lang="en-US" sz="18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EEF2F6"/>
                    </a:solidFill>
                  </a:tcPr>
                </a:tc>
              </a:tr>
              <a:tr h="566928">
                <a:tc>
                  <a:txBody>
                    <a:bodyPr/>
                    <a:lstStyle/>
                    <a:p>
                      <a:pPr algn="l" indent="0" marL="0">
                        <a:buNone/>
                      </a:pPr>
                      <a:r>
                        <a:rPr lang="en-US" sz="2200" b="1" dirty="0">
                          <a:solidFill>
                            <a:srgbClr val="F08A24"/>
                          </a:solidFill>
                          <a:latin typeface="Calibri" pitchFamily="34" charset="0"/>
                          <a:ea typeface="Calibri" pitchFamily="34" charset="-122"/>
                          <a:cs typeface="Calibri" pitchFamily="34" charset="-120"/>
                        </a:rPr>
                        <a:t>ICRNNA (2025)</a:t>
                      </a:r>
                      <a:endParaRPr lang="en-US" sz="2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2200" b="1" dirty="0">
                          <a:solidFill>
                            <a:srgbClr val="F08A24"/>
                          </a:solidFill>
                          <a:latin typeface="Calibri" pitchFamily="34" charset="0"/>
                          <a:ea typeface="Calibri" pitchFamily="34" charset="-122"/>
                          <a:cs typeface="Calibri" pitchFamily="34" charset="-120"/>
                        </a:rPr>
                        <a:t>62.2%</a:t>
                      </a:r>
                      <a:endParaRPr lang="en-US" sz="2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2200" b="1" dirty="0">
                          <a:solidFill>
                            <a:srgbClr val="F08A24"/>
                          </a:solidFill>
                          <a:latin typeface="Calibri" pitchFamily="34" charset="0"/>
                          <a:ea typeface="Calibri" pitchFamily="34" charset="-122"/>
                          <a:cs typeface="Calibri" pitchFamily="34" charset="-120"/>
                        </a:rPr>
                        <a:t>91.5%</a:t>
                      </a:r>
                      <a:endParaRPr lang="en-US" sz="2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566928">
                <a:tc>
                  <a:txBody>
                    <a:bodyPr/>
                    <a:lstStyle/>
                    <a:p>
                      <a:pPr algn="l" indent="0" marL="0">
                        <a:buNone/>
                      </a:pPr>
                      <a:r>
                        <a:rPr lang="en-US" sz="2200" dirty="0">
                          <a:solidFill>
                            <a:srgbClr val="1E293B"/>
                          </a:solidFill>
                          <a:latin typeface="Calibri" pitchFamily="34" charset="0"/>
                          <a:ea typeface="Calibri" pitchFamily="34" charset="-122"/>
                          <a:cs typeface="Calibri" pitchFamily="34" charset="-120"/>
                        </a:rPr>
                        <a:t>LSTM2 (2018)</a:t>
                      </a:r>
                      <a:endParaRPr lang="en-US" sz="2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2200" dirty="0">
                          <a:solidFill>
                            <a:srgbClr val="1E293B"/>
                          </a:solidFill>
                          <a:latin typeface="Calibri" pitchFamily="34" charset="0"/>
                          <a:ea typeface="Calibri" pitchFamily="34" charset="-122"/>
                          <a:cs typeface="Calibri" pitchFamily="34" charset="-120"/>
                        </a:rPr>
                        <a:t>61.4%</a:t>
                      </a:r>
                      <a:endParaRPr lang="en-US" sz="2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2200" dirty="0">
                          <a:solidFill>
                            <a:srgbClr val="1E293B"/>
                          </a:solidFill>
                          <a:latin typeface="Calibri" pitchFamily="34" charset="0"/>
                          <a:ea typeface="Calibri" pitchFamily="34" charset="-122"/>
                          <a:cs typeface="Calibri" pitchFamily="34" charset="-120"/>
                        </a:rPr>
                        <a:t>91.5%</a:t>
                      </a:r>
                      <a:endParaRPr lang="en-US" sz="2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566928">
                <a:tc>
                  <a:txBody>
                    <a:bodyPr/>
                    <a:lstStyle/>
                    <a:p>
                      <a:pPr algn="l" indent="0" marL="0">
                        <a:buNone/>
                      </a:pPr>
                      <a:r>
                        <a:rPr lang="en-US" sz="2200" dirty="0">
                          <a:solidFill>
                            <a:srgbClr val="1E293B"/>
                          </a:solidFill>
                          <a:latin typeface="Calibri" pitchFamily="34" charset="0"/>
                          <a:ea typeface="Calibri" pitchFamily="34" charset="-122"/>
                          <a:cs typeface="Calibri" pitchFamily="34" charset="-120"/>
                        </a:rPr>
                        <a:t>MCLDNN (2020)</a:t>
                      </a:r>
                      <a:endParaRPr lang="en-US" sz="2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2200" dirty="0">
                          <a:solidFill>
                            <a:srgbClr val="1E293B"/>
                          </a:solidFill>
                          <a:latin typeface="Calibri" pitchFamily="34" charset="0"/>
                          <a:ea typeface="Calibri" pitchFamily="34" charset="-122"/>
                          <a:cs typeface="Calibri" pitchFamily="34" charset="-120"/>
                        </a:rPr>
                        <a:t>61.4%</a:t>
                      </a:r>
                      <a:endParaRPr lang="en-US" sz="2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2200" dirty="0">
                          <a:solidFill>
                            <a:srgbClr val="1E293B"/>
                          </a:solidFill>
                          <a:latin typeface="Calibri" pitchFamily="34" charset="0"/>
                          <a:ea typeface="Calibri" pitchFamily="34" charset="-122"/>
                          <a:cs typeface="Calibri" pitchFamily="34" charset="-120"/>
                        </a:rPr>
                        <a:t>91.1%</a:t>
                      </a:r>
                      <a:endParaRPr lang="en-US" sz="2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566928">
                <a:tc>
                  <a:txBody>
                    <a:bodyPr/>
                    <a:lstStyle/>
                    <a:p>
                      <a:pPr algn="l" indent="0" marL="0">
                        <a:buNone/>
                      </a:pPr>
                      <a:r>
                        <a:rPr lang="en-US" sz="2200" dirty="0">
                          <a:solidFill>
                            <a:srgbClr val="1E293B"/>
                          </a:solidFill>
                          <a:latin typeface="Calibri" pitchFamily="34" charset="0"/>
                          <a:ea typeface="Calibri" pitchFamily="34" charset="-122"/>
                          <a:cs typeface="Calibri" pitchFamily="34" charset="-120"/>
                        </a:rPr>
                        <a:t>PET-CGDNN (2021)</a:t>
                      </a:r>
                      <a:endParaRPr lang="en-US" sz="2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2200" dirty="0">
                          <a:solidFill>
                            <a:srgbClr val="1E293B"/>
                          </a:solidFill>
                          <a:latin typeface="Calibri" pitchFamily="34" charset="0"/>
                          <a:ea typeface="Calibri" pitchFamily="34" charset="-122"/>
                          <a:cs typeface="Calibri" pitchFamily="34" charset="-120"/>
                        </a:rPr>
                        <a:t>61.0%</a:t>
                      </a:r>
                      <a:endParaRPr lang="en-US" sz="2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2200" dirty="0">
                          <a:solidFill>
                            <a:srgbClr val="1E293B"/>
                          </a:solidFill>
                          <a:latin typeface="Calibri" pitchFamily="34" charset="0"/>
                          <a:ea typeface="Calibri" pitchFamily="34" charset="-122"/>
                          <a:cs typeface="Calibri" pitchFamily="34" charset="-120"/>
                        </a:rPr>
                        <a:t>90.6%</a:t>
                      </a:r>
                      <a:endParaRPr lang="en-US" sz="2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566928">
                <a:tc>
                  <a:txBody>
                    <a:bodyPr/>
                    <a:lstStyle/>
                    <a:p>
                      <a:pPr algn="l" indent="0" marL="0">
                        <a:buNone/>
                      </a:pPr>
                      <a:r>
                        <a:rPr lang="en-US" sz="2200" dirty="0">
                          <a:solidFill>
                            <a:srgbClr val="1E293B"/>
                          </a:solidFill>
                          <a:latin typeface="Calibri" pitchFamily="34" charset="0"/>
                          <a:ea typeface="Calibri" pitchFamily="34" charset="-122"/>
                          <a:cs typeface="Calibri" pitchFamily="34" charset="-120"/>
                        </a:rPr>
                        <a:t>VT-CNN2 (2016)</a:t>
                      </a:r>
                      <a:endParaRPr lang="en-US" sz="2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2200" dirty="0">
                          <a:solidFill>
                            <a:srgbClr val="1E293B"/>
                          </a:solidFill>
                          <a:latin typeface="Calibri" pitchFamily="34" charset="0"/>
                          <a:ea typeface="Calibri" pitchFamily="34" charset="-122"/>
                          <a:cs typeface="Calibri" pitchFamily="34" charset="-120"/>
                        </a:rPr>
                        <a:t>56.1%</a:t>
                      </a:r>
                      <a:endParaRPr lang="en-US" sz="2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2200" dirty="0">
                          <a:solidFill>
                            <a:srgbClr val="1E293B"/>
                          </a:solidFill>
                          <a:latin typeface="Calibri" pitchFamily="34" charset="0"/>
                          <a:ea typeface="Calibri" pitchFamily="34" charset="-122"/>
                          <a:cs typeface="Calibri" pitchFamily="34" charset="-120"/>
                        </a:rPr>
                        <a:t>82.0%</a:t>
                      </a:r>
                      <a:endParaRPr lang="en-US" sz="2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bl>
          </a:graphicData>
        </a:graphic>
      </p:graphicFrame>
      <p:sp>
        <p:nvSpPr>
          <p:cNvPr id="6" name="Text 3"/>
          <p:cNvSpPr txBox="1"/>
          <p:nvPr/>
        </p:nvSpPr>
        <p:spPr>
          <a:xfrm>
            <a:off x="548640" y="548640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First, but only by about one point.</a:t>
            </a:r>
            <a:endParaRPr lang="en-US" sz="2400" dirty="0"/>
          </a:p>
        </p:txBody>
      </p:sp>
      <p:sp>
        <p:nvSpPr>
          <p:cNvPr id="8" name="Text 4"/>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82296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In short</a:t>
            </a:r>
            <a:endParaRPr lang="en-US" sz="4000" dirty="0"/>
          </a:p>
        </p:txBody>
      </p:sp>
      <p:sp>
        <p:nvSpPr>
          <p:cNvPr id="3" name="Shape 1"/>
          <p:cNvSpPr/>
          <p:nvPr/>
        </p:nvSpPr>
        <p:spPr>
          <a:xfrm>
            <a:off x="548640" y="1691640"/>
            <a:ext cx="640080" cy="640080"/>
          </a:xfrm>
          <a:prstGeom prst="ellipse">
            <a:avLst/>
          </a:prstGeom>
          <a:solidFill>
            <a:srgbClr val="F08A24"/>
          </a:solidFill>
          <a:ln w="12700">
            <a:solidFill>
              <a:srgbClr val="F08A24"/>
            </a:solidFill>
            <a:prstDash val="solid"/>
          </a:ln>
        </p:spPr>
      </p:sp>
      <p:sp>
        <p:nvSpPr>
          <p:cNvPr id="4" name="Text 2"/>
          <p:cNvSpPr txBox="1"/>
          <p:nvPr/>
        </p:nvSpPr>
        <p:spPr>
          <a:xfrm>
            <a:off x="548640" y="16916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5" name="Text 3"/>
          <p:cNvSpPr txBox="1"/>
          <p:nvPr/>
        </p:nvSpPr>
        <p:spPr>
          <a:xfrm>
            <a:off x="1463040" y="1600200"/>
            <a:ext cx="10177272" cy="822960"/>
          </a:xfrm>
          <a:prstGeom prst="rect">
            <a:avLst/>
          </a:prstGeom>
          <a:noFill/>
          <a:ln/>
        </p:spPr>
        <p:txBody>
          <a:bodyPr wrap="square" lIns="0" tIns="0" rIns="0" bIns="0" rtlCol="0" anchor="ctr"/>
          <a:lstStyle/>
          <a:p>
            <a:pPr indent="0" marL="0">
              <a:buNone/>
            </a:pPr>
            <a:r>
              <a:rPr lang="en-US" sz="2700" dirty="0">
                <a:solidFill>
                  <a:srgbClr val="FFFFFF"/>
                </a:solidFill>
                <a:latin typeface="Calibri" pitchFamily="34" charset="0"/>
                <a:ea typeface="Calibri" pitchFamily="34" charset="-122"/>
                <a:cs typeface="Calibri" pitchFamily="34" charset="-120"/>
              </a:rPr>
              <a:t>A neural network in four steps; step 2, reading in order, does most of the work.</a:t>
            </a:r>
            <a:endParaRPr lang="en-US" sz="2700" dirty="0"/>
          </a:p>
        </p:txBody>
      </p:sp>
      <p:sp>
        <p:nvSpPr>
          <p:cNvPr id="6" name="Shape 4"/>
          <p:cNvSpPr/>
          <p:nvPr/>
        </p:nvSpPr>
        <p:spPr>
          <a:xfrm>
            <a:off x="548640" y="2834640"/>
            <a:ext cx="640080" cy="640080"/>
          </a:xfrm>
          <a:prstGeom prst="ellipse">
            <a:avLst/>
          </a:prstGeom>
          <a:solidFill>
            <a:srgbClr val="F08A24"/>
          </a:solidFill>
          <a:ln w="12700">
            <a:solidFill>
              <a:srgbClr val="F08A24"/>
            </a:solidFill>
            <a:prstDash val="solid"/>
          </a:ln>
        </p:spPr>
      </p:sp>
      <p:sp>
        <p:nvSpPr>
          <p:cNvPr id="7" name="Text 5"/>
          <p:cNvSpPr txBox="1"/>
          <p:nvPr/>
        </p:nvSpPr>
        <p:spPr>
          <a:xfrm>
            <a:off x="548640" y="28346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8" name="Text 6"/>
          <p:cNvSpPr txBox="1"/>
          <p:nvPr/>
        </p:nvSpPr>
        <p:spPr>
          <a:xfrm>
            <a:off x="1463040" y="2743200"/>
            <a:ext cx="10177272" cy="822960"/>
          </a:xfrm>
          <a:prstGeom prst="rect">
            <a:avLst/>
          </a:prstGeom>
          <a:noFill/>
          <a:ln/>
        </p:spPr>
        <p:txBody>
          <a:bodyPr wrap="square" lIns="0" tIns="0" rIns="0" bIns="0" rtlCol="0" anchor="ctr"/>
          <a:lstStyle/>
          <a:p>
            <a:pPr indent="0" marL="0">
              <a:buNone/>
            </a:pPr>
            <a:r>
              <a:rPr lang="en-US" sz="2700" dirty="0">
                <a:solidFill>
                  <a:srgbClr val="FFFFFF"/>
                </a:solidFill>
                <a:latin typeface="Calibri" pitchFamily="34" charset="0"/>
                <a:ea typeface="Calibri" pitchFamily="34" charset="-122"/>
                <a:cs typeface="Calibri" pitchFamily="34" charset="-120"/>
              </a:rPr>
              <a:t>It is about one point better than older models, not a big jump.</a:t>
            </a:r>
            <a:endParaRPr lang="en-US" sz="2700" dirty="0"/>
          </a:p>
        </p:txBody>
      </p:sp>
      <p:sp>
        <p:nvSpPr>
          <p:cNvPr id="9" name="Text 7"/>
          <p:cNvSpPr txBox="1"/>
          <p:nvPr/>
        </p:nvSpPr>
        <p:spPr>
          <a:xfrm>
            <a:off x="548640" y="5257800"/>
            <a:ext cx="11091672" cy="640080"/>
          </a:xfrm>
          <a:prstGeom prst="rect">
            <a:avLst/>
          </a:prstGeom>
          <a:noFill/>
          <a:ln/>
        </p:spPr>
        <p:txBody>
          <a:bodyPr wrap="square" lIns="0" tIns="0" rIns="0" bIns="0" rtlCol="0" anchor="t"/>
          <a:lstStyle/>
          <a:p>
            <a:pPr indent="0" marL="0">
              <a:buNone/>
            </a:pPr>
            <a:r>
              <a:rPr lang="en-US" sz="2600" b="1" dirty="0">
                <a:solidFill>
                  <a:srgbClr val="F08A24"/>
                </a:solidFill>
                <a:latin typeface="Calibri" pitchFamily="34" charset="0"/>
                <a:ea typeface="Calibri" pitchFamily="34" charset="-122"/>
                <a:cs typeface="Calibri" pitchFamily="34" charset="-120"/>
              </a:rPr>
              <a:t>For us: </a:t>
            </a:r>
            <a:pPr indent="0" marL="0">
              <a:buNone/>
            </a:pPr>
            <a:r>
              <a:rPr lang="en-US" sz="2600" dirty="0">
                <a:solidFill>
                  <a:srgbClr val="C9D3E0"/>
                </a:solidFill>
                <a:latin typeface="Calibri" pitchFamily="34" charset="0"/>
                <a:ea typeface="Calibri" pitchFamily="34" charset="-122"/>
                <a:cs typeface="Calibri" pitchFamily="34" charset="-120"/>
              </a:rPr>
              <a:t>a solid classifier to build on.</a:t>
            </a:r>
            <a:endParaRPr lang="en-US" sz="2600" dirty="0"/>
          </a:p>
        </p:txBody>
      </p:sp>
      <p:sp>
        <p:nvSpPr>
          <p:cNvPr id="11" name="Text 8"/>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8FA0B5"/>
                </a:solidFill>
                <a:latin typeface="Calibri" pitchFamily="34" charset="0"/>
                <a:ea typeface="Calibri" pitchFamily="34" charset="-122"/>
                <a:cs typeface="Calibri"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548640" y="2194560"/>
            <a:ext cx="5486400" cy="457200"/>
          </a:xfrm>
          <a:prstGeom prst="rect">
            <a:avLst/>
          </a:prstGeom>
          <a:noFill/>
          <a:ln/>
        </p:spPr>
        <p:txBody>
          <a:bodyPr wrap="square" lIns="0" tIns="0" rIns="0" bIns="0" rtlCol="0" anchor="t"/>
          <a:lstStyle/>
          <a:p>
            <a:pPr indent="0" marL="0">
              <a:buNone/>
            </a:pPr>
            <a:r>
              <a:rPr lang="en-US" sz="2000" b="1" spc="400" kern="0" dirty="0">
                <a:solidFill>
                  <a:srgbClr val="F08A24"/>
                </a:solidFill>
                <a:latin typeface="Calibri" pitchFamily="34" charset="0"/>
                <a:ea typeface="Calibri" pitchFamily="34" charset="-122"/>
                <a:cs typeface="Calibri" pitchFamily="34" charset="-120"/>
              </a:rPr>
              <a:t>BACKUP</a:t>
            </a:r>
            <a:endParaRPr lang="en-US" sz="2000" dirty="0"/>
          </a:p>
        </p:txBody>
      </p:sp>
      <p:sp>
        <p:nvSpPr>
          <p:cNvPr id="3" name="Text 1"/>
          <p:cNvSpPr txBox="1"/>
          <p:nvPr/>
        </p:nvSpPr>
        <p:spPr>
          <a:xfrm>
            <a:off x="548640" y="2697480"/>
            <a:ext cx="10972800" cy="1097280"/>
          </a:xfrm>
          <a:prstGeom prst="rect">
            <a:avLst/>
          </a:prstGeom>
          <a:noFill/>
          <a:ln/>
        </p:spPr>
        <p:txBody>
          <a:bodyPr wrap="square" lIns="0" tIns="0" rIns="0" bIns="0" rtlCol="0" anchor="t"/>
          <a:lstStyle/>
          <a:p>
            <a:pPr indent="0" marL="0">
              <a:buNone/>
            </a:pPr>
            <a:r>
              <a:rPr lang="en-US" sz="6000" b="1" dirty="0">
                <a:solidFill>
                  <a:srgbClr val="FFFFFF"/>
                </a:solidFill>
                <a:latin typeface="Calibri" pitchFamily="34" charset="0"/>
                <a:ea typeface="Calibri" pitchFamily="34" charset="-122"/>
                <a:cs typeface="Calibri" pitchFamily="34" charset="-120"/>
              </a:rPr>
              <a:t>Details, if asked</a:t>
            </a:r>
            <a:endParaRPr lang="en-US" sz="6000" dirty="0"/>
          </a:p>
        </p:txBody>
      </p:sp>
      <p:sp>
        <p:nvSpPr>
          <p:cNvPr id="4" name="Text 2"/>
          <p:cNvSpPr txBox="1"/>
          <p:nvPr/>
        </p:nvSpPr>
        <p:spPr>
          <a:xfrm>
            <a:off x="548640" y="3886200"/>
            <a:ext cx="10972800" cy="822960"/>
          </a:xfrm>
          <a:prstGeom prst="rect">
            <a:avLst/>
          </a:prstGeom>
          <a:noFill/>
          <a:ln/>
        </p:spPr>
        <p:txBody>
          <a:bodyPr wrap="square" lIns="0" tIns="0" rIns="0" bIns="0" rtlCol="0" anchor="t"/>
          <a:lstStyle/>
          <a:p>
            <a:pPr indent="0" marL="0">
              <a:buNone/>
            </a:pPr>
            <a:r>
              <a:rPr lang="en-US" sz="2200" dirty="0">
                <a:solidFill>
                  <a:srgbClr val="C9D3E0"/>
                </a:solidFill>
                <a:latin typeface="Calibri" pitchFamily="34" charset="0"/>
                <a:ea typeface="Calibri" pitchFamily="34" charset="-122"/>
                <a:cs typeface="Calibri" pitchFamily="34" charset="-120"/>
              </a:rPr>
              <a:t>Each step of the model, the training recipe, their code, and what we checked in their tables.</a:t>
            </a:r>
            <a:endParaRPr lang="en-US" sz="2200" dirty="0"/>
          </a:p>
        </p:txBody>
      </p:sp>
      <p:sp>
        <p:nvSpPr>
          <p:cNvPr id="6" name="Text 3"/>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8FA0B5"/>
                </a:solidFill>
                <a:latin typeface="Calibri" pitchFamily="34" charset="0"/>
                <a:ea typeface="Calibri" pitchFamily="34" charset="-122"/>
                <a:cs typeface="Calibri"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THE PAPER  ·  MODEL</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The model at a glance</a:t>
            </a:r>
            <a:endParaRPr lang="en-US" sz="3400" dirty="0"/>
          </a:p>
        </p:txBody>
      </p:sp>
      <p:sp>
        <p:nvSpPr>
          <p:cNvPr id="4" name="Shape 2"/>
          <p:cNvSpPr/>
          <p:nvPr/>
        </p:nvSpPr>
        <p:spPr>
          <a:xfrm>
            <a:off x="548640" y="1828800"/>
            <a:ext cx="1481328" cy="1463040"/>
          </a:xfrm>
          <a:prstGeom prst="roundRect">
            <a:avLst>
              <a:gd name="adj" fmla="val 7500"/>
            </a:avLst>
          </a:prstGeom>
          <a:solidFill>
            <a:srgbClr val="EEF2F6"/>
          </a:solidFill>
          <a:ln w="12700">
            <a:solidFill>
              <a:srgbClr val="EEF2F6"/>
            </a:solidFill>
            <a:prstDash val="solid"/>
          </a:ln>
        </p:spPr>
      </p:sp>
      <p:sp>
        <p:nvSpPr>
          <p:cNvPr id="5" name="Text 3"/>
          <p:cNvSpPr txBox="1"/>
          <p:nvPr/>
        </p:nvSpPr>
        <p:spPr>
          <a:xfrm>
            <a:off x="548640" y="1828800"/>
            <a:ext cx="1481328" cy="1463040"/>
          </a:xfrm>
          <a:prstGeom prst="rect">
            <a:avLst/>
          </a:prstGeom>
          <a:noFill/>
          <a:ln/>
        </p:spPr>
        <p:txBody>
          <a:bodyPr wrap="square" lIns="0" tIns="0" rIns="0" bIns="0" rtlCol="0" anchor="ctr"/>
          <a:lstStyle/>
          <a:p>
            <a:pPr algn="ctr" indent="0" marL="0">
              <a:buNone/>
            </a:pPr>
            <a:r>
              <a:rPr lang="en-US" sz="2100" b="1" dirty="0">
                <a:solidFill>
                  <a:srgbClr val="1E293B"/>
                </a:solidFill>
                <a:latin typeface="Calibri" pitchFamily="34" charset="0"/>
                <a:ea typeface="Calibri" pitchFamily="34" charset="-122"/>
                <a:cs typeface="Calibri" pitchFamily="34" charset="-120"/>
              </a:rPr>
              <a:t>frame</a:t>
            </a:r>
            <a:endParaRPr lang="en-US" sz="2100" dirty="0"/>
          </a:p>
        </p:txBody>
      </p:sp>
      <p:sp>
        <p:nvSpPr>
          <p:cNvPr id="6" name="Text 4"/>
          <p:cNvSpPr txBox="1"/>
          <p:nvPr/>
        </p:nvSpPr>
        <p:spPr>
          <a:xfrm>
            <a:off x="548640" y="3474720"/>
            <a:ext cx="1481328" cy="457200"/>
          </a:xfrm>
          <a:prstGeom prst="rect">
            <a:avLst/>
          </a:prstGeom>
          <a:noFill/>
          <a:ln/>
        </p:spPr>
        <p:txBody>
          <a:bodyPr wrap="square" lIns="0" tIns="0" rIns="0" bIns="0" rtlCol="0" anchor="t"/>
          <a:lstStyle/>
          <a:p>
            <a:pPr algn="ctr" indent="0" marL="0">
              <a:buNone/>
            </a:pPr>
            <a:r>
              <a:rPr lang="en-US" sz="2000" b="1" dirty="0">
                <a:solidFill>
                  <a:srgbClr val="5B6B7F"/>
                </a:solidFill>
                <a:latin typeface="Calibri" pitchFamily="34" charset="0"/>
                <a:ea typeface="Calibri" pitchFamily="34" charset="-122"/>
                <a:cs typeface="Calibri" pitchFamily="34" charset="-120"/>
              </a:rPr>
              <a:t>2 × 128</a:t>
            </a:r>
            <a:endParaRPr lang="en-US" sz="2000" dirty="0"/>
          </a:p>
        </p:txBody>
      </p:sp>
      <p:sp>
        <p:nvSpPr>
          <p:cNvPr id="7" name="Shape 5"/>
          <p:cNvSpPr/>
          <p:nvPr/>
        </p:nvSpPr>
        <p:spPr>
          <a:xfrm>
            <a:off x="2057400" y="2377440"/>
            <a:ext cx="347472" cy="384048"/>
          </a:xfrm>
          <a:prstGeom prst="rightArrow">
            <a:avLst/>
          </a:prstGeom>
          <a:solidFill>
            <a:srgbClr val="F08A24"/>
          </a:solidFill>
          <a:ln w="12700">
            <a:solidFill>
              <a:srgbClr val="F08A24"/>
            </a:solidFill>
            <a:prstDash val="solid"/>
          </a:ln>
        </p:spPr>
      </p:sp>
      <p:sp>
        <p:nvSpPr>
          <p:cNvPr id="8" name="Shape 6"/>
          <p:cNvSpPr/>
          <p:nvPr/>
        </p:nvSpPr>
        <p:spPr>
          <a:xfrm>
            <a:off x="2432304" y="1828800"/>
            <a:ext cx="1481328" cy="1463040"/>
          </a:xfrm>
          <a:prstGeom prst="roundRect">
            <a:avLst>
              <a:gd name="adj" fmla="val 7500"/>
            </a:avLst>
          </a:prstGeom>
          <a:solidFill>
            <a:srgbClr val="0F1B2D"/>
          </a:solidFill>
          <a:ln w="12700">
            <a:solidFill>
              <a:srgbClr val="0F1B2D"/>
            </a:solidFill>
            <a:prstDash val="solid"/>
          </a:ln>
        </p:spPr>
      </p:sp>
      <p:sp>
        <p:nvSpPr>
          <p:cNvPr id="9" name="Text 7"/>
          <p:cNvSpPr txBox="1"/>
          <p:nvPr/>
        </p:nvSpPr>
        <p:spPr>
          <a:xfrm>
            <a:off x="2432304" y="1828800"/>
            <a:ext cx="1481328" cy="1463040"/>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CNN</a:t>
            </a:r>
            <a:endParaRPr lang="en-US" sz="2100" dirty="0"/>
          </a:p>
        </p:txBody>
      </p:sp>
      <p:sp>
        <p:nvSpPr>
          <p:cNvPr id="10" name="Text 8"/>
          <p:cNvSpPr txBox="1"/>
          <p:nvPr/>
        </p:nvSpPr>
        <p:spPr>
          <a:xfrm>
            <a:off x="2432304" y="3474720"/>
            <a:ext cx="1481328" cy="457200"/>
          </a:xfrm>
          <a:prstGeom prst="rect">
            <a:avLst/>
          </a:prstGeom>
          <a:noFill/>
          <a:ln/>
        </p:spPr>
        <p:txBody>
          <a:bodyPr wrap="square" lIns="0" tIns="0" rIns="0" bIns="0" rtlCol="0" anchor="t"/>
          <a:lstStyle/>
          <a:p>
            <a:pPr algn="ctr" indent="0" marL="0">
              <a:buNone/>
            </a:pPr>
            <a:r>
              <a:rPr lang="en-US" sz="2000" b="1" dirty="0">
                <a:solidFill>
                  <a:srgbClr val="5B6B7F"/>
                </a:solidFill>
                <a:latin typeface="Calibri" pitchFamily="34" charset="0"/>
                <a:ea typeface="Calibri" pitchFamily="34" charset="-122"/>
                <a:cs typeface="Calibri" pitchFamily="34" charset="-120"/>
              </a:rPr>
              <a:t>64 × 128</a:t>
            </a:r>
            <a:endParaRPr lang="en-US" sz="2000" dirty="0"/>
          </a:p>
        </p:txBody>
      </p:sp>
      <p:sp>
        <p:nvSpPr>
          <p:cNvPr id="11" name="Shape 9"/>
          <p:cNvSpPr/>
          <p:nvPr/>
        </p:nvSpPr>
        <p:spPr>
          <a:xfrm>
            <a:off x="3941064" y="2377440"/>
            <a:ext cx="347472" cy="384048"/>
          </a:xfrm>
          <a:prstGeom prst="rightArrow">
            <a:avLst/>
          </a:prstGeom>
          <a:solidFill>
            <a:srgbClr val="F08A24"/>
          </a:solidFill>
          <a:ln w="12700">
            <a:solidFill>
              <a:srgbClr val="F08A24"/>
            </a:solidFill>
            <a:prstDash val="solid"/>
          </a:ln>
        </p:spPr>
      </p:sp>
      <p:sp>
        <p:nvSpPr>
          <p:cNvPr id="12" name="Shape 10"/>
          <p:cNvSpPr/>
          <p:nvPr/>
        </p:nvSpPr>
        <p:spPr>
          <a:xfrm>
            <a:off x="4315968" y="1828800"/>
            <a:ext cx="1481328" cy="1463040"/>
          </a:xfrm>
          <a:prstGeom prst="roundRect">
            <a:avLst>
              <a:gd name="adj" fmla="val 7500"/>
            </a:avLst>
          </a:prstGeom>
          <a:solidFill>
            <a:srgbClr val="F08A24"/>
          </a:solidFill>
          <a:ln w="12700">
            <a:solidFill>
              <a:srgbClr val="F08A24"/>
            </a:solidFill>
            <a:prstDash val="solid"/>
          </a:ln>
        </p:spPr>
      </p:sp>
      <p:sp>
        <p:nvSpPr>
          <p:cNvPr id="13" name="Text 11"/>
          <p:cNvSpPr txBox="1"/>
          <p:nvPr/>
        </p:nvSpPr>
        <p:spPr>
          <a:xfrm>
            <a:off x="4315968" y="1828800"/>
            <a:ext cx="1481328" cy="1463040"/>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BiLSTM</a:t>
            </a:r>
            <a:endParaRPr lang="en-US" sz="2100" dirty="0"/>
          </a:p>
        </p:txBody>
      </p:sp>
      <p:sp>
        <p:nvSpPr>
          <p:cNvPr id="14" name="Text 12"/>
          <p:cNvSpPr txBox="1"/>
          <p:nvPr/>
        </p:nvSpPr>
        <p:spPr>
          <a:xfrm>
            <a:off x="4315968" y="3474720"/>
            <a:ext cx="1481328" cy="457200"/>
          </a:xfrm>
          <a:prstGeom prst="rect">
            <a:avLst/>
          </a:prstGeom>
          <a:noFill/>
          <a:ln/>
        </p:spPr>
        <p:txBody>
          <a:bodyPr wrap="square" lIns="0" tIns="0" rIns="0" bIns="0" rtlCol="0" anchor="t"/>
          <a:lstStyle/>
          <a:p>
            <a:pPr algn="ctr" indent="0" marL="0">
              <a:buNone/>
            </a:pPr>
            <a:r>
              <a:rPr lang="en-US" sz="2000" b="1" dirty="0">
                <a:solidFill>
                  <a:srgbClr val="5B6B7F"/>
                </a:solidFill>
                <a:latin typeface="Calibri" pitchFamily="34" charset="0"/>
                <a:ea typeface="Calibri" pitchFamily="34" charset="-122"/>
                <a:cs typeface="Calibri" pitchFamily="34" charset="-120"/>
              </a:rPr>
              <a:t>64 × 256</a:t>
            </a:r>
            <a:endParaRPr lang="en-US" sz="2000" dirty="0"/>
          </a:p>
        </p:txBody>
      </p:sp>
      <p:sp>
        <p:nvSpPr>
          <p:cNvPr id="15" name="Shape 13"/>
          <p:cNvSpPr/>
          <p:nvPr/>
        </p:nvSpPr>
        <p:spPr>
          <a:xfrm>
            <a:off x="5824728" y="2377440"/>
            <a:ext cx="347472" cy="384048"/>
          </a:xfrm>
          <a:prstGeom prst="rightArrow">
            <a:avLst/>
          </a:prstGeom>
          <a:solidFill>
            <a:srgbClr val="F08A24"/>
          </a:solidFill>
          <a:ln w="12700">
            <a:solidFill>
              <a:srgbClr val="F08A24"/>
            </a:solidFill>
            <a:prstDash val="solid"/>
          </a:ln>
        </p:spPr>
      </p:sp>
      <p:sp>
        <p:nvSpPr>
          <p:cNvPr id="16" name="Shape 14"/>
          <p:cNvSpPr/>
          <p:nvPr/>
        </p:nvSpPr>
        <p:spPr>
          <a:xfrm>
            <a:off x="6199632" y="1828800"/>
            <a:ext cx="1481328" cy="1463040"/>
          </a:xfrm>
          <a:prstGeom prst="roundRect">
            <a:avLst>
              <a:gd name="adj" fmla="val 7500"/>
            </a:avLst>
          </a:prstGeom>
          <a:solidFill>
            <a:srgbClr val="0F1B2D"/>
          </a:solidFill>
          <a:ln w="12700">
            <a:solidFill>
              <a:srgbClr val="0F1B2D"/>
            </a:solidFill>
            <a:prstDash val="solid"/>
          </a:ln>
        </p:spPr>
      </p:sp>
      <p:sp>
        <p:nvSpPr>
          <p:cNvPr id="17" name="Text 15"/>
          <p:cNvSpPr txBox="1"/>
          <p:nvPr/>
        </p:nvSpPr>
        <p:spPr>
          <a:xfrm>
            <a:off x="6199632" y="1828800"/>
            <a:ext cx="1481328" cy="1463040"/>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Attention</a:t>
            </a:r>
            <a:endParaRPr lang="en-US" sz="2100" dirty="0"/>
          </a:p>
        </p:txBody>
      </p:sp>
      <p:sp>
        <p:nvSpPr>
          <p:cNvPr id="18" name="Text 16"/>
          <p:cNvSpPr txBox="1"/>
          <p:nvPr/>
        </p:nvSpPr>
        <p:spPr>
          <a:xfrm>
            <a:off x="6199632" y="3474720"/>
            <a:ext cx="1481328" cy="457200"/>
          </a:xfrm>
          <a:prstGeom prst="rect">
            <a:avLst/>
          </a:prstGeom>
          <a:noFill/>
          <a:ln/>
        </p:spPr>
        <p:txBody>
          <a:bodyPr wrap="square" lIns="0" tIns="0" rIns="0" bIns="0" rtlCol="0" anchor="t"/>
          <a:lstStyle/>
          <a:p>
            <a:pPr algn="ctr" indent="0" marL="0">
              <a:buNone/>
            </a:pPr>
            <a:r>
              <a:rPr lang="en-US" sz="2000" b="1" dirty="0">
                <a:solidFill>
                  <a:srgbClr val="5B6B7F"/>
                </a:solidFill>
                <a:latin typeface="Calibri" pitchFamily="34" charset="0"/>
                <a:ea typeface="Calibri" pitchFamily="34" charset="-122"/>
                <a:cs typeface="Calibri" pitchFamily="34" charset="-120"/>
              </a:rPr>
              <a:t>256</a:t>
            </a:r>
            <a:endParaRPr lang="en-US" sz="2000" dirty="0"/>
          </a:p>
        </p:txBody>
      </p:sp>
      <p:sp>
        <p:nvSpPr>
          <p:cNvPr id="19" name="Shape 17"/>
          <p:cNvSpPr/>
          <p:nvPr/>
        </p:nvSpPr>
        <p:spPr>
          <a:xfrm>
            <a:off x="7708392" y="2377440"/>
            <a:ext cx="347472" cy="384048"/>
          </a:xfrm>
          <a:prstGeom prst="rightArrow">
            <a:avLst/>
          </a:prstGeom>
          <a:solidFill>
            <a:srgbClr val="F08A24"/>
          </a:solidFill>
          <a:ln w="12700">
            <a:solidFill>
              <a:srgbClr val="F08A24"/>
            </a:solidFill>
            <a:prstDash val="solid"/>
          </a:ln>
        </p:spPr>
      </p:sp>
      <p:sp>
        <p:nvSpPr>
          <p:cNvPr id="20" name="Shape 18"/>
          <p:cNvSpPr/>
          <p:nvPr/>
        </p:nvSpPr>
        <p:spPr>
          <a:xfrm>
            <a:off x="8083296" y="1828800"/>
            <a:ext cx="1481328" cy="1463040"/>
          </a:xfrm>
          <a:prstGeom prst="roundRect">
            <a:avLst>
              <a:gd name="adj" fmla="val 7500"/>
            </a:avLst>
          </a:prstGeom>
          <a:solidFill>
            <a:srgbClr val="0F1B2D"/>
          </a:solidFill>
          <a:ln w="12700">
            <a:solidFill>
              <a:srgbClr val="0F1B2D"/>
            </a:solidFill>
            <a:prstDash val="solid"/>
          </a:ln>
        </p:spPr>
      </p:sp>
      <p:sp>
        <p:nvSpPr>
          <p:cNvPr id="21" name="Text 19"/>
          <p:cNvSpPr txBox="1"/>
          <p:nvPr/>
        </p:nvSpPr>
        <p:spPr>
          <a:xfrm>
            <a:off x="8083296" y="1828800"/>
            <a:ext cx="1481328" cy="1463040"/>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Dense</a:t>
            </a:r>
            <a:endParaRPr lang="en-US" sz="2100" dirty="0"/>
          </a:p>
        </p:txBody>
      </p:sp>
      <p:sp>
        <p:nvSpPr>
          <p:cNvPr id="22" name="Text 20"/>
          <p:cNvSpPr txBox="1"/>
          <p:nvPr/>
        </p:nvSpPr>
        <p:spPr>
          <a:xfrm>
            <a:off x="8083296" y="3474720"/>
            <a:ext cx="1481328" cy="457200"/>
          </a:xfrm>
          <a:prstGeom prst="rect">
            <a:avLst/>
          </a:prstGeom>
          <a:noFill/>
          <a:ln/>
        </p:spPr>
        <p:txBody>
          <a:bodyPr wrap="square" lIns="0" tIns="0" rIns="0" bIns="0" rtlCol="0" anchor="t"/>
          <a:lstStyle/>
          <a:p>
            <a:pPr algn="ctr" indent="0" marL="0">
              <a:buNone/>
            </a:pPr>
            <a:r>
              <a:rPr lang="en-US" sz="2000" b="1" dirty="0">
                <a:solidFill>
                  <a:srgbClr val="5B6B7F"/>
                </a:solidFill>
                <a:latin typeface="Calibri" pitchFamily="34" charset="0"/>
                <a:ea typeface="Calibri" pitchFamily="34" charset="-122"/>
                <a:cs typeface="Calibri" pitchFamily="34" charset="-120"/>
              </a:rPr>
              <a:t>128 → 64</a:t>
            </a:r>
            <a:endParaRPr lang="en-US" sz="2000" dirty="0"/>
          </a:p>
        </p:txBody>
      </p:sp>
      <p:sp>
        <p:nvSpPr>
          <p:cNvPr id="23" name="Shape 21"/>
          <p:cNvSpPr/>
          <p:nvPr/>
        </p:nvSpPr>
        <p:spPr>
          <a:xfrm>
            <a:off x="9592056" y="2377440"/>
            <a:ext cx="347472" cy="384048"/>
          </a:xfrm>
          <a:prstGeom prst="rightArrow">
            <a:avLst/>
          </a:prstGeom>
          <a:solidFill>
            <a:srgbClr val="F08A24"/>
          </a:solidFill>
          <a:ln w="12700">
            <a:solidFill>
              <a:srgbClr val="F08A24"/>
            </a:solidFill>
            <a:prstDash val="solid"/>
          </a:ln>
        </p:spPr>
      </p:sp>
      <p:sp>
        <p:nvSpPr>
          <p:cNvPr id="24" name="Shape 22"/>
          <p:cNvSpPr/>
          <p:nvPr/>
        </p:nvSpPr>
        <p:spPr>
          <a:xfrm>
            <a:off x="9966960" y="1828800"/>
            <a:ext cx="1481328" cy="1463040"/>
          </a:xfrm>
          <a:prstGeom prst="roundRect">
            <a:avLst>
              <a:gd name="adj" fmla="val 7500"/>
            </a:avLst>
          </a:prstGeom>
          <a:solidFill>
            <a:srgbClr val="EEF2F6"/>
          </a:solidFill>
          <a:ln w="12700">
            <a:solidFill>
              <a:srgbClr val="EEF2F6"/>
            </a:solidFill>
            <a:prstDash val="solid"/>
          </a:ln>
        </p:spPr>
      </p:sp>
      <p:sp>
        <p:nvSpPr>
          <p:cNvPr id="25" name="Text 23"/>
          <p:cNvSpPr txBox="1"/>
          <p:nvPr/>
        </p:nvSpPr>
        <p:spPr>
          <a:xfrm>
            <a:off x="9966960" y="1828800"/>
            <a:ext cx="1481328" cy="1463040"/>
          </a:xfrm>
          <a:prstGeom prst="rect">
            <a:avLst/>
          </a:prstGeom>
          <a:noFill/>
          <a:ln/>
        </p:spPr>
        <p:txBody>
          <a:bodyPr wrap="square" lIns="0" tIns="0" rIns="0" bIns="0" rtlCol="0" anchor="ctr"/>
          <a:lstStyle/>
          <a:p>
            <a:pPr algn="ctr" indent="0" marL="0">
              <a:buNone/>
            </a:pPr>
            <a:r>
              <a:rPr lang="en-US" sz="2100" b="1" dirty="0">
                <a:solidFill>
                  <a:srgbClr val="1E293B"/>
                </a:solidFill>
                <a:latin typeface="Calibri" pitchFamily="34" charset="0"/>
                <a:ea typeface="Calibri" pitchFamily="34" charset="-122"/>
                <a:cs typeface="Calibri" pitchFamily="34" charset="-120"/>
              </a:rPr>
              <a:t>output</a:t>
            </a:r>
            <a:endParaRPr lang="en-US" sz="2100" dirty="0"/>
          </a:p>
        </p:txBody>
      </p:sp>
      <p:sp>
        <p:nvSpPr>
          <p:cNvPr id="26" name="Text 24"/>
          <p:cNvSpPr txBox="1"/>
          <p:nvPr/>
        </p:nvSpPr>
        <p:spPr>
          <a:xfrm>
            <a:off x="9966960" y="3474720"/>
            <a:ext cx="1481328" cy="457200"/>
          </a:xfrm>
          <a:prstGeom prst="rect">
            <a:avLst/>
          </a:prstGeom>
          <a:noFill/>
          <a:ln/>
        </p:spPr>
        <p:txBody>
          <a:bodyPr wrap="square" lIns="0" tIns="0" rIns="0" bIns="0" rtlCol="0" anchor="t"/>
          <a:lstStyle/>
          <a:p>
            <a:pPr algn="ctr" indent="0" marL="0">
              <a:buNone/>
            </a:pPr>
            <a:r>
              <a:rPr lang="en-US" sz="2000" b="1" dirty="0">
                <a:solidFill>
                  <a:srgbClr val="5B6B7F"/>
                </a:solidFill>
                <a:latin typeface="Calibri" pitchFamily="34" charset="0"/>
                <a:ea typeface="Calibri" pitchFamily="34" charset="-122"/>
                <a:cs typeface="Calibri" pitchFamily="34" charset="-120"/>
              </a:rPr>
              <a:t>11</a:t>
            </a:r>
            <a:endParaRPr lang="en-US" sz="2000" dirty="0"/>
          </a:p>
        </p:txBody>
      </p:sp>
      <p:sp>
        <p:nvSpPr>
          <p:cNvPr id="27" name="Text 25"/>
          <p:cNvSpPr txBox="1"/>
          <p:nvPr/>
        </p:nvSpPr>
        <p:spPr>
          <a:xfrm>
            <a:off x="548640" y="3977640"/>
            <a:ext cx="5486400" cy="365760"/>
          </a:xfrm>
          <a:prstGeom prst="rect">
            <a:avLst/>
          </a:prstGeom>
          <a:noFill/>
          <a:ln/>
        </p:spPr>
        <p:txBody>
          <a:bodyPr wrap="square" lIns="0" tIns="0" rIns="0" bIns="0" rtlCol="0" anchor="t"/>
          <a:lstStyle/>
          <a:p>
            <a:pPr indent="0" marL="0">
              <a:buNone/>
            </a:pPr>
            <a:r>
              <a:rPr lang="en-US" sz="1600" i="1" dirty="0">
                <a:solidFill>
                  <a:srgbClr val="5B6B7F"/>
                </a:solidFill>
                <a:latin typeface="Calibri" pitchFamily="34" charset="0"/>
                <a:ea typeface="Calibri" pitchFamily="34" charset="-122"/>
                <a:cs typeface="Calibri" pitchFamily="34" charset="-120"/>
              </a:rPr>
              <a:t>size of what comes out</a:t>
            </a:r>
            <a:endParaRPr lang="en-US" sz="1600" dirty="0"/>
          </a:p>
        </p:txBody>
      </p:sp>
      <p:sp>
        <p:nvSpPr>
          <p:cNvPr id="28" name="Text 26"/>
          <p:cNvSpPr txBox="1"/>
          <p:nvPr/>
        </p:nvSpPr>
        <p:spPr>
          <a:xfrm>
            <a:off x="548640" y="493776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One frame in, eleven probabilities out. The largest is the answer.</a:t>
            </a:r>
            <a:endParaRPr lang="en-US" sz="2400" dirty="0"/>
          </a:p>
        </p:txBody>
      </p:sp>
      <p:sp>
        <p:nvSpPr>
          <p:cNvPr id="29" name="Text 27"/>
          <p:cNvSpPr txBox="1"/>
          <p:nvPr/>
        </p:nvSpPr>
        <p:spPr>
          <a:xfrm>
            <a:off x="548640" y="5715000"/>
            <a:ext cx="7315200" cy="274320"/>
          </a:xfrm>
          <a:prstGeom prst="rect">
            <a:avLst/>
          </a:prstGeom>
          <a:noFill/>
          <a:ln/>
        </p:spPr>
        <p:txBody>
          <a:bodyPr wrap="square" lIns="0" tIns="0" rIns="0" bIns="0" rtlCol="0" anchor="t"/>
          <a:lstStyle/>
          <a:p>
            <a:pPr indent="0" marL="0">
              <a:buNone/>
            </a:pPr>
            <a:r>
              <a:rPr lang="en-US" sz="1200" i="1" dirty="0">
                <a:solidFill>
                  <a:srgbClr val="5B6B7F"/>
                </a:solidFill>
                <a:latin typeface="Calibri" pitchFamily="34" charset="0"/>
                <a:ea typeface="Calibri" pitchFamily="34" charset="-122"/>
                <a:cs typeface="Calibri" pitchFamily="34" charset="-120"/>
              </a:rPr>
              <a:t>Redrawn from their Fig. 2; sizes from their code.</a:t>
            </a:r>
            <a:endParaRPr lang="en-US" sz="1200" dirty="0"/>
          </a:p>
        </p:txBody>
      </p:sp>
      <p:sp>
        <p:nvSpPr>
          <p:cNvPr id="31" name="Text 28"/>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THE PAPER  ·  CNN</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Block 1: short learned filters</a:t>
            </a:r>
            <a:endParaRPr lang="en-US" sz="3400" dirty="0"/>
          </a:p>
        </p:txBody>
      </p:sp>
      <p:sp>
        <p:nvSpPr>
          <p:cNvPr id="4" name="Shape 2"/>
          <p:cNvSpPr/>
          <p:nvPr/>
        </p:nvSpPr>
        <p:spPr>
          <a:xfrm>
            <a:off x="548640" y="1737360"/>
            <a:ext cx="210312" cy="411480"/>
          </a:xfrm>
          <a:prstGeom prst="rect">
            <a:avLst/>
          </a:prstGeom>
          <a:solidFill>
            <a:srgbClr val="EEF2F6"/>
          </a:solidFill>
          <a:ln w="12700">
            <a:solidFill>
              <a:srgbClr val="EEF2F6"/>
            </a:solidFill>
            <a:prstDash val="solid"/>
          </a:ln>
        </p:spPr>
      </p:sp>
      <p:sp>
        <p:nvSpPr>
          <p:cNvPr id="5" name="Shape 3"/>
          <p:cNvSpPr/>
          <p:nvPr/>
        </p:nvSpPr>
        <p:spPr>
          <a:xfrm>
            <a:off x="795528" y="1737360"/>
            <a:ext cx="210312" cy="411480"/>
          </a:xfrm>
          <a:prstGeom prst="rect">
            <a:avLst/>
          </a:prstGeom>
          <a:solidFill>
            <a:srgbClr val="EEF2F6"/>
          </a:solidFill>
          <a:ln w="12700">
            <a:solidFill>
              <a:srgbClr val="EEF2F6"/>
            </a:solidFill>
            <a:prstDash val="solid"/>
          </a:ln>
        </p:spPr>
      </p:sp>
      <p:sp>
        <p:nvSpPr>
          <p:cNvPr id="6" name="Shape 4"/>
          <p:cNvSpPr/>
          <p:nvPr/>
        </p:nvSpPr>
        <p:spPr>
          <a:xfrm>
            <a:off x="1042416" y="1737360"/>
            <a:ext cx="210312" cy="411480"/>
          </a:xfrm>
          <a:prstGeom prst="rect">
            <a:avLst/>
          </a:prstGeom>
          <a:solidFill>
            <a:srgbClr val="EEF2F6"/>
          </a:solidFill>
          <a:ln w="12700">
            <a:solidFill>
              <a:srgbClr val="EEF2F6"/>
            </a:solidFill>
            <a:prstDash val="solid"/>
          </a:ln>
        </p:spPr>
      </p:sp>
      <p:sp>
        <p:nvSpPr>
          <p:cNvPr id="7" name="Shape 5"/>
          <p:cNvSpPr/>
          <p:nvPr/>
        </p:nvSpPr>
        <p:spPr>
          <a:xfrm>
            <a:off x="1289304" y="1737360"/>
            <a:ext cx="210312" cy="411480"/>
          </a:xfrm>
          <a:prstGeom prst="rect">
            <a:avLst/>
          </a:prstGeom>
          <a:solidFill>
            <a:srgbClr val="EEF2F6"/>
          </a:solidFill>
          <a:ln w="12700">
            <a:solidFill>
              <a:srgbClr val="EEF2F6"/>
            </a:solidFill>
            <a:prstDash val="solid"/>
          </a:ln>
        </p:spPr>
      </p:sp>
      <p:sp>
        <p:nvSpPr>
          <p:cNvPr id="8" name="Shape 6"/>
          <p:cNvSpPr/>
          <p:nvPr/>
        </p:nvSpPr>
        <p:spPr>
          <a:xfrm>
            <a:off x="1536192" y="1737360"/>
            <a:ext cx="210312" cy="411480"/>
          </a:xfrm>
          <a:prstGeom prst="rect">
            <a:avLst/>
          </a:prstGeom>
          <a:solidFill>
            <a:srgbClr val="EEF2F6"/>
          </a:solidFill>
          <a:ln w="12700">
            <a:solidFill>
              <a:srgbClr val="EEF2F6"/>
            </a:solidFill>
            <a:prstDash val="solid"/>
          </a:ln>
        </p:spPr>
      </p:sp>
      <p:sp>
        <p:nvSpPr>
          <p:cNvPr id="9" name="Shape 7"/>
          <p:cNvSpPr/>
          <p:nvPr/>
        </p:nvSpPr>
        <p:spPr>
          <a:xfrm>
            <a:off x="1783080" y="1737360"/>
            <a:ext cx="210312" cy="411480"/>
          </a:xfrm>
          <a:prstGeom prst="rect">
            <a:avLst/>
          </a:prstGeom>
          <a:solidFill>
            <a:srgbClr val="EEF2F6"/>
          </a:solidFill>
          <a:ln w="12700">
            <a:solidFill>
              <a:srgbClr val="EEF2F6"/>
            </a:solidFill>
            <a:prstDash val="solid"/>
          </a:ln>
        </p:spPr>
      </p:sp>
      <p:sp>
        <p:nvSpPr>
          <p:cNvPr id="10" name="Shape 8"/>
          <p:cNvSpPr/>
          <p:nvPr/>
        </p:nvSpPr>
        <p:spPr>
          <a:xfrm>
            <a:off x="2029968" y="1737360"/>
            <a:ext cx="210312" cy="411480"/>
          </a:xfrm>
          <a:prstGeom prst="rect">
            <a:avLst/>
          </a:prstGeom>
          <a:solidFill>
            <a:srgbClr val="F08A24"/>
          </a:solidFill>
          <a:ln w="12700">
            <a:solidFill>
              <a:srgbClr val="F08A24"/>
            </a:solidFill>
            <a:prstDash val="solid"/>
          </a:ln>
        </p:spPr>
      </p:sp>
      <p:sp>
        <p:nvSpPr>
          <p:cNvPr id="11" name="Shape 9"/>
          <p:cNvSpPr/>
          <p:nvPr/>
        </p:nvSpPr>
        <p:spPr>
          <a:xfrm>
            <a:off x="2276856" y="1737360"/>
            <a:ext cx="210312" cy="411480"/>
          </a:xfrm>
          <a:prstGeom prst="rect">
            <a:avLst/>
          </a:prstGeom>
          <a:solidFill>
            <a:srgbClr val="F08A24"/>
          </a:solidFill>
          <a:ln w="12700">
            <a:solidFill>
              <a:srgbClr val="F08A24"/>
            </a:solidFill>
            <a:prstDash val="solid"/>
          </a:ln>
        </p:spPr>
      </p:sp>
      <p:sp>
        <p:nvSpPr>
          <p:cNvPr id="12" name="Shape 10"/>
          <p:cNvSpPr/>
          <p:nvPr/>
        </p:nvSpPr>
        <p:spPr>
          <a:xfrm>
            <a:off x="2523744" y="1737360"/>
            <a:ext cx="210312" cy="411480"/>
          </a:xfrm>
          <a:prstGeom prst="rect">
            <a:avLst/>
          </a:prstGeom>
          <a:solidFill>
            <a:srgbClr val="F08A24"/>
          </a:solidFill>
          <a:ln w="12700">
            <a:solidFill>
              <a:srgbClr val="F08A24"/>
            </a:solidFill>
            <a:prstDash val="solid"/>
          </a:ln>
        </p:spPr>
      </p:sp>
      <p:sp>
        <p:nvSpPr>
          <p:cNvPr id="13" name="Shape 11"/>
          <p:cNvSpPr/>
          <p:nvPr/>
        </p:nvSpPr>
        <p:spPr>
          <a:xfrm>
            <a:off x="2770632" y="1737360"/>
            <a:ext cx="210312" cy="411480"/>
          </a:xfrm>
          <a:prstGeom prst="rect">
            <a:avLst/>
          </a:prstGeom>
          <a:solidFill>
            <a:srgbClr val="EEF2F6"/>
          </a:solidFill>
          <a:ln w="12700">
            <a:solidFill>
              <a:srgbClr val="EEF2F6"/>
            </a:solidFill>
            <a:prstDash val="solid"/>
          </a:ln>
        </p:spPr>
      </p:sp>
      <p:sp>
        <p:nvSpPr>
          <p:cNvPr id="14" name="Shape 12"/>
          <p:cNvSpPr/>
          <p:nvPr/>
        </p:nvSpPr>
        <p:spPr>
          <a:xfrm>
            <a:off x="3017520" y="1737360"/>
            <a:ext cx="210312" cy="411480"/>
          </a:xfrm>
          <a:prstGeom prst="rect">
            <a:avLst/>
          </a:prstGeom>
          <a:solidFill>
            <a:srgbClr val="EEF2F6"/>
          </a:solidFill>
          <a:ln w="12700">
            <a:solidFill>
              <a:srgbClr val="EEF2F6"/>
            </a:solidFill>
            <a:prstDash val="solid"/>
          </a:ln>
        </p:spPr>
      </p:sp>
      <p:sp>
        <p:nvSpPr>
          <p:cNvPr id="15" name="Shape 13"/>
          <p:cNvSpPr/>
          <p:nvPr/>
        </p:nvSpPr>
        <p:spPr>
          <a:xfrm>
            <a:off x="3264408" y="1737360"/>
            <a:ext cx="210312" cy="411480"/>
          </a:xfrm>
          <a:prstGeom prst="rect">
            <a:avLst/>
          </a:prstGeom>
          <a:solidFill>
            <a:srgbClr val="EEF2F6"/>
          </a:solidFill>
          <a:ln w="12700">
            <a:solidFill>
              <a:srgbClr val="EEF2F6"/>
            </a:solidFill>
            <a:prstDash val="solid"/>
          </a:ln>
        </p:spPr>
      </p:sp>
      <p:sp>
        <p:nvSpPr>
          <p:cNvPr id="16" name="Shape 14"/>
          <p:cNvSpPr/>
          <p:nvPr/>
        </p:nvSpPr>
        <p:spPr>
          <a:xfrm>
            <a:off x="3511296" y="1737360"/>
            <a:ext cx="210312" cy="411480"/>
          </a:xfrm>
          <a:prstGeom prst="rect">
            <a:avLst/>
          </a:prstGeom>
          <a:solidFill>
            <a:srgbClr val="EEF2F6"/>
          </a:solidFill>
          <a:ln w="12700">
            <a:solidFill>
              <a:srgbClr val="EEF2F6"/>
            </a:solidFill>
            <a:prstDash val="solid"/>
          </a:ln>
        </p:spPr>
      </p:sp>
      <p:sp>
        <p:nvSpPr>
          <p:cNvPr id="17" name="Shape 15"/>
          <p:cNvSpPr/>
          <p:nvPr/>
        </p:nvSpPr>
        <p:spPr>
          <a:xfrm>
            <a:off x="3758184" y="1737360"/>
            <a:ext cx="210312" cy="411480"/>
          </a:xfrm>
          <a:prstGeom prst="rect">
            <a:avLst/>
          </a:prstGeom>
          <a:solidFill>
            <a:srgbClr val="EEF2F6"/>
          </a:solidFill>
          <a:ln w="12700">
            <a:solidFill>
              <a:srgbClr val="EEF2F6"/>
            </a:solidFill>
            <a:prstDash val="solid"/>
          </a:ln>
        </p:spPr>
      </p:sp>
      <p:sp>
        <p:nvSpPr>
          <p:cNvPr id="18" name="Shape 16"/>
          <p:cNvSpPr/>
          <p:nvPr/>
        </p:nvSpPr>
        <p:spPr>
          <a:xfrm>
            <a:off x="4005072" y="1737360"/>
            <a:ext cx="210312" cy="411480"/>
          </a:xfrm>
          <a:prstGeom prst="rect">
            <a:avLst/>
          </a:prstGeom>
          <a:solidFill>
            <a:srgbClr val="EEF2F6"/>
          </a:solidFill>
          <a:ln w="12700">
            <a:solidFill>
              <a:srgbClr val="EEF2F6"/>
            </a:solidFill>
            <a:prstDash val="solid"/>
          </a:ln>
        </p:spPr>
      </p:sp>
      <p:sp>
        <p:nvSpPr>
          <p:cNvPr id="19" name="Shape 17"/>
          <p:cNvSpPr/>
          <p:nvPr/>
        </p:nvSpPr>
        <p:spPr>
          <a:xfrm>
            <a:off x="4251960" y="1737360"/>
            <a:ext cx="210312" cy="411480"/>
          </a:xfrm>
          <a:prstGeom prst="rect">
            <a:avLst/>
          </a:prstGeom>
          <a:solidFill>
            <a:srgbClr val="EEF2F6"/>
          </a:solidFill>
          <a:ln w="12700">
            <a:solidFill>
              <a:srgbClr val="EEF2F6"/>
            </a:solidFill>
            <a:prstDash val="solid"/>
          </a:ln>
        </p:spPr>
      </p:sp>
      <p:sp>
        <p:nvSpPr>
          <p:cNvPr id="20" name="Shape 18"/>
          <p:cNvSpPr/>
          <p:nvPr/>
        </p:nvSpPr>
        <p:spPr>
          <a:xfrm>
            <a:off x="4498848" y="1737360"/>
            <a:ext cx="210312" cy="411480"/>
          </a:xfrm>
          <a:prstGeom prst="rect">
            <a:avLst/>
          </a:prstGeom>
          <a:solidFill>
            <a:srgbClr val="EEF2F6"/>
          </a:solidFill>
          <a:ln w="12700">
            <a:solidFill>
              <a:srgbClr val="EEF2F6"/>
            </a:solidFill>
            <a:prstDash val="solid"/>
          </a:ln>
        </p:spPr>
      </p:sp>
      <p:sp>
        <p:nvSpPr>
          <p:cNvPr id="21" name="Shape 19"/>
          <p:cNvSpPr/>
          <p:nvPr/>
        </p:nvSpPr>
        <p:spPr>
          <a:xfrm>
            <a:off x="4745736" y="1737360"/>
            <a:ext cx="210312" cy="411480"/>
          </a:xfrm>
          <a:prstGeom prst="rect">
            <a:avLst/>
          </a:prstGeom>
          <a:solidFill>
            <a:srgbClr val="EEF2F6"/>
          </a:solidFill>
          <a:ln w="12700">
            <a:solidFill>
              <a:srgbClr val="EEF2F6"/>
            </a:solidFill>
            <a:prstDash val="solid"/>
          </a:ln>
        </p:spPr>
      </p:sp>
      <p:sp>
        <p:nvSpPr>
          <p:cNvPr id="22" name="Shape 20"/>
          <p:cNvSpPr/>
          <p:nvPr/>
        </p:nvSpPr>
        <p:spPr>
          <a:xfrm>
            <a:off x="4992624" y="1737360"/>
            <a:ext cx="210312" cy="411480"/>
          </a:xfrm>
          <a:prstGeom prst="rect">
            <a:avLst/>
          </a:prstGeom>
          <a:solidFill>
            <a:srgbClr val="EEF2F6"/>
          </a:solidFill>
          <a:ln w="12700">
            <a:solidFill>
              <a:srgbClr val="EEF2F6"/>
            </a:solidFill>
            <a:prstDash val="solid"/>
          </a:ln>
        </p:spPr>
      </p:sp>
      <p:sp>
        <p:nvSpPr>
          <p:cNvPr id="23" name="Shape 21"/>
          <p:cNvSpPr/>
          <p:nvPr/>
        </p:nvSpPr>
        <p:spPr>
          <a:xfrm>
            <a:off x="5239512" y="1737360"/>
            <a:ext cx="210312" cy="411480"/>
          </a:xfrm>
          <a:prstGeom prst="rect">
            <a:avLst/>
          </a:prstGeom>
          <a:solidFill>
            <a:srgbClr val="EEF2F6"/>
          </a:solidFill>
          <a:ln w="12700">
            <a:solidFill>
              <a:srgbClr val="EEF2F6"/>
            </a:solidFill>
            <a:prstDash val="solid"/>
          </a:ln>
        </p:spPr>
      </p:sp>
      <p:sp>
        <p:nvSpPr>
          <p:cNvPr id="24" name="Shape 22"/>
          <p:cNvSpPr/>
          <p:nvPr/>
        </p:nvSpPr>
        <p:spPr>
          <a:xfrm>
            <a:off x="5486400" y="1737360"/>
            <a:ext cx="210312" cy="411480"/>
          </a:xfrm>
          <a:prstGeom prst="rect">
            <a:avLst/>
          </a:prstGeom>
          <a:solidFill>
            <a:srgbClr val="EEF2F6"/>
          </a:solidFill>
          <a:ln w="12700">
            <a:solidFill>
              <a:srgbClr val="EEF2F6"/>
            </a:solidFill>
            <a:prstDash val="solid"/>
          </a:ln>
        </p:spPr>
      </p:sp>
      <p:sp>
        <p:nvSpPr>
          <p:cNvPr id="25" name="Shape 23"/>
          <p:cNvSpPr/>
          <p:nvPr/>
        </p:nvSpPr>
        <p:spPr>
          <a:xfrm>
            <a:off x="5733288" y="1737360"/>
            <a:ext cx="210312" cy="411480"/>
          </a:xfrm>
          <a:prstGeom prst="rect">
            <a:avLst/>
          </a:prstGeom>
          <a:solidFill>
            <a:srgbClr val="EEF2F6"/>
          </a:solidFill>
          <a:ln w="12700">
            <a:solidFill>
              <a:srgbClr val="EEF2F6"/>
            </a:solidFill>
            <a:prstDash val="solid"/>
          </a:ln>
        </p:spPr>
      </p:sp>
      <p:sp>
        <p:nvSpPr>
          <p:cNvPr id="26" name="Text 24"/>
          <p:cNvSpPr txBox="1"/>
          <p:nvPr/>
        </p:nvSpPr>
        <p:spPr>
          <a:xfrm>
            <a:off x="548640" y="2194560"/>
            <a:ext cx="2743200" cy="320040"/>
          </a:xfrm>
          <a:prstGeom prst="rect">
            <a:avLst/>
          </a:prstGeom>
          <a:noFill/>
          <a:ln/>
        </p:spPr>
        <p:txBody>
          <a:bodyPr wrap="square" lIns="0" tIns="0" rIns="0" bIns="0" rtlCol="0" anchor="t"/>
          <a:lstStyle/>
          <a:p>
            <a:pPr indent="0" marL="0">
              <a:buNone/>
            </a:pPr>
            <a:r>
              <a:rPr lang="en-US" sz="1500" dirty="0">
                <a:solidFill>
                  <a:srgbClr val="5B6B7F"/>
                </a:solidFill>
                <a:latin typeface="Calibri" pitchFamily="34" charset="0"/>
                <a:ea typeface="Calibri" pitchFamily="34" charset="-122"/>
                <a:cs typeface="Calibri" pitchFamily="34" charset="-120"/>
              </a:rPr>
              <a:t>samples →</a:t>
            </a:r>
            <a:endParaRPr lang="en-US" sz="1500" dirty="0"/>
          </a:p>
        </p:txBody>
      </p:sp>
      <p:sp>
        <p:nvSpPr>
          <p:cNvPr id="27" name="Shape 25"/>
          <p:cNvSpPr/>
          <p:nvPr/>
        </p:nvSpPr>
        <p:spPr>
          <a:xfrm>
            <a:off x="2231136" y="2240280"/>
            <a:ext cx="457200" cy="457200"/>
          </a:xfrm>
          <a:prstGeom prst="downArrow">
            <a:avLst/>
          </a:prstGeom>
          <a:solidFill>
            <a:srgbClr val="F08A24"/>
          </a:solidFill>
          <a:ln w="12700">
            <a:solidFill>
              <a:srgbClr val="F08A24"/>
            </a:solidFill>
            <a:prstDash val="solid"/>
          </a:ln>
        </p:spPr>
      </p:sp>
      <p:sp>
        <p:nvSpPr>
          <p:cNvPr id="28" name="Shape 26"/>
          <p:cNvSpPr/>
          <p:nvPr/>
        </p:nvSpPr>
        <p:spPr>
          <a:xfrm>
            <a:off x="548640" y="2788920"/>
            <a:ext cx="210312" cy="411480"/>
          </a:xfrm>
          <a:prstGeom prst="rect">
            <a:avLst/>
          </a:prstGeom>
          <a:solidFill>
            <a:srgbClr val="DDE3EA"/>
          </a:solidFill>
          <a:ln w="12700">
            <a:solidFill>
              <a:srgbClr val="DDE3EA"/>
            </a:solidFill>
            <a:prstDash val="solid"/>
          </a:ln>
        </p:spPr>
      </p:sp>
      <p:sp>
        <p:nvSpPr>
          <p:cNvPr id="29" name="Shape 27"/>
          <p:cNvSpPr/>
          <p:nvPr/>
        </p:nvSpPr>
        <p:spPr>
          <a:xfrm>
            <a:off x="795528" y="2788920"/>
            <a:ext cx="210312" cy="411480"/>
          </a:xfrm>
          <a:prstGeom prst="rect">
            <a:avLst/>
          </a:prstGeom>
          <a:solidFill>
            <a:srgbClr val="DDE3EA"/>
          </a:solidFill>
          <a:ln w="12700">
            <a:solidFill>
              <a:srgbClr val="DDE3EA"/>
            </a:solidFill>
            <a:prstDash val="solid"/>
          </a:ln>
        </p:spPr>
      </p:sp>
      <p:sp>
        <p:nvSpPr>
          <p:cNvPr id="30" name="Shape 28"/>
          <p:cNvSpPr/>
          <p:nvPr/>
        </p:nvSpPr>
        <p:spPr>
          <a:xfrm>
            <a:off x="1042416" y="2788920"/>
            <a:ext cx="210312" cy="411480"/>
          </a:xfrm>
          <a:prstGeom prst="rect">
            <a:avLst/>
          </a:prstGeom>
          <a:solidFill>
            <a:srgbClr val="DDE3EA"/>
          </a:solidFill>
          <a:ln w="12700">
            <a:solidFill>
              <a:srgbClr val="DDE3EA"/>
            </a:solidFill>
            <a:prstDash val="solid"/>
          </a:ln>
        </p:spPr>
      </p:sp>
      <p:sp>
        <p:nvSpPr>
          <p:cNvPr id="31" name="Shape 29"/>
          <p:cNvSpPr/>
          <p:nvPr/>
        </p:nvSpPr>
        <p:spPr>
          <a:xfrm>
            <a:off x="1289304" y="2788920"/>
            <a:ext cx="210312" cy="411480"/>
          </a:xfrm>
          <a:prstGeom prst="rect">
            <a:avLst/>
          </a:prstGeom>
          <a:solidFill>
            <a:srgbClr val="DDE3EA"/>
          </a:solidFill>
          <a:ln w="12700">
            <a:solidFill>
              <a:srgbClr val="DDE3EA"/>
            </a:solidFill>
            <a:prstDash val="solid"/>
          </a:ln>
        </p:spPr>
      </p:sp>
      <p:sp>
        <p:nvSpPr>
          <p:cNvPr id="32" name="Shape 30"/>
          <p:cNvSpPr/>
          <p:nvPr/>
        </p:nvSpPr>
        <p:spPr>
          <a:xfrm>
            <a:off x="1536192" y="2788920"/>
            <a:ext cx="210312" cy="411480"/>
          </a:xfrm>
          <a:prstGeom prst="rect">
            <a:avLst/>
          </a:prstGeom>
          <a:solidFill>
            <a:srgbClr val="DDE3EA"/>
          </a:solidFill>
          <a:ln w="12700">
            <a:solidFill>
              <a:srgbClr val="DDE3EA"/>
            </a:solidFill>
            <a:prstDash val="solid"/>
          </a:ln>
        </p:spPr>
      </p:sp>
      <p:sp>
        <p:nvSpPr>
          <p:cNvPr id="33" name="Shape 31"/>
          <p:cNvSpPr/>
          <p:nvPr/>
        </p:nvSpPr>
        <p:spPr>
          <a:xfrm>
            <a:off x="1783080" y="2788920"/>
            <a:ext cx="210312" cy="411480"/>
          </a:xfrm>
          <a:prstGeom prst="rect">
            <a:avLst/>
          </a:prstGeom>
          <a:solidFill>
            <a:srgbClr val="DDE3EA"/>
          </a:solidFill>
          <a:ln w="12700">
            <a:solidFill>
              <a:srgbClr val="DDE3EA"/>
            </a:solidFill>
            <a:prstDash val="solid"/>
          </a:ln>
        </p:spPr>
      </p:sp>
      <p:sp>
        <p:nvSpPr>
          <p:cNvPr id="34" name="Shape 32"/>
          <p:cNvSpPr/>
          <p:nvPr/>
        </p:nvSpPr>
        <p:spPr>
          <a:xfrm>
            <a:off x="2029968" y="2788920"/>
            <a:ext cx="210312" cy="411480"/>
          </a:xfrm>
          <a:prstGeom prst="rect">
            <a:avLst/>
          </a:prstGeom>
          <a:solidFill>
            <a:srgbClr val="DDE3EA"/>
          </a:solidFill>
          <a:ln w="12700">
            <a:solidFill>
              <a:srgbClr val="DDE3EA"/>
            </a:solidFill>
            <a:prstDash val="solid"/>
          </a:ln>
        </p:spPr>
      </p:sp>
      <p:sp>
        <p:nvSpPr>
          <p:cNvPr id="35" name="Shape 33"/>
          <p:cNvSpPr/>
          <p:nvPr/>
        </p:nvSpPr>
        <p:spPr>
          <a:xfrm>
            <a:off x="2276856" y="2788920"/>
            <a:ext cx="210312" cy="411480"/>
          </a:xfrm>
          <a:prstGeom prst="rect">
            <a:avLst/>
          </a:prstGeom>
          <a:solidFill>
            <a:srgbClr val="0F1B2D"/>
          </a:solidFill>
          <a:ln w="12700">
            <a:solidFill>
              <a:srgbClr val="0F1B2D"/>
            </a:solidFill>
            <a:prstDash val="solid"/>
          </a:ln>
        </p:spPr>
      </p:sp>
      <p:sp>
        <p:nvSpPr>
          <p:cNvPr id="36" name="Shape 34"/>
          <p:cNvSpPr/>
          <p:nvPr/>
        </p:nvSpPr>
        <p:spPr>
          <a:xfrm>
            <a:off x="2523744" y="2788920"/>
            <a:ext cx="210312" cy="411480"/>
          </a:xfrm>
          <a:prstGeom prst="rect">
            <a:avLst/>
          </a:prstGeom>
          <a:solidFill>
            <a:srgbClr val="DDE3EA"/>
          </a:solidFill>
          <a:ln w="12700">
            <a:solidFill>
              <a:srgbClr val="DDE3EA"/>
            </a:solidFill>
            <a:prstDash val="solid"/>
          </a:ln>
        </p:spPr>
      </p:sp>
      <p:sp>
        <p:nvSpPr>
          <p:cNvPr id="37" name="Shape 35"/>
          <p:cNvSpPr/>
          <p:nvPr/>
        </p:nvSpPr>
        <p:spPr>
          <a:xfrm>
            <a:off x="2770632" y="2788920"/>
            <a:ext cx="210312" cy="411480"/>
          </a:xfrm>
          <a:prstGeom prst="rect">
            <a:avLst/>
          </a:prstGeom>
          <a:solidFill>
            <a:srgbClr val="DDE3EA"/>
          </a:solidFill>
          <a:ln w="12700">
            <a:solidFill>
              <a:srgbClr val="DDE3EA"/>
            </a:solidFill>
            <a:prstDash val="solid"/>
          </a:ln>
        </p:spPr>
      </p:sp>
      <p:sp>
        <p:nvSpPr>
          <p:cNvPr id="38" name="Shape 36"/>
          <p:cNvSpPr/>
          <p:nvPr/>
        </p:nvSpPr>
        <p:spPr>
          <a:xfrm>
            <a:off x="3017520" y="2788920"/>
            <a:ext cx="210312" cy="411480"/>
          </a:xfrm>
          <a:prstGeom prst="rect">
            <a:avLst/>
          </a:prstGeom>
          <a:solidFill>
            <a:srgbClr val="DDE3EA"/>
          </a:solidFill>
          <a:ln w="12700">
            <a:solidFill>
              <a:srgbClr val="DDE3EA"/>
            </a:solidFill>
            <a:prstDash val="solid"/>
          </a:ln>
        </p:spPr>
      </p:sp>
      <p:sp>
        <p:nvSpPr>
          <p:cNvPr id="39" name="Shape 37"/>
          <p:cNvSpPr/>
          <p:nvPr/>
        </p:nvSpPr>
        <p:spPr>
          <a:xfrm>
            <a:off x="3264408" y="2788920"/>
            <a:ext cx="210312" cy="411480"/>
          </a:xfrm>
          <a:prstGeom prst="rect">
            <a:avLst/>
          </a:prstGeom>
          <a:solidFill>
            <a:srgbClr val="DDE3EA"/>
          </a:solidFill>
          <a:ln w="12700">
            <a:solidFill>
              <a:srgbClr val="DDE3EA"/>
            </a:solidFill>
            <a:prstDash val="solid"/>
          </a:ln>
        </p:spPr>
      </p:sp>
      <p:sp>
        <p:nvSpPr>
          <p:cNvPr id="40" name="Shape 38"/>
          <p:cNvSpPr/>
          <p:nvPr/>
        </p:nvSpPr>
        <p:spPr>
          <a:xfrm>
            <a:off x="3511296" y="2788920"/>
            <a:ext cx="210312" cy="411480"/>
          </a:xfrm>
          <a:prstGeom prst="rect">
            <a:avLst/>
          </a:prstGeom>
          <a:solidFill>
            <a:srgbClr val="DDE3EA"/>
          </a:solidFill>
          <a:ln w="12700">
            <a:solidFill>
              <a:srgbClr val="DDE3EA"/>
            </a:solidFill>
            <a:prstDash val="solid"/>
          </a:ln>
        </p:spPr>
      </p:sp>
      <p:sp>
        <p:nvSpPr>
          <p:cNvPr id="41" name="Shape 39"/>
          <p:cNvSpPr/>
          <p:nvPr/>
        </p:nvSpPr>
        <p:spPr>
          <a:xfrm>
            <a:off x="3758184" y="2788920"/>
            <a:ext cx="210312" cy="411480"/>
          </a:xfrm>
          <a:prstGeom prst="rect">
            <a:avLst/>
          </a:prstGeom>
          <a:solidFill>
            <a:srgbClr val="DDE3EA"/>
          </a:solidFill>
          <a:ln w="12700">
            <a:solidFill>
              <a:srgbClr val="DDE3EA"/>
            </a:solidFill>
            <a:prstDash val="solid"/>
          </a:ln>
        </p:spPr>
      </p:sp>
      <p:sp>
        <p:nvSpPr>
          <p:cNvPr id="42" name="Shape 40"/>
          <p:cNvSpPr/>
          <p:nvPr/>
        </p:nvSpPr>
        <p:spPr>
          <a:xfrm>
            <a:off x="4005072" y="2788920"/>
            <a:ext cx="210312" cy="411480"/>
          </a:xfrm>
          <a:prstGeom prst="rect">
            <a:avLst/>
          </a:prstGeom>
          <a:solidFill>
            <a:srgbClr val="DDE3EA"/>
          </a:solidFill>
          <a:ln w="12700">
            <a:solidFill>
              <a:srgbClr val="DDE3EA"/>
            </a:solidFill>
            <a:prstDash val="solid"/>
          </a:ln>
        </p:spPr>
      </p:sp>
      <p:sp>
        <p:nvSpPr>
          <p:cNvPr id="43" name="Shape 41"/>
          <p:cNvSpPr/>
          <p:nvPr/>
        </p:nvSpPr>
        <p:spPr>
          <a:xfrm>
            <a:off x="4251960" y="2788920"/>
            <a:ext cx="210312" cy="411480"/>
          </a:xfrm>
          <a:prstGeom prst="rect">
            <a:avLst/>
          </a:prstGeom>
          <a:solidFill>
            <a:srgbClr val="DDE3EA"/>
          </a:solidFill>
          <a:ln w="12700">
            <a:solidFill>
              <a:srgbClr val="DDE3EA"/>
            </a:solidFill>
            <a:prstDash val="solid"/>
          </a:ln>
        </p:spPr>
      </p:sp>
      <p:sp>
        <p:nvSpPr>
          <p:cNvPr id="44" name="Shape 42"/>
          <p:cNvSpPr/>
          <p:nvPr/>
        </p:nvSpPr>
        <p:spPr>
          <a:xfrm>
            <a:off x="4498848" y="2788920"/>
            <a:ext cx="210312" cy="411480"/>
          </a:xfrm>
          <a:prstGeom prst="rect">
            <a:avLst/>
          </a:prstGeom>
          <a:solidFill>
            <a:srgbClr val="DDE3EA"/>
          </a:solidFill>
          <a:ln w="12700">
            <a:solidFill>
              <a:srgbClr val="DDE3EA"/>
            </a:solidFill>
            <a:prstDash val="solid"/>
          </a:ln>
        </p:spPr>
      </p:sp>
      <p:sp>
        <p:nvSpPr>
          <p:cNvPr id="45" name="Shape 43"/>
          <p:cNvSpPr/>
          <p:nvPr/>
        </p:nvSpPr>
        <p:spPr>
          <a:xfrm>
            <a:off x="4745736" y="2788920"/>
            <a:ext cx="210312" cy="411480"/>
          </a:xfrm>
          <a:prstGeom prst="rect">
            <a:avLst/>
          </a:prstGeom>
          <a:solidFill>
            <a:srgbClr val="DDE3EA"/>
          </a:solidFill>
          <a:ln w="12700">
            <a:solidFill>
              <a:srgbClr val="DDE3EA"/>
            </a:solidFill>
            <a:prstDash val="solid"/>
          </a:ln>
        </p:spPr>
      </p:sp>
      <p:sp>
        <p:nvSpPr>
          <p:cNvPr id="46" name="Shape 44"/>
          <p:cNvSpPr/>
          <p:nvPr/>
        </p:nvSpPr>
        <p:spPr>
          <a:xfrm>
            <a:off x="4992624" y="2788920"/>
            <a:ext cx="210312" cy="411480"/>
          </a:xfrm>
          <a:prstGeom prst="rect">
            <a:avLst/>
          </a:prstGeom>
          <a:solidFill>
            <a:srgbClr val="DDE3EA"/>
          </a:solidFill>
          <a:ln w="12700">
            <a:solidFill>
              <a:srgbClr val="DDE3EA"/>
            </a:solidFill>
            <a:prstDash val="solid"/>
          </a:ln>
        </p:spPr>
      </p:sp>
      <p:sp>
        <p:nvSpPr>
          <p:cNvPr id="47" name="Shape 45"/>
          <p:cNvSpPr/>
          <p:nvPr/>
        </p:nvSpPr>
        <p:spPr>
          <a:xfrm>
            <a:off x="5239512" y="2788920"/>
            <a:ext cx="210312" cy="411480"/>
          </a:xfrm>
          <a:prstGeom prst="rect">
            <a:avLst/>
          </a:prstGeom>
          <a:solidFill>
            <a:srgbClr val="DDE3EA"/>
          </a:solidFill>
          <a:ln w="12700">
            <a:solidFill>
              <a:srgbClr val="DDE3EA"/>
            </a:solidFill>
            <a:prstDash val="solid"/>
          </a:ln>
        </p:spPr>
      </p:sp>
      <p:sp>
        <p:nvSpPr>
          <p:cNvPr id="48" name="Shape 46"/>
          <p:cNvSpPr/>
          <p:nvPr/>
        </p:nvSpPr>
        <p:spPr>
          <a:xfrm>
            <a:off x="5486400" y="2788920"/>
            <a:ext cx="210312" cy="411480"/>
          </a:xfrm>
          <a:prstGeom prst="rect">
            <a:avLst/>
          </a:prstGeom>
          <a:solidFill>
            <a:srgbClr val="DDE3EA"/>
          </a:solidFill>
          <a:ln w="12700">
            <a:solidFill>
              <a:srgbClr val="DDE3EA"/>
            </a:solidFill>
            <a:prstDash val="solid"/>
          </a:ln>
        </p:spPr>
      </p:sp>
      <p:sp>
        <p:nvSpPr>
          <p:cNvPr id="49" name="Shape 47"/>
          <p:cNvSpPr/>
          <p:nvPr/>
        </p:nvSpPr>
        <p:spPr>
          <a:xfrm>
            <a:off x="5733288" y="2788920"/>
            <a:ext cx="210312" cy="411480"/>
          </a:xfrm>
          <a:prstGeom prst="rect">
            <a:avLst/>
          </a:prstGeom>
          <a:solidFill>
            <a:srgbClr val="DDE3EA"/>
          </a:solidFill>
          <a:ln w="12700">
            <a:solidFill>
              <a:srgbClr val="DDE3EA"/>
            </a:solidFill>
            <a:prstDash val="solid"/>
          </a:ln>
        </p:spPr>
      </p:sp>
      <p:sp>
        <p:nvSpPr>
          <p:cNvPr id="50" name="Text 48"/>
          <p:cNvSpPr txBox="1"/>
          <p:nvPr/>
        </p:nvSpPr>
        <p:spPr>
          <a:xfrm>
            <a:off x="548640" y="3246120"/>
            <a:ext cx="5486400" cy="320040"/>
          </a:xfrm>
          <a:prstGeom prst="rect">
            <a:avLst/>
          </a:prstGeom>
          <a:noFill/>
          <a:ln/>
        </p:spPr>
        <p:txBody>
          <a:bodyPr wrap="square" lIns="0" tIns="0" rIns="0" bIns="0" rtlCol="0" anchor="t"/>
          <a:lstStyle/>
          <a:p>
            <a:pPr indent="0" marL="0">
              <a:buNone/>
            </a:pPr>
            <a:r>
              <a:rPr lang="en-US" sz="1500" dirty="0">
                <a:solidFill>
                  <a:srgbClr val="5B6B7F"/>
                </a:solidFill>
                <a:latin typeface="Calibri" pitchFamily="34" charset="0"/>
                <a:ea typeface="Calibri" pitchFamily="34" charset="-122"/>
                <a:cs typeface="Calibri" pitchFamily="34" charset="-120"/>
              </a:rPr>
              <a:t>one output per sample, per filter</a:t>
            </a:r>
            <a:endParaRPr lang="en-US" sz="1500" dirty="0"/>
          </a:p>
        </p:txBody>
      </p:sp>
      <p:sp>
        <p:nvSpPr>
          <p:cNvPr id="51" name="Text 49"/>
          <p:cNvSpPr txBox="1"/>
          <p:nvPr/>
        </p:nvSpPr>
        <p:spPr>
          <a:xfrm>
            <a:off x="548640" y="3566160"/>
            <a:ext cx="2743200" cy="274320"/>
          </a:xfrm>
          <a:prstGeom prst="rect">
            <a:avLst/>
          </a:prstGeom>
          <a:noFill/>
          <a:ln/>
        </p:spPr>
        <p:txBody>
          <a:bodyPr wrap="square" lIns="0" tIns="0" rIns="0" bIns="0" rtlCol="0" anchor="t"/>
          <a:lstStyle/>
          <a:p>
            <a:pPr indent="0" marL="0">
              <a:buNone/>
            </a:pPr>
            <a:r>
              <a:rPr lang="en-US" sz="1200" i="1" dirty="0">
                <a:solidFill>
                  <a:srgbClr val="5B6B7F"/>
                </a:solidFill>
                <a:latin typeface="Calibri" pitchFamily="34" charset="0"/>
                <a:ea typeface="Calibri" pitchFamily="34" charset="-122"/>
                <a:cs typeface="Calibri" pitchFamily="34" charset="-120"/>
              </a:rPr>
              <a:t>illustration</a:t>
            </a:r>
            <a:endParaRPr lang="en-US" sz="1200" dirty="0"/>
          </a:p>
        </p:txBody>
      </p:sp>
      <p:sp>
        <p:nvSpPr>
          <p:cNvPr id="52" name="Shape 50"/>
          <p:cNvSpPr/>
          <p:nvPr/>
        </p:nvSpPr>
        <p:spPr>
          <a:xfrm>
            <a:off x="6400800" y="1554480"/>
            <a:ext cx="502920" cy="502920"/>
          </a:xfrm>
          <a:prstGeom prst="ellipse">
            <a:avLst/>
          </a:prstGeom>
          <a:solidFill>
            <a:srgbClr val="0F1B2D"/>
          </a:solidFill>
          <a:ln w="12700">
            <a:solidFill>
              <a:srgbClr val="0F1B2D"/>
            </a:solidFill>
            <a:prstDash val="solid"/>
          </a:ln>
        </p:spPr>
      </p:sp>
      <p:sp>
        <p:nvSpPr>
          <p:cNvPr id="53" name="Text 51"/>
          <p:cNvSpPr txBox="1"/>
          <p:nvPr/>
        </p:nvSpPr>
        <p:spPr>
          <a:xfrm>
            <a:off x="6400800" y="155448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54" name="Text 52"/>
          <p:cNvSpPr txBox="1"/>
          <p:nvPr/>
        </p:nvSpPr>
        <p:spPr>
          <a:xfrm>
            <a:off x="7086600" y="1463040"/>
            <a:ext cx="4572000" cy="411480"/>
          </a:xfrm>
          <a:prstGeom prst="rect">
            <a:avLst/>
          </a:prstGeom>
          <a:noFill/>
          <a:ln/>
        </p:spPr>
        <p:txBody>
          <a:bodyPr wrap="square" lIns="0" tIns="0" rIns="0" bIns="0" rtlCol="0" anchor="t"/>
          <a:lstStyle/>
          <a:p>
            <a:pPr indent="0" marL="0">
              <a:buNone/>
            </a:pPr>
            <a:r>
              <a:rPr lang="en-US" sz="2100" b="1" dirty="0">
                <a:solidFill>
                  <a:srgbClr val="1E293B"/>
                </a:solidFill>
                <a:latin typeface="Calibri" pitchFamily="34" charset="0"/>
                <a:ea typeface="Calibri" pitchFamily="34" charset="-122"/>
                <a:cs typeface="Calibri" pitchFamily="34" charset="-120"/>
              </a:rPr>
              <a:t>64 filters, 3 taps</a:t>
            </a:r>
            <a:endParaRPr lang="en-US" sz="2100" dirty="0"/>
          </a:p>
        </p:txBody>
      </p:sp>
      <p:sp>
        <p:nvSpPr>
          <p:cNvPr id="55" name="Text 53"/>
          <p:cNvSpPr txBox="1"/>
          <p:nvPr/>
        </p:nvSpPr>
        <p:spPr>
          <a:xfrm>
            <a:off x="7086600" y="1874520"/>
            <a:ext cx="4572000" cy="411480"/>
          </a:xfrm>
          <a:prstGeom prst="rect">
            <a:avLst/>
          </a:prstGeom>
          <a:noFill/>
          <a:ln/>
        </p:spPr>
        <p:txBody>
          <a:bodyPr wrap="square" lIns="0" tIns="0" rIns="0" bIns="0" rtlCol="0" anchor="t"/>
          <a:lstStyle/>
          <a:p>
            <a:pPr indent="0" marL="0">
              <a:buNone/>
            </a:pPr>
            <a:r>
              <a:rPr lang="en-US" sz="1900" dirty="0">
                <a:solidFill>
                  <a:srgbClr val="5B6B7F"/>
                </a:solidFill>
                <a:latin typeface="Calibri" pitchFamily="34" charset="0"/>
                <a:ea typeface="Calibri" pitchFamily="34" charset="-122"/>
                <a:cs typeface="Calibri" pitchFamily="34" charset="-120"/>
              </a:rPr>
              <a:t>2 × 128  →  128 × 64</a:t>
            </a:r>
            <a:endParaRPr lang="en-US" sz="1900" dirty="0"/>
          </a:p>
        </p:txBody>
      </p:sp>
      <p:sp>
        <p:nvSpPr>
          <p:cNvPr id="56" name="Shape 54"/>
          <p:cNvSpPr/>
          <p:nvPr/>
        </p:nvSpPr>
        <p:spPr>
          <a:xfrm>
            <a:off x="6400800" y="2514600"/>
            <a:ext cx="502920" cy="502920"/>
          </a:xfrm>
          <a:prstGeom prst="ellipse">
            <a:avLst/>
          </a:prstGeom>
          <a:solidFill>
            <a:srgbClr val="0F1B2D"/>
          </a:solidFill>
          <a:ln w="12700">
            <a:solidFill>
              <a:srgbClr val="0F1B2D"/>
            </a:solidFill>
            <a:prstDash val="solid"/>
          </a:ln>
        </p:spPr>
      </p:sp>
      <p:sp>
        <p:nvSpPr>
          <p:cNvPr id="57" name="Text 55"/>
          <p:cNvSpPr txBox="1"/>
          <p:nvPr/>
        </p:nvSpPr>
        <p:spPr>
          <a:xfrm>
            <a:off x="6400800" y="251460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58" name="Text 56"/>
          <p:cNvSpPr txBox="1"/>
          <p:nvPr/>
        </p:nvSpPr>
        <p:spPr>
          <a:xfrm>
            <a:off x="7086600" y="2423160"/>
            <a:ext cx="4572000" cy="411480"/>
          </a:xfrm>
          <a:prstGeom prst="rect">
            <a:avLst/>
          </a:prstGeom>
          <a:noFill/>
          <a:ln/>
        </p:spPr>
        <p:txBody>
          <a:bodyPr wrap="square" lIns="0" tIns="0" rIns="0" bIns="0" rtlCol="0" anchor="t"/>
          <a:lstStyle/>
          <a:p>
            <a:pPr indent="0" marL="0">
              <a:buNone/>
            </a:pPr>
            <a:r>
              <a:rPr lang="en-US" sz="2100" b="1" dirty="0">
                <a:solidFill>
                  <a:srgbClr val="1E293B"/>
                </a:solidFill>
                <a:latin typeface="Calibri" pitchFamily="34" charset="0"/>
                <a:ea typeface="Calibri" pitchFamily="34" charset="-122"/>
                <a:cs typeface="Calibri" pitchFamily="34" charset="-120"/>
              </a:rPr>
              <a:t>128 filters, 3 taps</a:t>
            </a:r>
            <a:endParaRPr lang="en-US" sz="2100" dirty="0"/>
          </a:p>
        </p:txBody>
      </p:sp>
      <p:sp>
        <p:nvSpPr>
          <p:cNvPr id="59" name="Text 57"/>
          <p:cNvSpPr txBox="1"/>
          <p:nvPr/>
        </p:nvSpPr>
        <p:spPr>
          <a:xfrm>
            <a:off x="7086600" y="2834640"/>
            <a:ext cx="4572000" cy="411480"/>
          </a:xfrm>
          <a:prstGeom prst="rect">
            <a:avLst/>
          </a:prstGeom>
          <a:noFill/>
          <a:ln/>
        </p:spPr>
        <p:txBody>
          <a:bodyPr wrap="square" lIns="0" tIns="0" rIns="0" bIns="0" rtlCol="0" anchor="t"/>
          <a:lstStyle/>
          <a:p>
            <a:pPr indent="0" marL="0">
              <a:buNone/>
            </a:pPr>
            <a:r>
              <a:rPr lang="en-US" sz="1900" dirty="0">
                <a:solidFill>
                  <a:srgbClr val="5B6B7F"/>
                </a:solidFill>
                <a:latin typeface="Calibri" pitchFamily="34" charset="0"/>
                <a:ea typeface="Calibri" pitchFamily="34" charset="-122"/>
                <a:cs typeface="Calibri" pitchFamily="34" charset="-120"/>
              </a:rPr>
              <a:t>→  128 × 128</a:t>
            </a:r>
            <a:endParaRPr lang="en-US" sz="1900" dirty="0"/>
          </a:p>
        </p:txBody>
      </p:sp>
      <p:sp>
        <p:nvSpPr>
          <p:cNvPr id="60" name="Shape 58"/>
          <p:cNvSpPr/>
          <p:nvPr/>
        </p:nvSpPr>
        <p:spPr>
          <a:xfrm>
            <a:off x="6400800" y="3474720"/>
            <a:ext cx="502920" cy="502920"/>
          </a:xfrm>
          <a:prstGeom prst="ellipse">
            <a:avLst/>
          </a:prstGeom>
          <a:solidFill>
            <a:srgbClr val="F08A24"/>
          </a:solidFill>
          <a:ln w="12700">
            <a:solidFill>
              <a:srgbClr val="F08A24"/>
            </a:solidFill>
            <a:prstDash val="solid"/>
          </a:ln>
        </p:spPr>
      </p:sp>
      <p:sp>
        <p:nvSpPr>
          <p:cNvPr id="61" name="Text 59"/>
          <p:cNvSpPr txBox="1"/>
          <p:nvPr/>
        </p:nvSpPr>
        <p:spPr>
          <a:xfrm>
            <a:off x="6400800" y="347472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62" name="Text 60"/>
          <p:cNvSpPr txBox="1"/>
          <p:nvPr/>
        </p:nvSpPr>
        <p:spPr>
          <a:xfrm>
            <a:off x="7086600" y="3383280"/>
            <a:ext cx="4572000" cy="411480"/>
          </a:xfrm>
          <a:prstGeom prst="rect">
            <a:avLst/>
          </a:prstGeom>
          <a:noFill/>
          <a:ln/>
        </p:spPr>
        <p:txBody>
          <a:bodyPr wrap="square" lIns="0" tIns="0" rIns="0" bIns="0" rtlCol="0" anchor="t"/>
          <a:lstStyle/>
          <a:p>
            <a:pPr indent="0" marL="0">
              <a:buNone/>
            </a:pPr>
            <a:r>
              <a:rPr lang="en-US" sz="2100" b="1" dirty="0">
                <a:solidFill>
                  <a:srgbClr val="1E293B"/>
                </a:solidFill>
                <a:latin typeface="Calibri" pitchFamily="34" charset="0"/>
                <a:ea typeface="Calibri" pitchFamily="34" charset="-122"/>
                <a:cs typeface="Calibri" pitchFamily="34" charset="-120"/>
              </a:rPr>
              <a:t>pool: larger of each pair</a:t>
            </a:r>
            <a:endParaRPr lang="en-US" sz="2100" dirty="0"/>
          </a:p>
        </p:txBody>
      </p:sp>
      <p:sp>
        <p:nvSpPr>
          <p:cNvPr id="63" name="Text 61"/>
          <p:cNvSpPr txBox="1"/>
          <p:nvPr/>
        </p:nvSpPr>
        <p:spPr>
          <a:xfrm>
            <a:off x="7086600" y="3794760"/>
            <a:ext cx="4572000" cy="411480"/>
          </a:xfrm>
          <a:prstGeom prst="rect">
            <a:avLst/>
          </a:prstGeom>
          <a:noFill/>
          <a:ln/>
        </p:spPr>
        <p:txBody>
          <a:bodyPr wrap="square" lIns="0" tIns="0" rIns="0" bIns="0" rtlCol="0" anchor="t"/>
          <a:lstStyle/>
          <a:p>
            <a:pPr indent="0" marL="0">
              <a:buNone/>
            </a:pPr>
            <a:r>
              <a:rPr lang="en-US" sz="1900" dirty="0">
                <a:solidFill>
                  <a:srgbClr val="5B6B7F"/>
                </a:solidFill>
                <a:latin typeface="Calibri" pitchFamily="34" charset="0"/>
                <a:ea typeface="Calibri" pitchFamily="34" charset="-122"/>
                <a:cs typeface="Calibri" pitchFamily="34" charset="-120"/>
              </a:rPr>
              <a:t>→  64 × 128</a:t>
            </a:r>
            <a:endParaRPr lang="en-US" sz="1900" dirty="0"/>
          </a:p>
        </p:txBody>
      </p:sp>
      <p:sp>
        <p:nvSpPr>
          <p:cNvPr id="64" name="Shape 62"/>
          <p:cNvSpPr/>
          <p:nvPr/>
        </p:nvSpPr>
        <p:spPr>
          <a:xfrm>
            <a:off x="548640" y="4526280"/>
            <a:ext cx="11091672" cy="868680"/>
          </a:xfrm>
          <a:prstGeom prst="roundRect">
            <a:avLst>
              <a:gd name="adj" fmla="val 12632"/>
            </a:avLst>
          </a:prstGeom>
          <a:solidFill>
            <a:srgbClr val="EEF2F6"/>
          </a:solidFill>
          <a:ln w="12700">
            <a:solidFill>
              <a:srgbClr val="EEF2F6"/>
            </a:solidFill>
            <a:prstDash val="solid"/>
          </a:ln>
        </p:spPr>
      </p:sp>
      <p:sp>
        <p:nvSpPr>
          <p:cNvPr id="65" name="Text 63"/>
          <p:cNvSpPr txBox="1"/>
          <p:nvPr/>
        </p:nvSpPr>
        <p:spPr>
          <a:xfrm>
            <a:off x="822960" y="4526280"/>
            <a:ext cx="10543032" cy="868680"/>
          </a:xfrm>
          <a:prstGeom prst="rect">
            <a:avLst/>
          </a:prstGeom>
          <a:noFill/>
          <a:ln/>
        </p:spPr>
        <p:txBody>
          <a:bodyPr wrap="square" lIns="0" tIns="0" rIns="0" bIns="0" rtlCol="0" anchor="ctr"/>
          <a:lstStyle/>
          <a:p>
            <a:pPr indent="0" marL="0">
              <a:buNone/>
            </a:pPr>
            <a:r>
              <a:rPr lang="en-US" sz="2200" dirty="0">
                <a:solidFill>
                  <a:srgbClr val="1E293B"/>
                </a:solidFill>
                <a:latin typeface="Calibri" pitchFamily="34" charset="0"/>
                <a:ea typeface="Calibri" pitchFamily="34" charset="-122"/>
                <a:cs typeface="Calibri" pitchFamily="34" charset="-120"/>
              </a:rPr>
              <a:t>Like an FIR filter whose taps are learned instead of designed.</a:t>
            </a:r>
            <a:endParaRPr lang="en-US" sz="2200" dirty="0"/>
          </a:p>
        </p:txBody>
      </p:sp>
      <p:sp>
        <p:nvSpPr>
          <p:cNvPr id="66" name="Text 64"/>
          <p:cNvSpPr txBox="1"/>
          <p:nvPr/>
        </p:nvSpPr>
        <p:spPr>
          <a:xfrm>
            <a:off x="548640" y="562356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Each of the 64 steps sums up about 6 samples: less than one symbol.</a:t>
            </a:r>
            <a:endParaRPr lang="en-US" sz="2400" dirty="0"/>
          </a:p>
        </p:txBody>
      </p:sp>
      <p:sp>
        <p:nvSpPr>
          <p:cNvPr id="68" name="Text 65"/>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THE PAPER  ·  BiLSTM</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Block 2: reading the steps in order</a:t>
            </a:r>
            <a:endParaRPr lang="en-US" sz="3400" dirty="0"/>
          </a:p>
        </p:txBody>
      </p:sp>
      <p:sp>
        <p:nvSpPr>
          <p:cNvPr id="4" name="Shape 2"/>
          <p:cNvSpPr/>
          <p:nvPr/>
        </p:nvSpPr>
        <p:spPr>
          <a:xfrm>
            <a:off x="548640" y="2331720"/>
            <a:ext cx="1143000" cy="822960"/>
          </a:xfrm>
          <a:prstGeom prst="roundRect">
            <a:avLst>
              <a:gd name="adj" fmla="val 11111"/>
            </a:avLst>
          </a:prstGeom>
          <a:solidFill>
            <a:srgbClr val="EEF2F6"/>
          </a:solidFill>
          <a:ln w="12700">
            <a:solidFill>
              <a:srgbClr val="EEF2F6"/>
            </a:solidFill>
            <a:prstDash val="solid"/>
          </a:ln>
        </p:spPr>
      </p:sp>
      <p:sp>
        <p:nvSpPr>
          <p:cNvPr id="5" name="Text 3"/>
          <p:cNvSpPr txBox="1"/>
          <p:nvPr/>
        </p:nvSpPr>
        <p:spPr>
          <a:xfrm>
            <a:off x="548640" y="2331720"/>
            <a:ext cx="1143000" cy="822960"/>
          </a:xfrm>
          <a:prstGeom prst="rect">
            <a:avLst/>
          </a:prstGeom>
          <a:noFill/>
          <a:ln/>
        </p:spPr>
        <p:txBody>
          <a:bodyPr wrap="square" lIns="0" tIns="0" rIns="0" bIns="0" rtlCol="0" anchor="ctr"/>
          <a:lstStyle/>
          <a:p>
            <a:pPr algn="ctr" indent="0" marL="0">
              <a:buNone/>
            </a:pPr>
            <a:r>
              <a:rPr lang="en-US" sz="1700" b="1" dirty="0">
                <a:solidFill>
                  <a:srgbClr val="1E293B"/>
                </a:solidFill>
                <a:latin typeface="Calibri" pitchFamily="34" charset="0"/>
                <a:ea typeface="Calibri" pitchFamily="34" charset="-122"/>
                <a:cs typeface="Calibri" pitchFamily="34" charset="-120"/>
              </a:rPr>
              <a:t>step 1</a:t>
            </a:r>
            <a:endParaRPr lang="en-US" sz="1700" dirty="0"/>
          </a:p>
        </p:txBody>
      </p:sp>
      <p:sp>
        <p:nvSpPr>
          <p:cNvPr id="6" name="Shape 4"/>
          <p:cNvSpPr/>
          <p:nvPr/>
        </p:nvSpPr>
        <p:spPr>
          <a:xfrm>
            <a:off x="1709928" y="1874520"/>
            <a:ext cx="374904" cy="384048"/>
          </a:xfrm>
          <a:prstGeom prst="rightArrow">
            <a:avLst/>
          </a:prstGeom>
          <a:solidFill>
            <a:srgbClr val="0F1B2D"/>
          </a:solidFill>
          <a:ln w="12700">
            <a:solidFill>
              <a:srgbClr val="0F1B2D"/>
            </a:solidFill>
            <a:prstDash val="solid"/>
          </a:ln>
        </p:spPr>
      </p:sp>
      <p:sp>
        <p:nvSpPr>
          <p:cNvPr id="7" name="Shape 5"/>
          <p:cNvSpPr/>
          <p:nvPr/>
        </p:nvSpPr>
        <p:spPr>
          <a:xfrm>
            <a:off x="1709928" y="3246120"/>
            <a:ext cx="374904" cy="384048"/>
          </a:xfrm>
          <a:prstGeom prst="leftArrow">
            <a:avLst/>
          </a:prstGeom>
          <a:solidFill>
            <a:srgbClr val="F08A24"/>
          </a:solidFill>
          <a:ln w="12700">
            <a:solidFill>
              <a:srgbClr val="F08A24"/>
            </a:solidFill>
            <a:prstDash val="solid"/>
          </a:ln>
        </p:spPr>
      </p:sp>
      <p:sp>
        <p:nvSpPr>
          <p:cNvPr id="8" name="Shape 6"/>
          <p:cNvSpPr/>
          <p:nvPr/>
        </p:nvSpPr>
        <p:spPr>
          <a:xfrm>
            <a:off x="2103120" y="2331720"/>
            <a:ext cx="1143000" cy="822960"/>
          </a:xfrm>
          <a:prstGeom prst="roundRect">
            <a:avLst>
              <a:gd name="adj" fmla="val 11111"/>
            </a:avLst>
          </a:prstGeom>
          <a:solidFill>
            <a:srgbClr val="EEF2F6"/>
          </a:solidFill>
          <a:ln w="12700">
            <a:solidFill>
              <a:srgbClr val="EEF2F6"/>
            </a:solidFill>
            <a:prstDash val="solid"/>
          </a:ln>
        </p:spPr>
      </p:sp>
      <p:sp>
        <p:nvSpPr>
          <p:cNvPr id="9" name="Text 7"/>
          <p:cNvSpPr txBox="1"/>
          <p:nvPr/>
        </p:nvSpPr>
        <p:spPr>
          <a:xfrm>
            <a:off x="2103120" y="2331720"/>
            <a:ext cx="1143000" cy="822960"/>
          </a:xfrm>
          <a:prstGeom prst="rect">
            <a:avLst/>
          </a:prstGeom>
          <a:noFill/>
          <a:ln/>
        </p:spPr>
        <p:txBody>
          <a:bodyPr wrap="square" lIns="0" tIns="0" rIns="0" bIns="0" rtlCol="0" anchor="ctr"/>
          <a:lstStyle/>
          <a:p>
            <a:pPr algn="ctr" indent="0" marL="0">
              <a:buNone/>
            </a:pPr>
            <a:r>
              <a:rPr lang="en-US" sz="1700" b="1" dirty="0">
                <a:solidFill>
                  <a:srgbClr val="1E293B"/>
                </a:solidFill>
                <a:latin typeface="Calibri" pitchFamily="34" charset="0"/>
                <a:ea typeface="Calibri" pitchFamily="34" charset="-122"/>
                <a:cs typeface="Calibri" pitchFamily="34" charset="-120"/>
              </a:rPr>
              <a:t>step 2</a:t>
            </a:r>
            <a:endParaRPr lang="en-US" sz="1700" dirty="0"/>
          </a:p>
        </p:txBody>
      </p:sp>
      <p:sp>
        <p:nvSpPr>
          <p:cNvPr id="10" name="Shape 8"/>
          <p:cNvSpPr/>
          <p:nvPr/>
        </p:nvSpPr>
        <p:spPr>
          <a:xfrm>
            <a:off x="3264408" y="1874520"/>
            <a:ext cx="374904" cy="384048"/>
          </a:xfrm>
          <a:prstGeom prst="rightArrow">
            <a:avLst/>
          </a:prstGeom>
          <a:solidFill>
            <a:srgbClr val="0F1B2D"/>
          </a:solidFill>
          <a:ln w="12700">
            <a:solidFill>
              <a:srgbClr val="0F1B2D"/>
            </a:solidFill>
            <a:prstDash val="solid"/>
          </a:ln>
        </p:spPr>
      </p:sp>
      <p:sp>
        <p:nvSpPr>
          <p:cNvPr id="11" name="Shape 9"/>
          <p:cNvSpPr/>
          <p:nvPr/>
        </p:nvSpPr>
        <p:spPr>
          <a:xfrm>
            <a:off x="3264408" y="3246120"/>
            <a:ext cx="374904" cy="384048"/>
          </a:xfrm>
          <a:prstGeom prst="leftArrow">
            <a:avLst/>
          </a:prstGeom>
          <a:solidFill>
            <a:srgbClr val="F08A24"/>
          </a:solidFill>
          <a:ln w="12700">
            <a:solidFill>
              <a:srgbClr val="F08A24"/>
            </a:solidFill>
            <a:prstDash val="solid"/>
          </a:ln>
        </p:spPr>
      </p:sp>
      <p:sp>
        <p:nvSpPr>
          <p:cNvPr id="12" name="Shape 10"/>
          <p:cNvSpPr/>
          <p:nvPr/>
        </p:nvSpPr>
        <p:spPr>
          <a:xfrm>
            <a:off x="3657600" y="2331720"/>
            <a:ext cx="1143000" cy="822960"/>
          </a:xfrm>
          <a:prstGeom prst="roundRect">
            <a:avLst>
              <a:gd name="adj" fmla="val 11111"/>
            </a:avLst>
          </a:prstGeom>
          <a:solidFill>
            <a:srgbClr val="EEF2F6"/>
          </a:solidFill>
          <a:ln w="12700">
            <a:solidFill>
              <a:srgbClr val="EEF2F6"/>
            </a:solidFill>
            <a:prstDash val="solid"/>
          </a:ln>
        </p:spPr>
      </p:sp>
      <p:sp>
        <p:nvSpPr>
          <p:cNvPr id="13" name="Text 11"/>
          <p:cNvSpPr txBox="1"/>
          <p:nvPr/>
        </p:nvSpPr>
        <p:spPr>
          <a:xfrm>
            <a:off x="3657600" y="2331720"/>
            <a:ext cx="1143000" cy="822960"/>
          </a:xfrm>
          <a:prstGeom prst="rect">
            <a:avLst/>
          </a:prstGeom>
          <a:noFill/>
          <a:ln/>
        </p:spPr>
        <p:txBody>
          <a:bodyPr wrap="square" lIns="0" tIns="0" rIns="0" bIns="0" rtlCol="0" anchor="ctr"/>
          <a:lstStyle/>
          <a:p>
            <a:pPr algn="ctr" indent="0" marL="0">
              <a:buNone/>
            </a:pPr>
            <a:r>
              <a:rPr lang="en-US" sz="1700" b="1" dirty="0">
                <a:solidFill>
                  <a:srgbClr val="1E293B"/>
                </a:solidFill>
                <a:latin typeface="Calibri" pitchFamily="34" charset="0"/>
                <a:ea typeface="Calibri" pitchFamily="34" charset="-122"/>
                <a:cs typeface="Calibri" pitchFamily="34" charset="-120"/>
              </a:rPr>
              <a:t>step 3</a:t>
            </a:r>
            <a:endParaRPr lang="en-US" sz="1700" dirty="0"/>
          </a:p>
        </p:txBody>
      </p:sp>
      <p:sp>
        <p:nvSpPr>
          <p:cNvPr id="14" name="Shape 12"/>
          <p:cNvSpPr/>
          <p:nvPr/>
        </p:nvSpPr>
        <p:spPr>
          <a:xfrm>
            <a:off x="4818888" y="1874520"/>
            <a:ext cx="374904" cy="384048"/>
          </a:xfrm>
          <a:prstGeom prst="rightArrow">
            <a:avLst/>
          </a:prstGeom>
          <a:solidFill>
            <a:srgbClr val="0F1B2D"/>
          </a:solidFill>
          <a:ln w="12700">
            <a:solidFill>
              <a:srgbClr val="0F1B2D"/>
            </a:solidFill>
            <a:prstDash val="solid"/>
          </a:ln>
        </p:spPr>
      </p:sp>
      <p:sp>
        <p:nvSpPr>
          <p:cNvPr id="15" name="Shape 13"/>
          <p:cNvSpPr/>
          <p:nvPr/>
        </p:nvSpPr>
        <p:spPr>
          <a:xfrm>
            <a:off x="4818888" y="3246120"/>
            <a:ext cx="374904" cy="384048"/>
          </a:xfrm>
          <a:prstGeom prst="leftArrow">
            <a:avLst/>
          </a:prstGeom>
          <a:solidFill>
            <a:srgbClr val="F08A24"/>
          </a:solidFill>
          <a:ln w="12700">
            <a:solidFill>
              <a:srgbClr val="F08A24"/>
            </a:solidFill>
            <a:prstDash val="solid"/>
          </a:ln>
        </p:spPr>
      </p:sp>
      <p:sp>
        <p:nvSpPr>
          <p:cNvPr id="16" name="Shape 14"/>
          <p:cNvSpPr/>
          <p:nvPr/>
        </p:nvSpPr>
        <p:spPr>
          <a:xfrm>
            <a:off x="5212080" y="2331720"/>
            <a:ext cx="1143000" cy="822960"/>
          </a:xfrm>
          <a:prstGeom prst="roundRect">
            <a:avLst>
              <a:gd name="adj" fmla="val 11111"/>
            </a:avLst>
          </a:prstGeom>
          <a:solidFill>
            <a:srgbClr val="EEF2F6"/>
          </a:solidFill>
          <a:ln w="12700">
            <a:solidFill>
              <a:srgbClr val="EEF2F6"/>
            </a:solidFill>
            <a:prstDash val="solid"/>
          </a:ln>
        </p:spPr>
      </p:sp>
      <p:sp>
        <p:nvSpPr>
          <p:cNvPr id="17" name="Text 15"/>
          <p:cNvSpPr txBox="1"/>
          <p:nvPr/>
        </p:nvSpPr>
        <p:spPr>
          <a:xfrm>
            <a:off x="5212080" y="2331720"/>
            <a:ext cx="1143000" cy="822960"/>
          </a:xfrm>
          <a:prstGeom prst="rect">
            <a:avLst/>
          </a:prstGeom>
          <a:noFill/>
          <a:ln/>
        </p:spPr>
        <p:txBody>
          <a:bodyPr wrap="square" lIns="0" tIns="0" rIns="0" bIns="0" rtlCol="0" anchor="ctr"/>
          <a:lstStyle/>
          <a:p>
            <a:pPr algn="ctr" indent="0" marL="0">
              <a:buNone/>
            </a:pPr>
            <a:r>
              <a:rPr lang="en-US" sz="1700" b="1" dirty="0">
                <a:solidFill>
                  <a:srgbClr val="1E293B"/>
                </a:solidFill>
                <a:latin typeface="Calibri" pitchFamily="34" charset="0"/>
                <a:ea typeface="Calibri" pitchFamily="34" charset="-122"/>
                <a:cs typeface="Calibri" pitchFamily="34" charset="-120"/>
              </a:rPr>
              <a:t>step …</a:t>
            </a:r>
            <a:endParaRPr lang="en-US" sz="1700" dirty="0"/>
          </a:p>
        </p:txBody>
      </p:sp>
      <p:sp>
        <p:nvSpPr>
          <p:cNvPr id="18" name="Shape 16"/>
          <p:cNvSpPr/>
          <p:nvPr/>
        </p:nvSpPr>
        <p:spPr>
          <a:xfrm>
            <a:off x="6373368" y="1874520"/>
            <a:ext cx="374904" cy="384048"/>
          </a:xfrm>
          <a:prstGeom prst="rightArrow">
            <a:avLst/>
          </a:prstGeom>
          <a:solidFill>
            <a:srgbClr val="0F1B2D"/>
          </a:solidFill>
          <a:ln w="12700">
            <a:solidFill>
              <a:srgbClr val="0F1B2D"/>
            </a:solidFill>
            <a:prstDash val="solid"/>
          </a:ln>
        </p:spPr>
      </p:sp>
      <p:sp>
        <p:nvSpPr>
          <p:cNvPr id="19" name="Shape 17"/>
          <p:cNvSpPr/>
          <p:nvPr/>
        </p:nvSpPr>
        <p:spPr>
          <a:xfrm>
            <a:off x="6373368" y="3246120"/>
            <a:ext cx="374904" cy="384048"/>
          </a:xfrm>
          <a:prstGeom prst="leftArrow">
            <a:avLst/>
          </a:prstGeom>
          <a:solidFill>
            <a:srgbClr val="F08A24"/>
          </a:solidFill>
          <a:ln w="12700">
            <a:solidFill>
              <a:srgbClr val="F08A24"/>
            </a:solidFill>
            <a:prstDash val="solid"/>
          </a:ln>
        </p:spPr>
      </p:sp>
      <p:sp>
        <p:nvSpPr>
          <p:cNvPr id="20" name="Shape 18"/>
          <p:cNvSpPr/>
          <p:nvPr/>
        </p:nvSpPr>
        <p:spPr>
          <a:xfrm>
            <a:off x="6766560" y="2331720"/>
            <a:ext cx="1143000" cy="822960"/>
          </a:xfrm>
          <a:prstGeom prst="roundRect">
            <a:avLst>
              <a:gd name="adj" fmla="val 11111"/>
            </a:avLst>
          </a:prstGeom>
          <a:solidFill>
            <a:srgbClr val="EEF2F6"/>
          </a:solidFill>
          <a:ln w="12700">
            <a:solidFill>
              <a:srgbClr val="EEF2F6"/>
            </a:solidFill>
            <a:prstDash val="solid"/>
          </a:ln>
        </p:spPr>
      </p:sp>
      <p:sp>
        <p:nvSpPr>
          <p:cNvPr id="21" name="Text 19"/>
          <p:cNvSpPr txBox="1"/>
          <p:nvPr/>
        </p:nvSpPr>
        <p:spPr>
          <a:xfrm>
            <a:off x="6766560" y="2331720"/>
            <a:ext cx="1143000" cy="822960"/>
          </a:xfrm>
          <a:prstGeom prst="rect">
            <a:avLst/>
          </a:prstGeom>
          <a:noFill/>
          <a:ln/>
        </p:spPr>
        <p:txBody>
          <a:bodyPr wrap="square" lIns="0" tIns="0" rIns="0" bIns="0" rtlCol="0" anchor="ctr"/>
          <a:lstStyle/>
          <a:p>
            <a:pPr algn="ctr" indent="0" marL="0">
              <a:buNone/>
            </a:pPr>
            <a:r>
              <a:rPr lang="en-US" sz="1700" b="1" dirty="0">
                <a:solidFill>
                  <a:srgbClr val="1E293B"/>
                </a:solidFill>
                <a:latin typeface="Calibri" pitchFamily="34" charset="0"/>
                <a:ea typeface="Calibri" pitchFamily="34" charset="-122"/>
                <a:cs typeface="Calibri" pitchFamily="34" charset="-120"/>
              </a:rPr>
              <a:t>step 63</a:t>
            </a:r>
            <a:endParaRPr lang="en-US" sz="1700" dirty="0"/>
          </a:p>
        </p:txBody>
      </p:sp>
      <p:sp>
        <p:nvSpPr>
          <p:cNvPr id="22" name="Shape 20"/>
          <p:cNvSpPr/>
          <p:nvPr/>
        </p:nvSpPr>
        <p:spPr>
          <a:xfrm>
            <a:off x="7927848" y="1874520"/>
            <a:ext cx="374904" cy="384048"/>
          </a:xfrm>
          <a:prstGeom prst="rightArrow">
            <a:avLst/>
          </a:prstGeom>
          <a:solidFill>
            <a:srgbClr val="0F1B2D"/>
          </a:solidFill>
          <a:ln w="12700">
            <a:solidFill>
              <a:srgbClr val="0F1B2D"/>
            </a:solidFill>
            <a:prstDash val="solid"/>
          </a:ln>
        </p:spPr>
      </p:sp>
      <p:sp>
        <p:nvSpPr>
          <p:cNvPr id="23" name="Shape 21"/>
          <p:cNvSpPr/>
          <p:nvPr/>
        </p:nvSpPr>
        <p:spPr>
          <a:xfrm>
            <a:off x="7927848" y="3246120"/>
            <a:ext cx="374904" cy="384048"/>
          </a:xfrm>
          <a:prstGeom prst="leftArrow">
            <a:avLst/>
          </a:prstGeom>
          <a:solidFill>
            <a:srgbClr val="F08A24"/>
          </a:solidFill>
          <a:ln w="12700">
            <a:solidFill>
              <a:srgbClr val="F08A24"/>
            </a:solidFill>
            <a:prstDash val="solid"/>
          </a:ln>
        </p:spPr>
      </p:sp>
      <p:sp>
        <p:nvSpPr>
          <p:cNvPr id="24" name="Shape 22"/>
          <p:cNvSpPr/>
          <p:nvPr/>
        </p:nvSpPr>
        <p:spPr>
          <a:xfrm>
            <a:off x="8321040" y="2331720"/>
            <a:ext cx="1143000" cy="822960"/>
          </a:xfrm>
          <a:prstGeom prst="roundRect">
            <a:avLst>
              <a:gd name="adj" fmla="val 11111"/>
            </a:avLst>
          </a:prstGeom>
          <a:solidFill>
            <a:srgbClr val="EEF2F6"/>
          </a:solidFill>
          <a:ln w="12700">
            <a:solidFill>
              <a:srgbClr val="EEF2F6"/>
            </a:solidFill>
            <a:prstDash val="solid"/>
          </a:ln>
        </p:spPr>
      </p:sp>
      <p:sp>
        <p:nvSpPr>
          <p:cNvPr id="25" name="Text 23"/>
          <p:cNvSpPr txBox="1"/>
          <p:nvPr/>
        </p:nvSpPr>
        <p:spPr>
          <a:xfrm>
            <a:off x="8321040" y="2331720"/>
            <a:ext cx="1143000" cy="822960"/>
          </a:xfrm>
          <a:prstGeom prst="rect">
            <a:avLst/>
          </a:prstGeom>
          <a:noFill/>
          <a:ln/>
        </p:spPr>
        <p:txBody>
          <a:bodyPr wrap="square" lIns="0" tIns="0" rIns="0" bIns="0" rtlCol="0" anchor="ctr"/>
          <a:lstStyle/>
          <a:p>
            <a:pPr algn="ctr" indent="0" marL="0">
              <a:buNone/>
            </a:pPr>
            <a:r>
              <a:rPr lang="en-US" sz="1700" b="1" dirty="0">
                <a:solidFill>
                  <a:srgbClr val="1E293B"/>
                </a:solidFill>
                <a:latin typeface="Calibri" pitchFamily="34" charset="0"/>
                <a:ea typeface="Calibri" pitchFamily="34" charset="-122"/>
                <a:cs typeface="Calibri" pitchFamily="34" charset="-120"/>
              </a:rPr>
              <a:t>step 64</a:t>
            </a:r>
            <a:endParaRPr lang="en-US" sz="1700" dirty="0"/>
          </a:p>
        </p:txBody>
      </p:sp>
      <p:sp>
        <p:nvSpPr>
          <p:cNvPr id="26" name="Text 24"/>
          <p:cNvSpPr txBox="1"/>
          <p:nvPr/>
        </p:nvSpPr>
        <p:spPr>
          <a:xfrm>
            <a:off x="548640" y="1463040"/>
            <a:ext cx="5486400" cy="365760"/>
          </a:xfrm>
          <a:prstGeom prst="rect">
            <a:avLst/>
          </a:prstGeom>
          <a:noFill/>
          <a:ln/>
        </p:spPr>
        <p:txBody>
          <a:bodyPr wrap="square" lIns="0" tIns="0" rIns="0" bIns="0" rtlCol="0" anchor="t"/>
          <a:lstStyle/>
          <a:p>
            <a:pPr indent="0" marL="0">
              <a:buNone/>
            </a:pPr>
            <a:r>
              <a:rPr lang="en-US" sz="1700" b="1" dirty="0">
                <a:solidFill>
                  <a:srgbClr val="0F1B2D"/>
                </a:solidFill>
                <a:latin typeface="Calibri" pitchFamily="34" charset="0"/>
                <a:ea typeface="Calibri" pitchFamily="34" charset="-122"/>
                <a:cs typeface="Calibri" pitchFamily="34" charset="-120"/>
              </a:rPr>
              <a:t>forwards, with a memory</a:t>
            </a:r>
            <a:endParaRPr lang="en-US" sz="1700" dirty="0"/>
          </a:p>
        </p:txBody>
      </p:sp>
      <p:sp>
        <p:nvSpPr>
          <p:cNvPr id="27" name="Text 25"/>
          <p:cNvSpPr txBox="1"/>
          <p:nvPr/>
        </p:nvSpPr>
        <p:spPr>
          <a:xfrm>
            <a:off x="548640" y="3657600"/>
            <a:ext cx="5486400" cy="365760"/>
          </a:xfrm>
          <a:prstGeom prst="rect">
            <a:avLst/>
          </a:prstGeom>
          <a:noFill/>
          <a:ln/>
        </p:spPr>
        <p:txBody>
          <a:bodyPr wrap="square" lIns="0" tIns="0" rIns="0" bIns="0" rtlCol="0" anchor="t"/>
          <a:lstStyle/>
          <a:p>
            <a:pPr indent="0" marL="0">
              <a:buNone/>
            </a:pPr>
            <a:r>
              <a:rPr lang="en-US" sz="1700" b="1" dirty="0">
                <a:solidFill>
                  <a:srgbClr val="F08A24"/>
                </a:solidFill>
                <a:latin typeface="Calibri" pitchFamily="34" charset="0"/>
                <a:ea typeface="Calibri" pitchFamily="34" charset="-122"/>
                <a:cs typeface="Calibri" pitchFamily="34" charset="-120"/>
              </a:rPr>
              <a:t>backwards, a second LSTM</a:t>
            </a:r>
            <a:endParaRPr lang="en-US" sz="1700" dirty="0"/>
          </a:p>
        </p:txBody>
      </p:sp>
      <p:sp>
        <p:nvSpPr>
          <p:cNvPr id="28" name="Shape 26"/>
          <p:cNvSpPr/>
          <p:nvPr/>
        </p:nvSpPr>
        <p:spPr>
          <a:xfrm>
            <a:off x="548640" y="4160520"/>
            <a:ext cx="6583680" cy="1280160"/>
          </a:xfrm>
          <a:prstGeom prst="roundRect">
            <a:avLst>
              <a:gd name="adj" fmla="val 8571"/>
            </a:avLst>
          </a:prstGeom>
          <a:solidFill>
            <a:srgbClr val="EEF2F6"/>
          </a:solidFill>
          <a:ln w="12700">
            <a:solidFill>
              <a:srgbClr val="EEF2F6"/>
            </a:solidFill>
            <a:prstDash val="solid"/>
          </a:ln>
        </p:spPr>
      </p:sp>
      <p:sp>
        <p:nvSpPr>
          <p:cNvPr id="29" name="Text 27"/>
          <p:cNvSpPr txBox="1"/>
          <p:nvPr/>
        </p:nvSpPr>
        <p:spPr>
          <a:xfrm>
            <a:off x="822960" y="4160520"/>
            <a:ext cx="6126480" cy="1280160"/>
          </a:xfrm>
          <a:prstGeom prst="rect">
            <a:avLst/>
          </a:prstGeom>
          <a:noFill/>
          <a:ln/>
        </p:spPr>
        <p:txBody>
          <a:bodyPr wrap="square" lIns="0" tIns="0" rIns="0" bIns="0" rtlCol="0" anchor="ctr"/>
          <a:lstStyle/>
          <a:p>
            <a:pPr indent="0" marL="0">
              <a:buNone/>
            </a:pPr>
            <a:r>
              <a:rPr lang="en-US" sz="2200" b="1" dirty="0">
                <a:solidFill>
                  <a:srgbClr val="1E293B"/>
                </a:solidFill>
                <a:latin typeface="Calibri" pitchFamily="34" charset="0"/>
                <a:ea typeface="Calibri" pitchFamily="34" charset="-122"/>
                <a:cs typeface="Calibri" pitchFamily="34" charset="-120"/>
              </a:rPr>
              <a:t>2 layers, 128 numbers each way</a:t>
            </a:r>
            <a:endParaRPr lang="en-US" sz="2200" dirty="0"/>
          </a:p>
          <a:p>
            <a:pPr indent="0" marL="0">
              <a:buNone/>
            </a:pPr>
            <a:r>
              <a:rPr lang="en-US" sz="2200" b="1" dirty="0">
                <a:solidFill>
                  <a:srgbClr val="5B6B7F"/>
                </a:solidFill>
                <a:latin typeface="Calibri" pitchFamily="34" charset="0"/>
                <a:ea typeface="Calibri" pitchFamily="34" charset="-122"/>
                <a:cs typeface="Calibri" pitchFamily="34" charset="-120"/>
              </a:rPr>
              <a:t>→  64 × 256</a:t>
            </a:r>
            <a:endParaRPr lang="en-US" sz="2200" dirty="0"/>
          </a:p>
        </p:txBody>
      </p:sp>
      <p:sp>
        <p:nvSpPr>
          <p:cNvPr id="30" name="Shape 28"/>
          <p:cNvSpPr/>
          <p:nvPr/>
        </p:nvSpPr>
        <p:spPr>
          <a:xfrm>
            <a:off x="7406640" y="4160520"/>
            <a:ext cx="4233672" cy="1280160"/>
          </a:xfrm>
          <a:prstGeom prst="roundRect">
            <a:avLst>
              <a:gd name="adj" fmla="val 8571"/>
            </a:avLst>
          </a:prstGeom>
          <a:solidFill>
            <a:srgbClr val="0F1B2D"/>
          </a:solidFill>
          <a:ln w="12700">
            <a:solidFill>
              <a:srgbClr val="0F1B2D"/>
            </a:solidFill>
            <a:prstDash val="solid"/>
          </a:ln>
        </p:spPr>
      </p:sp>
      <p:sp>
        <p:nvSpPr>
          <p:cNvPr id="31" name="Text 29"/>
          <p:cNvSpPr txBox="1"/>
          <p:nvPr/>
        </p:nvSpPr>
        <p:spPr>
          <a:xfrm>
            <a:off x="7635240" y="4160520"/>
            <a:ext cx="1828800" cy="1280160"/>
          </a:xfrm>
          <a:prstGeom prst="rect">
            <a:avLst/>
          </a:prstGeom>
          <a:noFill/>
          <a:ln/>
        </p:spPr>
        <p:txBody>
          <a:bodyPr wrap="square" lIns="0" tIns="0" rIns="0" bIns="0" rtlCol="0" anchor="ctr"/>
          <a:lstStyle/>
          <a:p>
            <a:pPr indent="0" marL="0">
              <a:buNone/>
            </a:pPr>
            <a:r>
              <a:rPr lang="en-US" sz="4800" b="1" dirty="0">
                <a:solidFill>
                  <a:srgbClr val="F08A24"/>
                </a:solidFill>
                <a:latin typeface="Calibri" pitchFamily="34" charset="0"/>
                <a:ea typeface="Calibri" pitchFamily="34" charset="-122"/>
                <a:cs typeface="Calibri" pitchFamily="34" charset="-120"/>
              </a:rPr>
              <a:t>83%</a:t>
            </a:r>
            <a:endParaRPr lang="en-US" sz="4800" dirty="0"/>
          </a:p>
        </p:txBody>
      </p:sp>
      <p:sp>
        <p:nvSpPr>
          <p:cNvPr id="32" name="Text 30"/>
          <p:cNvSpPr txBox="1"/>
          <p:nvPr/>
        </p:nvSpPr>
        <p:spPr>
          <a:xfrm>
            <a:off x="9418320" y="4160520"/>
            <a:ext cx="2103120" cy="12801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of the model's numbers are here</a:t>
            </a:r>
            <a:endParaRPr lang="en-US" sz="1800" dirty="0"/>
          </a:p>
        </p:txBody>
      </p:sp>
      <p:sp>
        <p:nvSpPr>
          <p:cNvPr id="33" name="Text 31"/>
          <p:cNvSpPr txBox="1"/>
          <p:nvPr/>
        </p:nvSpPr>
        <p:spPr>
          <a:xfrm>
            <a:off x="548640" y="566928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After this block, every step knows the whole frame.</a:t>
            </a:r>
            <a:endParaRPr lang="en-US" sz="2400" dirty="0"/>
          </a:p>
        </p:txBody>
      </p:sp>
      <p:sp>
        <p:nvSpPr>
          <p:cNvPr id="35" name="Text 32"/>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THE PAPER  ·  ATTENTION</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Block 3: a learned weighted average</a:t>
            </a:r>
            <a:endParaRPr lang="en-US" sz="3400" dirty="0"/>
          </a:p>
        </p:txBody>
      </p:sp>
      <p:sp>
        <p:nvSpPr>
          <p:cNvPr id="4" name="Shape 2"/>
          <p:cNvSpPr/>
          <p:nvPr/>
        </p:nvSpPr>
        <p:spPr>
          <a:xfrm>
            <a:off x="685800" y="3337560"/>
            <a:ext cx="237744" cy="228600"/>
          </a:xfrm>
          <a:prstGeom prst="rect">
            <a:avLst/>
          </a:prstGeom>
          <a:solidFill>
            <a:srgbClr val="8FA0B5"/>
          </a:solidFill>
          <a:ln w="12700">
            <a:solidFill>
              <a:srgbClr val="8FA0B5"/>
            </a:solidFill>
            <a:prstDash val="solid"/>
          </a:ln>
        </p:spPr>
      </p:sp>
      <p:sp>
        <p:nvSpPr>
          <p:cNvPr id="5" name="Shape 3"/>
          <p:cNvSpPr/>
          <p:nvPr/>
        </p:nvSpPr>
        <p:spPr>
          <a:xfrm>
            <a:off x="1014984" y="3200400"/>
            <a:ext cx="237744" cy="365760"/>
          </a:xfrm>
          <a:prstGeom prst="rect">
            <a:avLst/>
          </a:prstGeom>
          <a:solidFill>
            <a:srgbClr val="8FA0B5"/>
          </a:solidFill>
          <a:ln w="12700">
            <a:solidFill>
              <a:srgbClr val="8FA0B5"/>
            </a:solidFill>
            <a:prstDash val="solid"/>
          </a:ln>
        </p:spPr>
      </p:sp>
      <p:sp>
        <p:nvSpPr>
          <p:cNvPr id="6" name="Shape 4"/>
          <p:cNvSpPr/>
          <p:nvPr/>
        </p:nvSpPr>
        <p:spPr>
          <a:xfrm>
            <a:off x="1344168" y="3291840"/>
            <a:ext cx="237744" cy="274320"/>
          </a:xfrm>
          <a:prstGeom prst="rect">
            <a:avLst/>
          </a:prstGeom>
          <a:solidFill>
            <a:srgbClr val="8FA0B5"/>
          </a:solidFill>
          <a:ln w="12700">
            <a:solidFill>
              <a:srgbClr val="8FA0B5"/>
            </a:solidFill>
            <a:prstDash val="solid"/>
          </a:ln>
        </p:spPr>
      </p:sp>
      <p:sp>
        <p:nvSpPr>
          <p:cNvPr id="7" name="Shape 5"/>
          <p:cNvSpPr/>
          <p:nvPr/>
        </p:nvSpPr>
        <p:spPr>
          <a:xfrm>
            <a:off x="1673352" y="2743200"/>
            <a:ext cx="237744" cy="822960"/>
          </a:xfrm>
          <a:prstGeom prst="rect">
            <a:avLst/>
          </a:prstGeom>
          <a:solidFill>
            <a:srgbClr val="8FA0B5"/>
          </a:solidFill>
          <a:ln w="12700">
            <a:solidFill>
              <a:srgbClr val="8FA0B5"/>
            </a:solidFill>
            <a:prstDash val="solid"/>
          </a:ln>
        </p:spPr>
      </p:sp>
      <p:sp>
        <p:nvSpPr>
          <p:cNvPr id="8" name="Shape 6"/>
          <p:cNvSpPr/>
          <p:nvPr/>
        </p:nvSpPr>
        <p:spPr>
          <a:xfrm>
            <a:off x="2002536" y="2103120"/>
            <a:ext cx="237744" cy="1463040"/>
          </a:xfrm>
          <a:prstGeom prst="rect">
            <a:avLst/>
          </a:prstGeom>
          <a:solidFill>
            <a:srgbClr val="F08A24"/>
          </a:solidFill>
          <a:ln w="12700">
            <a:solidFill>
              <a:srgbClr val="F08A24"/>
            </a:solidFill>
            <a:prstDash val="solid"/>
          </a:ln>
        </p:spPr>
      </p:sp>
      <p:sp>
        <p:nvSpPr>
          <p:cNvPr id="9" name="Shape 7"/>
          <p:cNvSpPr/>
          <p:nvPr/>
        </p:nvSpPr>
        <p:spPr>
          <a:xfrm>
            <a:off x="2331720" y="2468880"/>
            <a:ext cx="237744" cy="1097280"/>
          </a:xfrm>
          <a:prstGeom prst="rect">
            <a:avLst/>
          </a:prstGeom>
          <a:solidFill>
            <a:srgbClr val="F08A24"/>
          </a:solidFill>
          <a:ln w="12700">
            <a:solidFill>
              <a:srgbClr val="F08A24"/>
            </a:solidFill>
            <a:prstDash val="solid"/>
          </a:ln>
        </p:spPr>
      </p:sp>
      <p:sp>
        <p:nvSpPr>
          <p:cNvPr id="10" name="Shape 8"/>
          <p:cNvSpPr/>
          <p:nvPr/>
        </p:nvSpPr>
        <p:spPr>
          <a:xfrm>
            <a:off x="2660904" y="3108960"/>
            <a:ext cx="237744" cy="457200"/>
          </a:xfrm>
          <a:prstGeom prst="rect">
            <a:avLst/>
          </a:prstGeom>
          <a:solidFill>
            <a:srgbClr val="8FA0B5"/>
          </a:solidFill>
          <a:ln w="12700">
            <a:solidFill>
              <a:srgbClr val="8FA0B5"/>
            </a:solidFill>
            <a:prstDash val="solid"/>
          </a:ln>
        </p:spPr>
      </p:sp>
      <p:sp>
        <p:nvSpPr>
          <p:cNvPr id="11" name="Shape 9"/>
          <p:cNvSpPr/>
          <p:nvPr/>
        </p:nvSpPr>
        <p:spPr>
          <a:xfrm>
            <a:off x="2990088" y="3246120"/>
            <a:ext cx="237744" cy="320040"/>
          </a:xfrm>
          <a:prstGeom prst="rect">
            <a:avLst/>
          </a:prstGeom>
          <a:solidFill>
            <a:srgbClr val="8FA0B5"/>
          </a:solidFill>
          <a:ln w="12700">
            <a:solidFill>
              <a:srgbClr val="8FA0B5"/>
            </a:solidFill>
            <a:prstDash val="solid"/>
          </a:ln>
        </p:spPr>
      </p:sp>
      <p:sp>
        <p:nvSpPr>
          <p:cNvPr id="12" name="Shape 10"/>
          <p:cNvSpPr/>
          <p:nvPr/>
        </p:nvSpPr>
        <p:spPr>
          <a:xfrm>
            <a:off x="3319272" y="3017520"/>
            <a:ext cx="237744" cy="548640"/>
          </a:xfrm>
          <a:prstGeom prst="rect">
            <a:avLst/>
          </a:prstGeom>
          <a:solidFill>
            <a:srgbClr val="8FA0B5"/>
          </a:solidFill>
          <a:ln w="12700">
            <a:solidFill>
              <a:srgbClr val="8FA0B5"/>
            </a:solidFill>
            <a:prstDash val="solid"/>
          </a:ln>
        </p:spPr>
      </p:sp>
      <p:sp>
        <p:nvSpPr>
          <p:cNvPr id="13" name="Shape 11"/>
          <p:cNvSpPr/>
          <p:nvPr/>
        </p:nvSpPr>
        <p:spPr>
          <a:xfrm>
            <a:off x="3648456" y="2286000"/>
            <a:ext cx="237744" cy="1280160"/>
          </a:xfrm>
          <a:prstGeom prst="rect">
            <a:avLst/>
          </a:prstGeom>
          <a:solidFill>
            <a:srgbClr val="F08A24"/>
          </a:solidFill>
          <a:ln w="12700">
            <a:solidFill>
              <a:srgbClr val="F08A24"/>
            </a:solidFill>
            <a:prstDash val="solid"/>
          </a:ln>
        </p:spPr>
      </p:sp>
      <p:sp>
        <p:nvSpPr>
          <p:cNvPr id="14" name="Shape 12"/>
          <p:cNvSpPr/>
          <p:nvPr/>
        </p:nvSpPr>
        <p:spPr>
          <a:xfrm>
            <a:off x="3977640" y="1920240"/>
            <a:ext cx="237744" cy="1645920"/>
          </a:xfrm>
          <a:prstGeom prst="rect">
            <a:avLst/>
          </a:prstGeom>
          <a:solidFill>
            <a:srgbClr val="F08A24"/>
          </a:solidFill>
          <a:ln w="12700">
            <a:solidFill>
              <a:srgbClr val="F08A24"/>
            </a:solidFill>
            <a:prstDash val="solid"/>
          </a:ln>
        </p:spPr>
      </p:sp>
      <p:sp>
        <p:nvSpPr>
          <p:cNvPr id="15" name="Shape 13"/>
          <p:cNvSpPr/>
          <p:nvPr/>
        </p:nvSpPr>
        <p:spPr>
          <a:xfrm>
            <a:off x="4306824" y="2743200"/>
            <a:ext cx="237744" cy="822960"/>
          </a:xfrm>
          <a:prstGeom prst="rect">
            <a:avLst/>
          </a:prstGeom>
          <a:solidFill>
            <a:srgbClr val="8FA0B5"/>
          </a:solidFill>
          <a:ln w="12700">
            <a:solidFill>
              <a:srgbClr val="8FA0B5"/>
            </a:solidFill>
            <a:prstDash val="solid"/>
          </a:ln>
        </p:spPr>
      </p:sp>
      <p:sp>
        <p:nvSpPr>
          <p:cNvPr id="16" name="Shape 14"/>
          <p:cNvSpPr/>
          <p:nvPr/>
        </p:nvSpPr>
        <p:spPr>
          <a:xfrm>
            <a:off x="4636008" y="3200400"/>
            <a:ext cx="237744" cy="365760"/>
          </a:xfrm>
          <a:prstGeom prst="rect">
            <a:avLst/>
          </a:prstGeom>
          <a:solidFill>
            <a:srgbClr val="8FA0B5"/>
          </a:solidFill>
          <a:ln w="12700">
            <a:solidFill>
              <a:srgbClr val="8FA0B5"/>
            </a:solidFill>
            <a:prstDash val="solid"/>
          </a:ln>
        </p:spPr>
      </p:sp>
      <p:sp>
        <p:nvSpPr>
          <p:cNvPr id="17" name="Shape 15"/>
          <p:cNvSpPr/>
          <p:nvPr/>
        </p:nvSpPr>
        <p:spPr>
          <a:xfrm>
            <a:off x="4965192" y="3291840"/>
            <a:ext cx="237744" cy="274320"/>
          </a:xfrm>
          <a:prstGeom prst="rect">
            <a:avLst/>
          </a:prstGeom>
          <a:solidFill>
            <a:srgbClr val="8FA0B5"/>
          </a:solidFill>
          <a:ln w="12700">
            <a:solidFill>
              <a:srgbClr val="8FA0B5"/>
            </a:solidFill>
            <a:prstDash val="solid"/>
          </a:ln>
        </p:spPr>
      </p:sp>
      <p:sp>
        <p:nvSpPr>
          <p:cNvPr id="18" name="Shape 16"/>
          <p:cNvSpPr/>
          <p:nvPr/>
        </p:nvSpPr>
        <p:spPr>
          <a:xfrm>
            <a:off x="5294376" y="3108960"/>
            <a:ext cx="237744" cy="457200"/>
          </a:xfrm>
          <a:prstGeom prst="rect">
            <a:avLst/>
          </a:prstGeom>
          <a:solidFill>
            <a:srgbClr val="8FA0B5"/>
          </a:solidFill>
          <a:ln w="12700">
            <a:solidFill>
              <a:srgbClr val="8FA0B5"/>
            </a:solidFill>
            <a:prstDash val="solid"/>
          </a:ln>
        </p:spPr>
      </p:sp>
      <p:sp>
        <p:nvSpPr>
          <p:cNvPr id="19" name="Shape 17"/>
          <p:cNvSpPr/>
          <p:nvPr/>
        </p:nvSpPr>
        <p:spPr>
          <a:xfrm>
            <a:off x="5623560" y="2926080"/>
            <a:ext cx="237744" cy="640080"/>
          </a:xfrm>
          <a:prstGeom prst="rect">
            <a:avLst/>
          </a:prstGeom>
          <a:solidFill>
            <a:srgbClr val="8FA0B5"/>
          </a:solidFill>
          <a:ln w="12700">
            <a:solidFill>
              <a:srgbClr val="8FA0B5"/>
            </a:solidFill>
            <a:prstDash val="solid"/>
          </a:ln>
        </p:spPr>
      </p:sp>
      <p:sp>
        <p:nvSpPr>
          <p:cNvPr id="20" name="Text 18"/>
          <p:cNvSpPr txBox="1"/>
          <p:nvPr/>
        </p:nvSpPr>
        <p:spPr>
          <a:xfrm>
            <a:off x="548640" y="3703320"/>
            <a:ext cx="5669280" cy="365760"/>
          </a:xfrm>
          <a:prstGeom prst="rect">
            <a:avLst/>
          </a:prstGeom>
          <a:noFill/>
          <a:ln/>
        </p:spPr>
        <p:txBody>
          <a:bodyPr wrap="square" lIns="0" tIns="0" rIns="0" bIns="0" rtlCol="0" anchor="t"/>
          <a:lstStyle/>
          <a:p>
            <a:pPr indent="0" marL="0">
              <a:buNone/>
            </a:pPr>
            <a:r>
              <a:rPr lang="en-US" sz="1500" dirty="0">
                <a:solidFill>
                  <a:srgbClr val="5B6B7F"/>
                </a:solidFill>
                <a:latin typeface="Calibri" pitchFamily="34" charset="0"/>
                <a:ea typeface="Calibri" pitchFamily="34" charset="-122"/>
                <a:cs typeface="Calibri" pitchFamily="34" charset="-120"/>
              </a:rPr>
              <a:t>a weight for each of the 64 steps; they add up to 1</a:t>
            </a:r>
            <a:endParaRPr lang="en-US" sz="1500" dirty="0"/>
          </a:p>
        </p:txBody>
      </p:sp>
      <p:sp>
        <p:nvSpPr>
          <p:cNvPr id="21" name="Text 19"/>
          <p:cNvSpPr txBox="1"/>
          <p:nvPr/>
        </p:nvSpPr>
        <p:spPr>
          <a:xfrm>
            <a:off x="548640" y="4023360"/>
            <a:ext cx="2743200" cy="274320"/>
          </a:xfrm>
          <a:prstGeom prst="rect">
            <a:avLst/>
          </a:prstGeom>
          <a:noFill/>
          <a:ln/>
        </p:spPr>
        <p:txBody>
          <a:bodyPr wrap="square" lIns="0" tIns="0" rIns="0" bIns="0" rtlCol="0" anchor="t"/>
          <a:lstStyle/>
          <a:p>
            <a:pPr indent="0" marL="0">
              <a:buNone/>
            </a:pPr>
            <a:r>
              <a:rPr lang="en-US" sz="1200" i="1" dirty="0">
                <a:solidFill>
                  <a:srgbClr val="5B6B7F"/>
                </a:solidFill>
                <a:latin typeface="Calibri" pitchFamily="34" charset="0"/>
                <a:ea typeface="Calibri" pitchFamily="34" charset="-122"/>
                <a:cs typeface="Calibri" pitchFamily="34" charset="-120"/>
              </a:rPr>
              <a:t>illustration</a:t>
            </a:r>
            <a:endParaRPr lang="en-US" sz="1200" dirty="0"/>
          </a:p>
        </p:txBody>
      </p:sp>
      <p:sp>
        <p:nvSpPr>
          <p:cNvPr id="22" name="Text 20"/>
          <p:cNvSpPr txBox="1"/>
          <p:nvPr/>
        </p:nvSpPr>
        <p:spPr>
          <a:xfrm>
            <a:off x="6172200" y="1508760"/>
            <a:ext cx="5486400" cy="594360"/>
          </a:xfrm>
          <a:prstGeom prst="rect">
            <a:avLst/>
          </a:prstGeom>
          <a:noFill/>
          <a:ln/>
        </p:spPr>
        <p:txBody>
          <a:bodyPr wrap="square" lIns="0" tIns="0" rIns="0" bIns="0" rtlCol="0" anchor="ctr"/>
          <a:lstStyle/>
          <a:p>
            <a:pPr indent="0" marL="0">
              <a:buNone/>
            </a:pPr>
            <a:r>
              <a:rPr lang="en-US" sz="2400" b="1" dirty="0">
                <a:solidFill>
                  <a:srgbClr val="F08A24"/>
                </a:solidFill>
                <a:latin typeface="Cambria" pitchFamily="34" charset="0"/>
                <a:ea typeface="Cambria" pitchFamily="34" charset="-122"/>
                <a:cs typeface="Cambria" pitchFamily="34" charset="-120"/>
              </a:rPr>
              <a:t>score</a:t>
            </a:r>
            <a:pPr indent="0" marL="0">
              <a:buNone/>
            </a:pPr>
            <a:r>
              <a:rPr lang="en-US" sz="2400" dirty="0">
                <a:solidFill>
                  <a:srgbClr val="1E293B"/>
                </a:solidFill>
                <a:latin typeface="Cambria" pitchFamily="34" charset="0"/>
                <a:ea typeface="Cambria" pitchFamily="34" charset="-122"/>
                <a:cs typeface="Cambria" pitchFamily="34" charset="-120"/>
              </a:rPr>
              <a:t> = v · tanh(W₁q + W₂k)</a:t>
            </a:r>
            <a:endParaRPr lang="en-US" sz="2400" dirty="0"/>
          </a:p>
        </p:txBody>
      </p:sp>
      <p:sp>
        <p:nvSpPr>
          <p:cNvPr id="23" name="Text 21"/>
          <p:cNvSpPr txBox="1"/>
          <p:nvPr/>
        </p:nvSpPr>
        <p:spPr>
          <a:xfrm>
            <a:off x="6172200" y="2194560"/>
            <a:ext cx="5486400" cy="594360"/>
          </a:xfrm>
          <a:prstGeom prst="rect">
            <a:avLst/>
          </a:prstGeom>
          <a:noFill/>
          <a:ln/>
        </p:spPr>
        <p:txBody>
          <a:bodyPr wrap="square" lIns="0" tIns="0" rIns="0" bIns="0" rtlCol="0" anchor="ctr"/>
          <a:lstStyle/>
          <a:p>
            <a:pPr indent="0" marL="0">
              <a:buNone/>
            </a:pPr>
            <a:r>
              <a:rPr lang="en-US" sz="2400" b="1" dirty="0">
                <a:solidFill>
                  <a:srgbClr val="F08A24"/>
                </a:solidFill>
                <a:latin typeface="Cambria" pitchFamily="34" charset="0"/>
                <a:ea typeface="Cambria" pitchFamily="34" charset="-122"/>
                <a:cs typeface="Cambria" pitchFamily="34" charset="-120"/>
              </a:rPr>
              <a:t>weights</a:t>
            </a:r>
            <a:pPr indent="0" marL="0">
              <a:buNone/>
            </a:pPr>
            <a:r>
              <a:rPr lang="en-US" sz="2400" dirty="0">
                <a:solidFill>
                  <a:srgbClr val="1E293B"/>
                </a:solidFill>
                <a:latin typeface="Cambria" pitchFamily="34" charset="0"/>
                <a:ea typeface="Cambria" pitchFamily="34" charset="-122"/>
                <a:cs typeface="Cambria" pitchFamily="34" charset="-120"/>
              </a:rPr>
              <a:t> = softmax(score)</a:t>
            </a:r>
            <a:endParaRPr lang="en-US" sz="2400" dirty="0"/>
          </a:p>
        </p:txBody>
      </p:sp>
      <p:sp>
        <p:nvSpPr>
          <p:cNvPr id="24" name="Text 22"/>
          <p:cNvSpPr txBox="1"/>
          <p:nvPr/>
        </p:nvSpPr>
        <p:spPr>
          <a:xfrm>
            <a:off x="6172200" y="2880360"/>
            <a:ext cx="5486400" cy="594360"/>
          </a:xfrm>
          <a:prstGeom prst="rect">
            <a:avLst/>
          </a:prstGeom>
          <a:noFill/>
          <a:ln/>
        </p:spPr>
        <p:txBody>
          <a:bodyPr wrap="square" lIns="0" tIns="0" rIns="0" bIns="0" rtlCol="0" anchor="ctr"/>
          <a:lstStyle/>
          <a:p>
            <a:pPr indent="0" marL="0">
              <a:buNone/>
            </a:pPr>
            <a:r>
              <a:rPr lang="en-US" sz="2400" b="1" dirty="0">
                <a:solidFill>
                  <a:srgbClr val="F08A24"/>
                </a:solidFill>
                <a:latin typeface="Cambria" pitchFamily="34" charset="0"/>
                <a:ea typeface="Cambria" pitchFamily="34" charset="-122"/>
                <a:cs typeface="Cambria" pitchFamily="34" charset="-120"/>
              </a:rPr>
              <a:t>output</a:t>
            </a:r>
            <a:pPr indent="0" marL="0">
              <a:buNone/>
            </a:pPr>
            <a:r>
              <a:rPr lang="en-US" sz="2400" dirty="0">
                <a:solidFill>
                  <a:srgbClr val="1E293B"/>
                </a:solidFill>
                <a:latin typeface="Cambria" pitchFamily="34" charset="0"/>
                <a:ea typeface="Cambria" pitchFamily="34" charset="-122"/>
                <a:cs typeface="Cambria" pitchFamily="34" charset="-120"/>
              </a:rPr>
              <a:t> = Σ weightₜ · stepₜ</a:t>
            </a:r>
            <a:endParaRPr lang="en-US" sz="2400" dirty="0"/>
          </a:p>
        </p:txBody>
      </p:sp>
      <p:sp>
        <p:nvSpPr>
          <p:cNvPr id="25" name="Text 23"/>
          <p:cNvSpPr txBox="1"/>
          <p:nvPr/>
        </p:nvSpPr>
        <p:spPr>
          <a:xfrm>
            <a:off x="6172200" y="3657600"/>
            <a:ext cx="5486400" cy="411480"/>
          </a:xfrm>
          <a:prstGeom prst="rect">
            <a:avLst/>
          </a:prstGeom>
          <a:noFill/>
          <a:ln/>
        </p:spPr>
        <p:txBody>
          <a:bodyPr wrap="square" lIns="0" tIns="0" rIns="0" bIns="0" rtlCol="0" anchor="t"/>
          <a:lstStyle/>
          <a:p>
            <a:pPr indent="0" marL="0">
              <a:buNone/>
            </a:pPr>
            <a:r>
              <a:rPr lang="en-US" sz="1900" b="1" dirty="0">
                <a:solidFill>
                  <a:srgbClr val="1E293B"/>
                </a:solidFill>
                <a:latin typeface="Calibri" pitchFamily="34" charset="0"/>
                <a:ea typeface="Calibri" pitchFamily="34" charset="-122"/>
                <a:cs typeface="Calibri" pitchFamily="34" charset="-120"/>
              </a:rPr>
              <a:t>“Improved” (from their code):</a:t>
            </a:r>
            <a:endParaRPr lang="en-US" sz="1900" dirty="0"/>
          </a:p>
        </p:txBody>
      </p:sp>
      <p:sp>
        <p:nvSpPr>
          <p:cNvPr id="26" name="Text 24"/>
          <p:cNvSpPr txBox="1"/>
          <p:nvPr/>
        </p:nvSpPr>
        <p:spPr>
          <a:xfrm>
            <a:off x="6172200" y="4069080"/>
            <a:ext cx="5486400" cy="822960"/>
          </a:xfrm>
          <a:prstGeom prst="rect">
            <a:avLst/>
          </a:prstGeom>
          <a:noFill/>
          <a:ln/>
        </p:spPr>
        <p:txBody>
          <a:bodyPr wrap="square" lIns="0" tIns="0" rIns="0" bIns="0" rtlCol="0" anchor="t"/>
          <a:lstStyle/>
          <a:p>
            <a:pPr indent="0" marL="0">
              <a:buNone/>
            </a:pPr>
            <a:r>
              <a:rPr lang="en-US" sz="1800" dirty="0">
                <a:solidFill>
                  <a:srgbClr val="5B6B7F"/>
                </a:solidFill>
                <a:latin typeface="Calibri" pitchFamily="34" charset="0"/>
                <a:ea typeface="Calibri" pitchFamily="34" charset="-122"/>
                <a:cs typeface="Calibri" pitchFamily="34" charset="-120"/>
              </a:rPr>
              <a:t>a learned scale on the scores · dropout 0.1 on the weights · normalization of the output</a:t>
            </a:r>
            <a:endParaRPr lang="en-US" sz="1800" dirty="0"/>
          </a:p>
        </p:txBody>
      </p:sp>
      <p:sp>
        <p:nvSpPr>
          <p:cNvPr id="27" name="Text 25"/>
          <p:cNvSpPr txBox="1"/>
          <p:nvPr/>
        </p:nvSpPr>
        <p:spPr>
          <a:xfrm>
            <a:off x="548640" y="525780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64 steps in, one vector of 256 out: the frame's summary.</a:t>
            </a:r>
            <a:endParaRPr lang="en-US" sz="2400" dirty="0"/>
          </a:p>
        </p:txBody>
      </p:sp>
      <p:sp>
        <p:nvSpPr>
          <p:cNvPr id="29" name="Text 26"/>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THE PAPER  ·  DENSE</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Block 4: the decision</a:t>
            </a:r>
            <a:endParaRPr lang="en-US" sz="3400" dirty="0"/>
          </a:p>
        </p:txBody>
      </p:sp>
      <p:sp>
        <p:nvSpPr>
          <p:cNvPr id="4" name="Text 2"/>
          <p:cNvSpPr txBox="1"/>
          <p:nvPr/>
        </p:nvSpPr>
        <p:spPr>
          <a:xfrm>
            <a:off x="548640" y="1417320"/>
            <a:ext cx="1188720" cy="30175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8PSK</a:t>
            </a:r>
            <a:endParaRPr lang="en-US" sz="1500" dirty="0"/>
          </a:p>
        </p:txBody>
      </p:sp>
      <p:sp>
        <p:nvSpPr>
          <p:cNvPr id="5" name="Shape 3"/>
          <p:cNvSpPr/>
          <p:nvPr/>
        </p:nvSpPr>
        <p:spPr>
          <a:xfrm>
            <a:off x="1783080" y="1472184"/>
            <a:ext cx="146304" cy="201168"/>
          </a:xfrm>
          <a:prstGeom prst="rect">
            <a:avLst/>
          </a:prstGeom>
          <a:solidFill>
            <a:srgbClr val="8FA0B5"/>
          </a:solidFill>
          <a:ln w="12700">
            <a:solidFill>
              <a:srgbClr val="8FA0B5"/>
            </a:solidFill>
            <a:prstDash val="solid"/>
          </a:ln>
        </p:spPr>
      </p:sp>
      <p:sp>
        <p:nvSpPr>
          <p:cNvPr id="6" name="Text 4"/>
          <p:cNvSpPr txBox="1"/>
          <p:nvPr/>
        </p:nvSpPr>
        <p:spPr>
          <a:xfrm>
            <a:off x="548640" y="1755648"/>
            <a:ext cx="1188720" cy="30175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AM-DSB</a:t>
            </a:r>
            <a:endParaRPr lang="en-US" sz="1500" dirty="0"/>
          </a:p>
        </p:txBody>
      </p:sp>
      <p:sp>
        <p:nvSpPr>
          <p:cNvPr id="7" name="Shape 5"/>
          <p:cNvSpPr/>
          <p:nvPr/>
        </p:nvSpPr>
        <p:spPr>
          <a:xfrm>
            <a:off x="1783080" y="1810512"/>
            <a:ext cx="73152" cy="201168"/>
          </a:xfrm>
          <a:prstGeom prst="rect">
            <a:avLst/>
          </a:prstGeom>
          <a:solidFill>
            <a:srgbClr val="8FA0B5"/>
          </a:solidFill>
          <a:ln w="12700">
            <a:solidFill>
              <a:srgbClr val="8FA0B5"/>
            </a:solidFill>
            <a:prstDash val="solid"/>
          </a:ln>
        </p:spPr>
      </p:sp>
      <p:sp>
        <p:nvSpPr>
          <p:cNvPr id="8" name="Text 6"/>
          <p:cNvSpPr txBox="1"/>
          <p:nvPr/>
        </p:nvSpPr>
        <p:spPr>
          <a:xfrm>
            <a:off x="548640" y="2093976"/>
            <a:ext cx="1188720" cy="30175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AM-SSB</a:t>
            </a:r>
            <a:endParaRPr lang="en-US" sz="1500" dirty="0"/>
          </a:p>
        </p:txBody>
      </p:sp>
      <p:sp>
        <p:nvSpPr>
          <p:cNvPr id="9" name="Shape 7"/>
          <p:cNvSpPr/>
          <p:nvPr/>
        </p:nvSpPr>
        <p:spPr>
          <a:xfrm>
            <a:off x="1783080" y="2148840"/>
            <a:ext cx="109728" cy="201168"/>
          </a:xfrm>
          <a:prstGeom prst="rect">
            <a:avLst/>
          </a:prstGeom>
          <a:solidFill>
            <a:srgbClr val="8FA0B5"/>
          </a:solidFill>
          <a:ln w="12700">
            <a:solidFill>
              <a:srgbClr val="8FA0B5"/>
            </a:solidFill>
            <a:prstDash val="solid"/>
          </a:ln>
        </p:spPr>
      </p:sp>
      <p:sp>
        <p:nvSpPr>
          <p:cNvPr id="10" name="Text 8"/>
          <p:cNvSpPr txBox="1"/>
          <p:nvPr/>
        </p:nvSpPr>
        <p:spPr>
          <a:xfrm>
            <a:off x="548640" y="2432304"/>
            <a:ext cx="1188720" cy="30175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BPSK</a:t>
            </a:r>
            <a:endParaRPr lang="en-US" sz="1500" dirty="0"/>
          </a:p>
        </p:txBody>
      </p:sp>
      <p:sp>
        <p:nvSpPr>
          <p:cNvPr id="11" name="Shape 9"/>
          <p:cNvSpPr/>
          <p:nvPr/>
        </p:nvSpPr>
        <p:spPr>
          <a:xfrm>
            <a:off x="1783080" y="2487168"/>
            <a:ext cx="182880" cy="201168"/>
          </a:xfrm>
          <a:prstGeom prst="rect">
            <a:avLst/>
          </a:prstGeom>
          <a:solidFill>
            <a:srgbClr val="8FA0B5"/>
          </a:solidFill>
          <a:ln w="12700">
            <a:solidFill>
              <a:srgbClr val="8FA0B5"/>
            </a:solidFill>
            <a:prstDash val="solid"/>
          </a:ln>
        </p:spPr>
      </p:sp>
      <p:sp>
        <p:nvSpPr>
          <p:cNvPr id="12" name="Text 10"/>
          <p:cNvSpPr txBox="1"/>
          <p:nvPr/>
        </p:nvSpPr>
        <p:spPr>
          <a:xfrm>
            <a:off x="548640" y="2770632"/>
            <a:ext cx="1188720" cy="30175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CPFSK</a:t>
            </a:r>
            <a:endParaRPr lang="en-US" sz="1500" dirty="0"/>
          </a:p>
        </p:txBody>
      </p:sp>
      <p:sp>
        <p:nvSpPr>
          <p:cNvPr id="13" name="Shape 11"/>
          <p:cNvSpPr/>
          <p:nvPr/>
        </p:nvSpPr>
        <p:spPr>
          <a:xfrm>
            <a:off x="1783080" y="2825496"/>
            <a:ext cx="73152" cy="201168"/>
          </a:xfrm>
          <a:prstGeom prst="rect">
            <a:avLst/>
          </a:prstGeom>
          <a:solidFill>
            <a:srgbClr val="8FA0B5"/>
          </a:solidFill>
          <a:ln w="12700">
            <a:solidFill>
              <a:srgbClr val="8FA0B5"/>
            </a:solidFill>
            <a:prstDash val="solid"/>
          </a:ln>
        </p:spPr>
      </p:sp>
      <p:sp>
        <p:nvSpPr>
          <p:cNvPr id="14" name="Text 12"/>
          <p:cNvSpPr txBox="1"/>
          <p:nvPr/>
        </p:nvSpPr>
        <p:spPr>
          <a:xfrm>
            <a:off x="548640" y="3108960"/>
            <a:ext cx="1188720" cy="30175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GFSK</a:t>
            </a:r>
            <a:endParaRPr lang="en-US" sz="1500" dirty="0"/>
          </a:p>
        </p:txBody>
      </p:sp>
      <p:sp>
        <p:nvSpPr>
          <p:cNvPr id="15" name="Shape 13"/>
          <p:cNvSpPr/>
          <p:nvPr/>
        </p:nvSpPr>
        <p:spPr>
          <a:xfrm>
            <a:off x="1783080" y="3163824"/>
            <a:ext cx="73152" cy="201168"/>
          </a:xfrm>
          <a:prstGeom prst="rect">
            <a:avLst/>
          </a:prstGeom>
          <a:solidFill>
            <a:srgbClr val="8FA0B5"/>
          </a:solidFill>
          <a:ln w="12700">
            <a:solidFill>
              <a:srgbClr val="8FA0B5"/>
            </a:solidFill>
            <a:prstDash val="solid"/>
          </a:ln>
        </p:spPr>
      </p:sp>
      <p:sp>
        <p:nvSpPr>
          <p:cNvPr id="16" name="Text 14"/>
          <p:cNvSpPr txBox="1"/>
          <p:nvPr/>
        </p:nvSpPr>
        <p:spPr>
          <a:xfrm>
            <a:off x="548640" y="3447288"/>
            <a:ext cx="1188720" cy="30175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PAM4</a:t>
            </a:r>
            <a:endParaRPr lang="en-US" sz="1500" dirty="0"/>
          </a:p>
        </p:txBody>
      </p:sp>
      <p:sp>
        <p:nvSpPr>
          <p:cNvPr id="17" name="Shape 15"/>
          <p:cNvSpPr/>
          <p:nvPr/>
        </p:nvSpPr>
        <p:spPr>
          <a:xfrm>
            <a:off x="1783080" y="3502152"/>
            <a:ext cx="109728" cy="201168"/>
          </a:xfrm>
          <a:prstGeom prst="rect">
            <a:avLst/>
          </a:prstGeom>
          <a:solidFill>
            <a:srgbClr val="8FA0B5"/>
          </a:solidFill>
          <a:ln w="12700">
            <a:solidFill>
              <a:srgbClr val="8FA0B5"/>
            </a:solidFill>
            <a:prstDash val="solid"/>
          </a:ln>
        </p:spPr>
      </p:sp>
      <p:sp>
        <p:nvSpPr>
          <p:cNvPr id="18" name="Text 16"/>
          <p:cNvSpPr txBox="1"/>
          <p:nvPr/>
        </p:nvSpPr>
        <p:spPr>
          <a:xfrm>
            <a:off x="548640" y="3785616"/>
            <a:ext cx="1188720" cy="30175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QAM16</a:t>
            </a:r>
            <a:endParaRPr lang="en-US" sz="1500" dirty="0"/>
          </a:p>
        </p:txBody>
      </p:sp>
      <p:sp>
        <p:nvSpPr>
          <p:cNvPr id="19" name="Shape 17"/>
          <p:cNvSpPr/>
          <p:nvPr/>
        </p:nvSpPr>
        <p:spPr>
          <a:xfrm>
            <a:off x="1783080" y="3840480"/>
            <a:ext cx="329184" cy="201168"/>
          </a:xfrm>
          <a:prstGeom prst="rect">
            <a:avLst/>
          </a:prstGeom>
          <a:solidFill>
            <a:srgbClr val="8FA0B5"/>
          </a:solidFill>
          <a:ln w="12700">
            <a:solidFill>
              <a:srgbClr val="8FA0B5"/>
            </a:solidFill>
            <a:prstDash val="solid"/>
          </a:ln>
        </p:spPr>
      </p:sp>
      <p:sp>
        <p:nvSpPr>
          <p:cNvPr id="20" name="Text 18"/>
          <p:cNvSpPr txBox="1"/>
          <p:nvPr/>
        </p:nvSpPr>
        <p:spPr>
          <a:xfrm>
            <a:off x="548640" y="4123944"/>
            <a:ext cx="1188720" cy="30175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QAM64</a:t>
            </a:r>
            <a:endParaRPr lang="en-US" sz="1500" dirty="0"/>
          </a:p>
        </p:txBody>
      </p:sp>
      <p:sp>
        <p:nvSpPr>
          <p:cNvPr id="21" name="Shape 19"/>
          <p:cNvSpPr/>
          <p:nvPr/>
        </p:nvSpPr>
        <p:spPr>
          <a:xfrm>
            <a:off x="1783080" y="4178808"/>
            <a:ext cx="146304" cy="201168"/>
          </a:xfrm>
          <a:prstGeom prst="rect">
            <a:avLst/>
          </a:prstGeom>
          <a:solidFill>
            <a:srgbClr val="8FA0B5"/>
          </a:solidFill>
          <a:ln w="12700">
            <a:solidFill>
              <a:srgbClr val="8FA0B5"/>
            </a:solidFill>
            <a:prstDash val="solid"/>
          </a:ln>
        </p:spPr>
      </p:sp>
      <p:sp>
        <p:nvSpPr>
          <p:cNvPr id="22" name="Text 20"/>
          <p:cNvSpPr txBox="1"/>
          <p:nvPr/>
        </p:nvSpPr>
        <p:spPr>
          <a:xfrm>
            <a:off x="548640" y="4462272"/>
            <a:ext cx="1188720" cy="301752"/>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QPSK</a:t>
            </a:r>
            <a:endParaRPr lang="en-US" sz="1500" dirty="0"/>
          </a:p>
        </p:txBody>
      </p:sp>
      <p:sp>
        <p:nvSpPr>
          <p:cNvPr id="23" name="Shape 21"/>
          <p:cNvSpPr/>
          <p:nvPr/>
        </p:nvSpPr>
        <p:spPr>
          <a:xfrm>
            <a:off x="1783080" y="4517136"/>
            <a:ext cx="2670048" cy="201168"/>
          </a:xfrm>
          <a:prstGeom prst="rect">
            <a:avLst/>
          </a:prstGeom>
          <a:solidFill>
            <a:srgbClr val="F08A24"/>
          </a:solidFill>
          <a:ln w="12700">
            <a:solidFill>
              <a:srgbClr val="F08A24"/>
            </a:solidFill>
            <a:prstDash val="solid"/>
          </a:ln>
        </p:spPr>
      </p:sp>
      <p:sp>
        <p:nvSpPr>
          <p:cNvPr id="24" name="Text 22"/>
          <p:cNvSpPr txBox="1"/>
          <p:nvPr/>
        </p:nvSpPr>
        <p:spPr>
          <a:xfrm>
            <a:off x="548640" y="4800600"/>
            <a:ext cx="1188720" cy="30175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WBFM</a:t>
            </a:r>
            <a:endParaRPr lang="en-US" sz="1500" dirty="0"/>
          </a:p>
        </p:txBody>
      </p:sp>
      <p:sp>
        <p:nvSpPr>
          <p:cNvPr id="25" name="Shape 23"/>
          <p:cNvSpPr/>
          <p:nvPr/>
        </p:nvSpPr>
        <p:spPr>
          <a:xfrm>
            <a:off x="1783080" y="4855464"/>
            <a:ext cx="146304" cy="201168"/>
          </a:xfrm>
          <a:prstGeom prst="rect">
            <a:avLst/>
          </a:prstGeom>
          <a:solidFill>
            <a:srgbClr val="8FA0B5"/>
          </a:solidFill>
          <a:ln w="12700">
            <a:solidFill>
              <a:srgbClr val="8FA0B5"/>
            </a:solidFill>
            <a:prstDash val="solid"/>
          </a:ln>
        </p:spPr>
      </p:sp>
      <p:sp>
        <p:nvSpPr>
          <p:cNvPr id="26" name="Text 24"/>
          <p:cNvSpPr txBox="1"/>
          <p:nvPr/>
        </p:nvSpPr>
        <p:spPr>
          <a:xfrm>
            <a:off x="548640" y="5166360"/>
            <a:ext cx="5760720" cy="365760"/>
          </a:xfrm>
          <a:prstGeom prst="rect">
            <a:avLst/>
          </a:prstGeom>
          <a:noFill/>
          <a:ln/>
        </p:spPr>
        <p:txBody>
          <a:bodyPr wrap="square" lIns="0" tIns="0" rIns="0" bIns="0" rtlCol="0" anchor="t"/>
          <a:lstStyle/>
          <a:p>
            <a:pPr indent="0" marL="0">
              <a:buNone/>
            </a:pPr>
            <a:r>
              <a:rPr lang="en-US" sz="1500" dirty="0">
                <a:solidFill>
                  <a:srgbClr val="5B6B7F"/>
                </a:solidFill>
                <a:latin typeface="Calibri" pitchFamily="34" charset="0"/>
                <a:ea typeface="Calibri" pitchFamily="34" charset="-122"/>
                <a:cs typeface="Calibri" pitchFamily="34" charset="-120"/>
              </a:rPr>
              <a:t>256 → 128 → 64 → 11 probabilities; the largest wins (illustration)</a:t>
            </a:r>
            <a:endParaRPr lang="en-US" sz="1500" dirty="0"/>
          </a:p>
        </p:txBody>
      </p:sp>
      <p:graphicFrame>
        <p:nvGraphicFramePr>
          <p:cNvPr id="27" name="Chart 0" descr=""/>
          <p:cNvGraphicFramePr/>
          <p:nvPr/>
        </p:nvGraphicFramePr>
        <p:xfrm>
          <a:off x="6309360" y="1280160"/>
          <a:ext cx="3108960" cy="3291840"/>
        </p:xfrm>
        <a:graphic xmlns:a="http://schemas.openxmlformats.org/drawingml/2006/main">
          <a:graphicData uri="http://schemas.openxmlformats.org/drawingml/2006/chart">
            <c:chart xmlns:c="http://schemas.openxmlformats.org/drawingml/2006/chart" r:id="rId1"/>
          </a:graphicData>
        </a:graphic>
      </p:graphicFrame>
      <p:sp>
        <p:nvSpPr>
          <p:cNvPr id="28" name="Shape 25"/>
          <p:cNvSpPr/>
          <p:nvPr/>
        </p:nvSpPr>
        <p:spPr>
          <a:xfrm>
            <a:off x="9555480" y="1847088"/>
            <a:ext cx="274320" cy="274320"/>
          </a:xfrm>
          <a:prstGeom prst="rect">
            <a:avLst/>
          </a:prstGeom>
          <a:solidFill>
            <a:srgbClr val="F08A24"/>
          </a:solidFill>
          <a:ln w="12700">
            <a:solidFill>
              <a:srgbClr val="F08A24"/>
            </a:solidFill>
            <a:prstDash val="solid"/>
          </a:ln>
        </p:spPr>
      </p:sp>
      <p:sp>
        <p:nvSpPr>
          <p:cNvPr id="29" name="Text 26"/>
          <p:cNvSpPr txBox="1"/>
          <p:nvPr/>
        </p:nvSpPr>
        <p:spPr>
          <a:xfrm>
            <a:off x="9966960" y="1737360"/>
            <a:ext cx="1828800" cy="502920"/>
          </a:xfrm>
          <a:prstGeom prst="rect">
            <a:avLst/>
          </a:prstGeom>
          <a:noFill/>
          <a:ln/>
        </p:spPr>
        <p:txBody>
          <a:bodyPr wrap="square" lIns="0" tIns="0" rIns="0" bIns="0" rtlCol="0" anchor="ctr"/>
          <a:lstStyle/>
          <a:p>
            <a:pPr indent="0" marL="0">
              <a:buNone/>
            </a:pPr>
            <a:r>
              <a:rPr lang="en-US" sz="1900" b="1" dirty="0">
                <a:solidFill>
                  <a:srgbClr val="1E293B"/>
                </a:solidFill>
                <a:latin typeface="Calibri" pitchFamily="34" charset="0"/>
                <a:ea typeface="Calibri" pitchFamily="34" charset="-122"/>
                <a:cs typeface="Calibri" pitchFamily="34" charset="-120"/>
              </a:rPr>
              <a:t>BiLSTM  83%</a:t>
            </a:r>
            <a:endParaRPr lang="en-US" sz="1900" dirty="0"/>
          </a:p>
        </p:txBody>
      </p:sp>
      <p:sp>
        <p:nvSpPr>
          <p:cNvPr id="30" name="Shape 27"/>
          <p:cNvSpPr/>
          <p:nvPr/>
        </p:nvSpPr>
        <p:spPr>
          <a:xfrm>
            <a:off x="9555480" y="2414016"/>
            <a:ext cx="274320" cy="274320"/>
          </a:xfrm>
          <a:prstGeom prst="rect">
            <a:avLst/>
          </a:prstGeom>
          <a:solidFill>
            <a:srgbClr val="0F1B2D"/>
          </a:solidFill>
          <a:ln w="12700">
            <a:solidFill>
              <a:srgbClr val="0F1B2D"/>
            </a:solidFill>
            <a:prstDash val="solid"/>
          </a:ln>
        </p:spPr>
      </p:sp>
      <p:sp>
        <p:nvSpPr>
          <p:cNvPr id="31" name="Text 28"/>
          <p:cNvSpPr txBox="1"/>
          <p:nvPr/>
        </p:nvSpPr>
        <p:spPr>
          <a:xfrm>
            <a:off x="9966960" y="2304288"/>
            <a:ext cx="1828800" cy="502920"/>
          </a:xfrm>
          <a:prstGeom prst="rect">
            <a:avLst/>
          </a:prstGeom>
          <a:noFill/>
          <a:ln/>
        </p:spPr>
        <p:txBody>
          <a:bodyPr wrap="square" lIns="0" tIns="0" rIns="0" bIns="0" rtlCol="0" anchor="ctr"/>
          <a:lstStyle/>
          <a:p>
            <a:pPr indent="0" marL="0">
              <a:buNone/>
            </a:pPr>
            <a:r>
              <a:rPr lang="en-US" sz="1900" dirty="0">
                <a:solidFill>
                  <a:srgbClr val="1E293B"/>
                </a:solidFill>
                <a:latin typeface="Calibri" pitchFamily="34" charset="0"/>
                <a:ea typeface="Calibri" pitchFamily="34" charset="-122"/>
                <a:cs typeface="Calibri" pitchFamily="34" charset="-120"/>
              </a:rPr>
              <a:t>Attention  8%</a:t>
            </a:r>
            <a:endParaRPr lang="en-US" sz="1900" dirty="0"/>
          </a:p>
        </p:txBody>
      </p:sp>
      <p:sp>
        <p:nvSpPr>
          <p:cNvPr id="32" name="Shape 29"/>
          <p:cNvSpPr/>
          <p:nvPr/>
        </p:nvSpPr>
        <p:spPr>
          <a:xfrm>
            <a:off x="9555480" y="2980944"/>
            <a:ext cx="274320" cy="274320"/>
          </a:xfrm>
          <a:prstGeom prst="rect">
            <a:avLst/>
          </a:prstGeom>
          <a:solidFill>
            <a:srgbClr val="8FA0B5"/>
          </a:solidFill>
          <a:ln w="12700">
            <a:solidFill>
              <a:srgbClr val="8FA0B5"/>
            </a:solidFill>
            <a:prstDash val="solid"/>
          </a:ln>
        </p:spPr>
      </p:sp>
      <p:sp>
        <p:nvSpPr>
          <p:cNvPr id="33" name="Text 30"/>
          <p:cNvSpPr txBox="1"/>
          <p:nvPr/>
        </p:nvSpPr>
        <p:spPr>
          <a:xfrm>
            <a:off x="9966960" y="2871216"/>
            <a:ext cx="1828800" cy="502920"/>
          </a:xfrm>
          <a:prstGeom prst="rect">
            <a:avLst/>
          </a:prstGeom>
          <a:noFill/>
          <a:ln/>
        </p:spPr>
        <p:txBody>
          <a:bodyPr wrap="square" lIns="0" tIns="0" rIns="0" bIns="0" rtlCol="0" anchor="ctr"/>
          <a:lstStyle/>
          <a:p>
            <a:pPr indent="0" marL="0">
              <a:buNone/>
            </a:pPr>
            <a:r>
              <a:rPr lang="en-US" sz="1900" dirty="0">
                <a:solidFill>
                  <a:srgbClr val="1E293B"/>
                </a:solidFill>
                <a:latin typeface="Calibri" pitchFamily="34" charset="0"/>
                <a:ea typeface="Calibri" pitchFamily="34" charset="-122"/>
                <a:cs typeface="Calibri" pitchFamily="34" charset="-120"/>
              </a:rPr>
              <a:t>Dense  5%</a:t>
            </a:r>
            <a:endParaRPr lang="en-US" sz="1900" dirty="0"/>
          </a:p>
        </p:txBody>
      </p:sp>
      <p:sp>
        <p:nvSpPr>
          <p:cNvPr id="34" name="Shape 31"/>
          <p:cNvSpPr/>
          <p:nvPr/>
        </p:nvSpPr>
        <p:spPr>
          <a:xfrm>
            <a:off x="9555480" y="3547872"/>
            <a:ext cx="274320" cy="274320"/>
          </a:xfrm>
          <a:prstGeom prst="rect">
            <a:avLst/>
          </a:prstGeom>
          <a:solidFill>
            <a:srgbClr val="B7C3D0"/>
          </a:solidFill>
          <a:ln w="12700">
            <a:solidFill>
              <a:srgbClr val="B7C3D0"/>
            </a:solidFill>
            <a:prstDash val="solid"/>
          </a:ln>
        </p:spPr>
      </p:sp>
      <p:sp>
        <p:nvSpPr>
          <p:cNvPr id="35" name="Text 32"/>
          <p:cNvSpPr txBox="1"/>
          <p:nvPr/>
        </p:nvSpPr>
        <p:spPr>
          <a:xfrm>
            <a:off x="9966960" y="3438144"/>
            <a:ext cx="1828800" cy="502920"/>
          </a:xfrm>
          <a:prstGeom prst="rect">
            <a:avLst/>
          </a:prstGeom>
          <a:noFill/>
          <a:ln/>
        </p:spPr>
        <p:txBody>
          <a:bodyPr wrap="square" lIns="0" tIns="0" rIns="0" bIns="0" rtlCol="0" anchor="ctr"/>
          <a:lstStyle/>
          <a:p>
            <a:pPr indent="0" marL="0">
              <a:buNone/>
            </a:pPr>
            <a:r>
              <a:rPr lang="en-US" sz="1900" dirty="0">
                <a:solidFill>
                  <a:srgbClr val="1E293B"/>
                </a:solidFill>
                <a:latin typeface="Calibri" pitchFamily="34" charset="0"/>
                <a:ea typeface="Calibri" pitchFamily="34" charset="-122"/>
                <a:cs typeface="Calibri" pitchFamily="34" charset="-120"/>
              </a:rPr>
              <a:t>CNN  3%</a:t>
            </a:r>
            <a:endParaRPr lang="en-US" sz="1900" dirty="0"/>
          </a:p>
        </p:txBody>
      </p:sp>
      <p:sp>
        <p:nvSpPr>
          <p:cNvPr id="36" name="Text 33"/>
          <p:cNvSpPr txBox="1"/>
          <p:nvPr/>
        </p:nvSpPr>
        <p:spPr>
          <a:xfrm>
            <a:off x="6309360" y="4663440"/>
            <a:ext cx="5486400" cy="457200"/>
          </a:xfrm>
          <a:prstGeom prst="rect">
            <a:avLst/>
          </a:prstGeom>
          <a:noFill/>
          <a:ln/>
        </p:spPr>
        <p:txBody>
          <a:bodyPr wrap="square" lIns="0" tIns="0" rIns="0" bIns="0" rtlCol="0" anchor="t"/>
          <a:lstStyle/>
          <a:p>
            <a:pPr indent="0" marL="0">
              <a:buNone/>
            </a:pPr>
            <a:r>
              <a:rPr lang="en-US" sz="2000" b="1" dirty="0">
                <a:solidFill>
                  <a:srgbClr val="1E293B"/>
                </a:solidFill>
                <a:latin typeface="Calibri" pitchFamily="34" charset="0"/>
                <a:ea typeface="Calibri" pitchFamily="34" charset="-122"/>
                <a:cs typeface="Calibri" pitchFamily="34" charset="-120"/>
              </a:rPr>
              <a:t>794,188 numbers in total</a:t>
            </a:r>
            <a:endParaRPr lang="en-US" sz="2000" dirty="0"/>
          </a:p>
        </p:txBody>
      </p:sp>
      <p:sp>
        <p:nvSpPr>
          <p:cNvPr id="37" name="Text 34"/>
          <p:cNvSpPr txBox="1"/>
          <p:nvPr/>
        </p:nvSpPr>
        <p:spPr>
          <a:xfrm>
            <a:off x="548640" y="562356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Most of the model is the LSTM.</a:t>
            </a:r>
            <a:endParaRPr lang="en-US" sz="2400" dirty="0"/>
          </a:p>
        </p:txBody>
      </p:sp>
      <p:sp>
        <p:nvSpPr>
          <p:cNvPr id="39" name="Text 35"/>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THE PAPER  ·  TABLE 2 AND THEIR CODE</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How it is trained</a:t>
            </a:r>
            <a:endParaRPr lang="en-US" sz="3400" dirty="0"/>
          </a:p>
        </p:txBody>
      </p:sp>
      <p:sp>
        <p:nvSpPr>
          <p:cNvPr id="4" name="Shape 2"/>
          <p:cNvSpPr/>
          <p:nvPr/>
        </p:nvSpPr>
        <p:spPr>
          <a:xfrm>
            <a:off x="548640" y="1463040"/>
            <a:ext cx="3520440" cy="3566160"/>
          </a:xfrm>
          <a:prstGeom prst="roundRect">
            <a:avLst>
              <a:gd name="adj" fmla="val 3117"/>
            </a:avLst>
          </a:prstGeom>
          <a:solidFill>
            <a:srgbClr val="EEF2F6"/>
          </a:solidFill>
          <a:ln w="12700">
            <a:solidFill>
              <a:srgbClr val="EEF2F6"/>
            </a:solidFill>
            <a:prstDash val="solid"/>
          </a:ln>
        </p:spPr>
      </p:sp>
      <p:sp>
        <p:nvSpPr>
          <p:cNvPr id="5" name="Text 3"/>
          <p:cNvSpPr txBox="1"/>
          <p:nvPr/>
        </p:nvSpPr>
        <p:spPr>
          <a:xfrm>
            <a:off x="822960" y="1600200"/>
            <a:ext cx="3017520" cy="411480"/>
          </a:xfrm>
          <a:prstGeom prst="rect">
            <a:avLst/>
          </a:prstGeom>
          <a:noFill/>
          <a:ln/>
        </p:spPr>
        <p:txBody>
          <a:bodyPr wrap="square" lIns="0" tIns="0" rIns="0" bIns="0" rtlCol="0" anchor="t"/>
          <a:lstStyle/>
          <a:p>
            <a:pPr indent="0" marL="0">
              <a:buNone/>
            </a:pPr>
            <a:r>
              <a:rPr lang="en-US" sz="1600" b="1" spc="200" kern="0" dirty="0">
                <a:solidFill>
                  <a:srgbClr val="F08A24"/>
                </a:solidFill>
                <a:latin typeface="Calibri" pitchFamily="34" charset="0"/>
                <a:ea typeface="Calibri" pitchFamily="34" charset="-122"/>
                <a:cs typeface="Calibri" pitchFamily="34" charset="-120"/>
              </a:rPr>
              <a:t>DATA</a:t>
            </a:r>
            <a:endParaRPr lang="en-US" sz="1600" dirty="0"/>
          </a:p>
        </p:txBody>
      </p:sp>
      <p:sp>
        <p:nvSpPr>
          <p:cNvPr id="6" name="Text 4"/>
          <p:cNvSpPr txBox="1"/>
          <p:nvPr/>
        </p:nvSpPr>
        <p:spPr>
          <a:xfrm>
            <a:off x="822960" y="2148840"/>
            <a:ext cx="3063240" cy="2743200"/>
          </a:xfrm>
          <a:prstGeom prst="rect">
            <a:avLst/>
          </a:prstGeom>
          <a:noFill/>
          <a:ln/>
        </p:spPr>
        <p:txBody>
          <a:bodyPr wrap="square" lIns="0" tIns="0" rIns="0" bIns="0" rtlCol="0" anchor="t"/>
          <a:lstStyle/>
          <a:p>
            <a:pPr indent="0" marL="0">
              <a:spcAft>
                <a:spcPts val="1000"/>
              </a:spcAft>
              <a:buNone/>
            </a:pPr>
            <a:r>
              <a:rPr lang="en-US" sz="2000" dirty="0">
                <a:solidFill>
                  <a:srgbClr val="1E293B"/>
                </a:solidFill>
                <a:latin typeface="Calibri" pitchFamily="34" charset="0"/>
                <a:ea typeface="Calibri" pitchFamily="34" charset="-122"/>
                <a:cs typeface="Calibri" pitchFamily="34" charset="-120"/>
              </a:rPr>
              <a:t>70% learn: 154,000 frames</a:t>
            </a:r>
            <a:endParaRPr lang="en-US" sz="2000" dirty="0"/>
          </a:p>
          <a:p>
            <a:pPr indent="0" marL="0">
              <a:spcAft>
                <a:spcPts val="1000"/>
              </a:spcAft>
              <a:buNone/>
            </a:pPr>
            <a:r>
              <a:rPr lang="en-US" sz="2000" dirty="0">
                <a:solidFill>
                  <a:srgbClr val="1E293B"/>
                </a:solidFill>
                <a:latin typeface="Calibri" pitchFamily="34" charset="0"/>
                <a:ea typeface="Calibri" pitchFamily="34" charset="-122"/>
                <a:cs typeface="Calibri" pitchFamily="34" charset="-120"/>
              </a:rPr>
              <a:t>15% watch: 33,000</a:t>
            </a:r>
            <a:endParaRPr lang="en-US" sz="2000" dirty="0"/>
          </a:p>
          <a:p>
            <a:pPr indent="0" marL="0">
              <a:spcAft>
                <a:spcPts val="1000"/>
              </a:spcAft>
              <a:buNone/>
            </a:pPr>
            <a:r>
              <a:rPr lang="en-US" sz="2000" dirty="0">
                <a:solidFill>
                  <a:srgbClr val="1E293B"/>
                </a:solidFill>
                <a:latin typeface="Calibri" pitchFamily="34" charset="0"/>
                <a:ea typeface="Calibri" pitchFamily="34" charset="-122"/>
                <a:cs typeface="Calibri" pitchFamily="34" charset="-120"/>
              </a:rPr>
              <a:t>15% test: 33,000</a:t>
            </a:r>
            <a:endParaRPr lang="en-US" sz="2000" dirty="0"/>
          </a:p>
        </p:txBody>
      </p:sp>
      <p:sp>
        <p:nvSpPr>
          <p:cNvPr id="7" name="Shape 5"/>
          <p:cNvSpPr/>
          <p:nvPr/>
        </p:nvSpPr>
        <p:spPr>
          <a:xfrm>
            <a:off x="4343400" y="1463040"/>
            <a:ext cx="3520440" cy="3566160"/>
          </a:xfrm>
          <a:prstGeom prst="roundRect">
            <a:avLst>
              <a:gd name="adj" fmla="val 3117"/>
            </a:avLst>
          </a:prstGeom>
          <a:solidFill>
            <a:srgbClr val="EEF2F6"/>
          </a:solidFill>
          <a:ln w="12700">
            <a:solidFill>
              <a:srgbClr val="EEF2F6"/>
            </a:solidFill>
            <a:prstDash val="solid"/>
          </a:ln>
        </p:spPr>
      </p:sp>
      <p:sp>
        <p:nvSpPr>
          <p:cNvPr id="8" name="Text 6"/>
          <p:cNvSpPr txBox="1"/>
          <p:nvPr/>
        </p:nvSpPr>
        <p:spPr>
          <a:xfrm>
            <a:off x="4617720" y="1600200"/>
            <a:ext cx="3017520" cy="411480"/>
          </a:xfrm>
          <a:prstGeom prst="rect">
            <a:avLst/>
          </a:prstGeom>
          <a:noFill/>
          <a:ln/>
        </p:spPr>
        <p:txBody>
          <a:bodyPr wrap="square" lIns="0" tIns="0" rIns="0" bIns="0" rtlCol="0" anchor="t"/>
          <a:lstStyle/>
          <a:p>
            <a:pPr indent="0" marL="0">
              <a:buNone/>
            </a:pPr>
            <a:r>
              <a:rPr lang="en-US" sz="1600" b="1" spc="200" kern="0" dirty="0">
                <a:solidFill>
                  <a:srgbClr val="F08A24"/>
                </a:solidFill>
                <a:latin typeface="Calibri" pitchFamily="34" charset="0"/>
                <a:ea typeface="Calibri" pitchFamily="34" charset="-122"/>
                <a:cs typeface="Calibri" pitchFamily="34" charset="-120"/>
              </a:rPr>
              <a:t>LOOP</a:t>
            </a:r>
            <a:endParaRPr lang="en-US" sz="1600" dirty="0"/>
          </a:p>
        </p:txBody>
      </p:sp>
      <p:sp>
        <p:nvSpPr>
          <p:cNvPr id="9" name="Text 7"/>
          <p:cNvSpPr txBox="1"/>
          <p:nvPr/>
        </p:nvSpPr>
        <p:spPr>
          <a:xfrm>
            <a:off x="4617720" y="2148840"/>
            <a:ext cx="3063240" cy="2743200"/>
          </a:xfrm>
          <a:prstGeom prst="rect">
            <a:avLst/>
          </a:prstGeom>
          <a:noFill/>
          <a:ln/>
        </p:spPr>
        <p:txBody>
          <a:bodyPr wrap="square" lIns="0" tIns="0" rIns="0" bIns="0" rtlCol="0" anchor="t"/>
          <a:lstStyle/>
          <a:p>
            <a:pPr indent="0" marL="0">
              <a:spcAft>
                <a:spcPts val="1000"/>
              </a:spcAft>
              <a:buNone/>
            </a:pPr>
            <a:r>
              <a:rPr lang="en-US" sz="2000" dirty="0">
                <a:solidFill>
                  <a:srgbClr val="1E293B"/>
                </a:solidFill>
                <a:latin typeface="Calibri" pitchFamily="34" charset="0"/>
                <a:ea typeface="Calibri" pitchFamily="34" charset="-122"/>
                <a:cs typeface="Calibri" pitchFamily="34" charset="-120"/>
              </a:rPr>
              <a:t>batches of 32 frames</a:t>
            </a:r>
            <a:endParaRPr lang="en-US" sz="2000" dirty="0"/>
          </a:p>
          <a:p>
            <a:pPr indent="0" marL="0">
              <a:spcAft>
                <a:spcPts val="1000"/>
              </a:spcAft>
              <a:buNone/>
            </a:pPr>
            <a:r>
              <a:rPr lang="en-US" sz="2000" dirty="0">
                <a:solidFill>
                  <a:srgbClr val="1E293B"/>
                </a:solidFill>
                <a:latin typeface="Calibri" pitchFamily="34" charset="0"/>
                <a:ea typeface="Calibri" pitchFamily="34" charset="-122"/>
                <a:cs typeface="Calibri" pitchFamily="34" charset="-120"/>
              </a:rPr>
              <a:t>4,813 steps per epoch</a:t>
            </a:r>
            <a:endParaRPr lang="en-US" sz="2000" dirty="0"/>
          </a:p>
          <a:p>
            <a:pPr indent="0" marL="0">
              <a:spcAft>
                <a:spcPts val="1000"/>
              </a:spcAft>
              <a:buNone/>
            </a:pPr>
            <a:r>
              <a:rPr lang="en-US" sz="2000" dirty="0">
                <a:solidFill>
                  <a:srgbClr val="1E293B"/>
                </a:solidFill>
                <a:latin typeface="Calibri" pitchFamily="34" charset="0"/>
                <a:ea typeface="Calibri" pitchFamily="34" charset="-122"/>
                <a:cs typeface="Calibri" pitchFamily="34" charset="-120"/>
              </a:rPr>
              <a:t>loss: cross-entropy</a:t>
            </a:r>
            <a:endParaRPr lang="en-US" sz="2000" dirty="0"/>
          </a:p>
          <a:p>
            <a:pPr indent="0" marL="0">
              <a:spcAft>
                <a:spcPts val="1000"/>
              </a:spcAft>
              <a:buNone/>
            </a:pPr>
            <a:r>
              <a:rPr lang="en-US" sz="2000" dirty="0">
                <a:solidFill>
                  <a:srgbClr val="1E293B"/>
                </a:solidFill>
                <a:latin typeface="Calibri" pitchFamily="34" charset="0"/>
                <a:ea typeface="Calibri" pitchFamily="34" charset="-122"/>
                <a:cs typeface="Calibri" pitchFamily="34" charset="-120"/>
              </a:rPr>
              <a:t>Adam, learning rate 0.001</a:t>
            </a:r>
            <a:endParaRPr lang="en-US" sz="2000" dirty="0"/>
          </a:p>
        </p:txBody>
      </p:sp>
      <p:sp>
        <p:nvSpPr>
          <p:cNvPr id="10" name="Shape 8"/>
          <p:cNvSpPr/>
          <p:nvPr/>
        </p:nvSpPr>
        <p:spPr>
          <a:xfrm>
            <a:off x="8138160" y="1463040"/>
            <a:ext cx="3502152" cy="3566160"/>
          </a:xfrm>
          <a:prstGeom prst="roundRect">
            <a:avLst>
              <a:gd name="adj" fmla="val 3133"/>
            </a:avLst>
          </a:prstGeom>
          <a:solidFill>
            <a:srgbClr val="0F1B2D"/>
          </a:solidFill>
          <a:ln w="12700">
            <a:solidFill>
              <a:srgbClr val="0F1B2D"/>
            </a:solidFill>
            <a:prstDash val="solid"/>
          </a:ln>
        </p:spPr>
      </p:sp>
      <p:sp>
        <p:nvSpPr>
          <p:cNvPr id="11" name="Text 9"/>
          <p:cNvSpPr txBox="1"/>
          <p:nvPr/>
        </p:nvSpPr>
        <p:spPr>
          <a:xfrm>
            <a:off x="8412480" y="1600200"/>
            <a:ext cx="2743200" cy="411480"/>
          </a:xfrm>
          <a:prstGeom prst="rect">
            <a:avLst/>
          </a:prstGeom>
          <a:noFill/>
          <a:ln/>
        </p:spPr>
        <p:txBody>
          <a:bodyPr wrap="square" lIns="0" tIns="0" rIns="0" bIns="0" rtlCol="0" anchor="t"/>
          <a:lstStyle/>
          <a:p>
            <a:pPr indent="0" marL="0">
              <a:buNone/>
            </a:pPr>
            <a:r>
              <a:rPr lang="en-US" sz="1600" b="1" spc="200" kern="0" dirty="0">
                <a:solidFill>
                  <a:srgbClr val="F08A24"/>
                </a:solidFill>
                <a:latin typeface="Calibri" pitchFamily="34" charset="0"/>
                <a:ea typeface="Calibri" pitchFamily="34" charset="-122"/>
                <a:cs typeface="Calibri" pitchFamily="34" charset="-120"/>
              </a:rPr>
              <a:t>STOPPING</a:t>
            </a:r>
            <a:endParaRPr lang="en-US" sz="1600" dirty="0"/>
          </a:p>
        </p:txBody>
      </p:sp>
      <p:sp>
        <p:nvSpPr>
          <p:cNvPr id="12" name="Text 10"/>
          <p:cNvSpPr txBox="1"/>
          <p:nvPr/>
        </p:nvSpPr>
        <p:spPr>
          <a:xfrm>
            <a:off x="8412480" y="2103120"/>
            <a:ext cx="3291840" cy="1463040"/>
          </a:xfrm>
          <a:prstGeom prst="rect">
            <a:avLst/>
          </a:prstGeom>
          <a:noFill/>
          <a:ln/>
        </p:spPr>
        <p:txBody>
          <a:bodyPr wrap="square" lIns="0" tIns="0" rIns="0" bIns="0" rtlCol="0" anchor="t"/>
          <a:lstStyle/>
          <a:p>
            <a:pPr indent="0" marL="0">
              <a:spcAft>
                <a:spcPts val="600"/>
              </a:spcAft>
              <a:buNone/>
            </a:pPr>
            <a:r>
              <a:rPr lang="en-US" sz="1800" dirty="0">
                <a:solidFill>
                  <a:srgbClr val="FFFFFF"/>
                </a:solidFill>
                <a:latin typeface="Calibri" pitchFamily="34" charset="0"/>
                <a:ea typeface="Calibri" pitchFamily="34" charset="-122"/>
                <a:cs typeface="Calibri" pitchFamily="34" charset="-120"/>
              </a:rPr>
              <a:t>loss flat 5 epochs: rate × 0.2</a:t>
            </a:r>
            <a:endParaRPr lang="en-US" sz="1800" dirty="0"/>
          </a:p>
          <a:p>
            <a:pPr indent="0" marL="0">
              <a:spcAft>
                <a:spcPts val="600"/>
              </a:spcAft>
              <a:buNone/>
            </a:pPr>
            <a:r>
              <a:rPr lang="en-US" sz="1800" dirty="0">
                <a:solidFill>
                  <a:srgbClr val="FFFFFF"/>
                </a:solidFill>
                <a:latin typeface="Calibri" pitchFamily="34" charset="0"/>
                <a:ea typeface="Calibri" pitchFamily="34" charset="-122"/>
                <a:cs typeface="Calibri" pitchFamily="34" charset="-120"/>
              </a:rPr>
              <a:t>loss flat 6 epochs: stop</a:t>
            </a:r>
            <a:endParaRPr lang="en-US" sz="1800" dirty="0"/>
          </a:p>
          <a:p>
            <a:pPr indent="0" marL="0">
              <a:spcAft>
                <a:spcPts val="600"/>
              </a:spcAft>
              <a:buNone/>
            </a:pPr>
            <a:r>
              <a:rPr lang="en-US" sz="1800" dirty="0">
                <a:solidFill>
                  <a:srgbClr val="FFFFFF"/>
                </a:solidFill>
                <a:latin typeface="Calibri" pitchFamily="34" charset="0"/>
                <a:ea typeface="Calibri" pitchFamily="34" charset="-122"/>
                <a:cs typeface="Calibri" pitchFamily="34" charset="-120"/>
              </a:rPr>
              <a:t>at most 100 epochs</a:t>
            </a:r>
            <a:endParaRPr lang="en-US" sz="1800" dirty="0"/>
          </a:p>
        </p:txBody>
      </p:sp>
      <p:sp>
        <p:nvSpPr>
          <p:cNvPr id="13" name="Text 11"/>
          <p:cNvSpPr txBox="1"/>
          <p:nvPr/>
        </p:nvSpPr>
        <p:spPr>
          <a:xfrm>
            <a:off x="8412480" y="3520440"/>
            <a:ext cx="1463040" cy="914400"/>
          </a:xfrm>
          <a:prstGeom prst="rect">
            <a:avLst/>
          </a:prstGeom>
          <a:noFill/>
          <a:ln/>
        </p:spPr>
        <p:txBody>
          <a:bodyPr wrap="square" lIns="0" tIns="0" rIns="0" bIns="0" rtlCol="0" anchor="ctr"/>
          <a:lstStyle/>
          <a:p>
            <a:pPr indent="0" marL="0">
              <a:buNone/>
            </a:pPr>
            <a:r>
              <a:rPr lang="en-US" sz="5400" b="1" dirty="0">
                <a:solidFill>
                  <a:srgbClr val="F08A24"/>
                </a:solidFill>
                <a:latin typeface="Calibri" pitchFamily="34" charset="0"/>
                <a:ea typeface="Calibri" pitchFamily="34" charset="-122"/>
                <a:cs typeface="Calibri" pitchFamily="34" charset="-120"/>
              </a:rPr>
              <a:t>58</a:t>
            </a:r>
            <a:endParaRPr lang="en-US" sz="5400" dirty="0"/>
          </a:p>
        </p:txBody>
      </p:sp>
      <p:sp>
        <p:nvSpPr>
          <p:cNvPr id="14" name="Text 12"/>
          <p:cNvSpPr txBox="1"/>
          <p:nvPr/>
        </p:nvSpPr>
        <p:spPr>
          <a:xfrm>
            <a:off x="9875520" y="3520440"/>
            <a:ext cx="1828800" cy="914400"/>
          </a:xfrm>
          <a:prstGeom prst="rect">
            <a:avLst/>
          </a:prstGeom>
          <a:noFill/>
          <a:ln/>
        </p:spPr>
        <p:txBody>
          <a:bodyPr wrap="square" lIns="0" tIns="0" rIns="0" bIns="0" rtlCol="0" anchor="ctr"/>
          <a:lstStyle/>
          <a:p>
            <a:pPr indent="0" marL="0">
              <a:buNone/>
            </a:pPr>
            <a:r>
              <a:rPr lang="en-US" sz="1800" dirty="0">
                <a:solidFill>
                  <a:srgbClr val="C9D3E0"/>
                </a:solidFill>
                <a:latin typeface="Calibri" pitchFamily="34" charset="0"/>
                <a:ea typeface="Calibri" pitchFamily="34" charset="-122"/>
                <a:cs typeface="Calibri" pitchFamily="34" charset="-120"/>
              </a:rPr>
              <a:t>where it stopped</a:t>
            </a:r>
            <a:endParaRPr lang="en-US" sz="1800" dirty="0"/>
          </a:p>
        </p:txBody>
      </p:sp>
      <p:sp>
        <p:nvSpPr>
          <p:cNvPr id="15" name="Text 13"/>
          <p:cNvSpPr txBox="1"/>
          <p:nvPr/>
        </p:nvSpPr>
        <p:spPr>
          <a:xfrm>
            <a:off x="548640" y="534924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Trained once: one split, one run.</a:t>
            </a:r>
            <a:endParaRPr lang="en-US" sz="2400" dirty="0"/>
          </a:p>
        </p:txBody>
      </p:sp>
      <p:sp>
        <p:nvSpPr>
          <p:cNvPr id="17" name="Text 14"/>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PART 2  ·  THEIR CODE</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What their code tells us</a:t>
            </a:r>
            <a:endParaRPr lang="en-US" sz="3400" dirty="0"/>
          </a:p>
        </p:txBody>
      </p:sp>
      <p:sp>
        <p:nvSpPr>
          <p:cNvPr id="4" name="Shape 2"/>
          <p:cNvSpPr/>
          <p:nvPr/>
        </p:nvSpPr>
        <p:spPr>
          <a:xfrm>
            <a:off x="548640" y="1600200"/>
            <a:ext cx="640080" cy="640080"/>
          </a:xfrm>
          <a:prstGeom prst="ellipse">
            <a:avLst/>
          </a:prstGeom>
          <a:solidFill>
            <a:srgbClr val="0F1B2D"/>
          </a:solidFill>
          <a:ln w="12700">
            <a:solidFill>
              <a:srgbClr val="0F1B2D"/>
            </a:solidFill>
            <a:prstDash val="solid"/>
          </a:ln>
        </p:spPr>
      </p:sp>
      <p:sp>
        <p:nvSpPr>
          <p:cNvPr id="5" name="Text 3"/>
          <p:cNvSpPr txBox="1"/>
          <p:nvPr/>
        </p:nvSpPr>
        <p:spPr>
          <a:xfrm>
            <a:off x="548640" y="16002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6" name="Text 4"/>
          <p:cNvSpPr txBox="1"/>
          <p:nvPr/>
        </p:nvSpPr>
        <p:spPr>
          <a:xfrm>
            <a:off x="1463040" y="1463040"/>
            <a:ext cx="10177272" cy="548640"/>
          </a:xfrm>
          <a:prstGeom prst="rect">
            <a:avLst/>
          </a:prstGeom>
          <a:noFill/>
          <a:ln/>
        </p:spPr>
        <p:txBody>
          <a:bodyPr wrap="square" lIns="0" tIns="0" rIns="0" bIns="0"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The model is the one in the paper</a:t>
            </a:r>
            <a:endParaRPr lang="en-US" sz="2600" dirty="0"/>
          </a:p>
        </p:txBody>
      </p:sp>
      <p:sp>
        <p:nvSpPr>
          <p:cNvPr id="7" name="Text 5"/>
          <p:cNvSpPr txBox="1"/>
          <p:nvPr/>
        </p:nvSpPr>
        <p:spPr>
          <a:xfrm>
            <a:off x="1463040" y="2011680"/>
            <a:ext cx="10177272" cy="502920"/>
          </a:xfrm>
          <a:prstGeom prst="rect">
            <a:avLst/>
          </a:prstGeom>
          <a:noFill/>
          <a:ln/>
        </p:spPr>
        <p:txBody>
          <a:bodyPr wrap="square" lIns="0" tIns="0" rIns="0" bIns="0" rtlCol="0" anchor="ctr"/>
          <a:lstStyle/>
          <a:p>
            <a:pPr indent="0" marL="0">
              <a:buNone/>
            </a:pPr>
            <a:r>
              <a:rPr lang="en-US" sz="2000" dirty="0">
                <a:solidFill>
                  <a:srgbClr val="5B6B7F"/>
                </a:solidFill>
                <a:latin typeface="Calibri" pitchFamily="34" charset="0"/>
                <a:ea typeface="Calibri" pitchFamily="34" charset="-122"/>
                <a:cs typeface="Calibri" pitchFamily="34" charset="-120"/>
              </a:rPr>
              <a:t>same layers, 794,188 numbers (paper: 0.79 M)</a:t>
            </a:r>
            <a:endParaRPr lang="en-US" sz="2000" dirty="0"/>
          </a:p>
        </p:txBody>
      </p:sp>
      <p:sp>
        <p:nvSpPr>
          <p:cNvPr id="8" name="Shape 6"/>
          <p:cNvSpPr/>
          <p:nvPr/>
        </p:nvSpPr>
        <p:spPr>
          <a:xfrm>
            <a:off x="548640" y="2880360"/>
            <a:ext cx="640080" cy="640080"/>
          </a:xfrm>
          <a:prstGeom prst="ellipse">
            <a:avLst/>
          </a:prstGeom>
          <a:solidFill>
            <a:srgbClr val="F08A24"/>
          </a:solidFill>
          <a:ln w="12700">
            <a:solidFill>
              <a:srgbClr val="F08A24"/>
            </a:solidFill>
            <a:prstDash val="solid"/>
          </a:ln>
        </p:spPr>
      </p:sp>
      <p:sp>
        <p:nvSpPr>
          <p:cNvPr id="9" name="Text 7"/>
          <p:cNvSpPr txBox="1"/>
          <p:nvPr/>
        </p:nvSpPr>
        <p:spPr>
          <a:xfrm>
            <a:off x="548640" y="28803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0" name="Text 8"/>
          <p:cNvSpPr txBox="1"/>
          <p:nvPr/>
        </p:nvSpPr>
        <p:spPr>
          <a:xfrm>
            <a:off x="1463040" y="2743200"/>
            <a:ext cx="10177272" cy="548640"/>
          </a:xfrm>
          <a:prstGeom prst="rect">
            <a:avLst/>
          </a:prstGeom>
          <a:noFill/>
          <a:ln/>
        </p:spPr>
        <p:txBody>
          <a:bodyPr wrap="square" lIns="0" tIns="0" rIns="0" bIns="0"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“58 epochs” was not a choice</a:t>
            </a:r>
            <a:endParaRPr lang="en-US" sz="2600" dirty="0"/>
          </a:p>
        </p:txBody>
      </p:sp>
      <p:sp>
        <p:nvSpPr>
          <p:cNvPr id="11" name="Text 9"/>
          <p:cNvSpPr txBox="1"/>
          <p:nvPr/>
        </p:nvSpPr>
        <p:spPr>
          <a:xfrm>
            <a:off x="1463040" y="3291840"/>
            <a:ext cx="10177272" cy="502920"/>
          </a:xfrm>
          <a:prstGeom prst="rect">
            <a:avLst/>
          </a:prstGeom>
          <a:noFill/>
          <a:ln/>
        </p:spPr>
        <p:txBody>
          <a:bodyPr wrap="square" lIns="0" tIns="0" rIns="0" bIns="0" rtlCol="0" anchor="ctr"/>
          <a:lstStyle/>
          <a:p>
            <a:pPr indent="0" marL="0">
              <a:buNone/>
            </a:pPr>
            <a:r>
              <a:rPr lang="en-US" sz="2000" dirty="0">
                <a:solidFill>
                  <a:srgbClr val="5B6B7F"/>
                </a:solidFill>
                <a:latin typeface="Calibri" pitchFamily="34" charset="0"/>
                <a:ea typeface="Calibri" pitchFamily="34" charset="-122"/>
                <a:cs typeface="Calibri" pitchFamily="34" charset="-120"/>
              </a:rPr>
              <a:t>training stops by itself when it stops improving; for them, at 58</a:t>
            </a:r>
            <a:endParaRPr lang="en-US" sz="2000" dirty="0"/>
          </a:p>
        </p:txBody>
      </p:sp>
      <p:sp>
        <p:nvSpPr>
          <p:cNvPr id="12" name="Shape 10"/>
          <p:cNvSpPr/>
          <p:nvPr/>
        </p:nvSpPr>
        <p:spPr>
          <a:xfrm>
            <a:off x="548640" y="4160520"/>
            <a:ext cx="640080" cy="640080"/>
          </a:xfrm>
          <a:prstGeom prst="ellipse">
            <a:avLst/>
          </a:prstGeom>
          <a:solidFill>
            <a:srgbClr val="0F1B2D"/>
          </a:solidFill>
          <a:ln w="12700">
            <a:solidFill>
              <a:srgbClr val="0F1B2D"/>
            </a:solidFill>
            <a:prstDash val="solid"/>
          </a:ln>
        </p:spPr>
      </p:sp>
      <p:sp>
        <p:nvSpPr>
          <p:cNvPr id="13" name="Text 11"/>
          <p:cNvSpPr txBox="1"/>
          <p:nvPr/>
        </p:nvSpPr>
        <p:spPr>
          <a:xfrm>
            <a:off x="548640" y="416052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4" name="Text 12"/>
          <p:cNvSpPr txBox="1"/>
          <p:nvPr/>
        </p:nvSpPr>
        <p:spPr>
          <a:xfrm>
            <a:off x="1463040" y="4023360"/>
            <a:ext cx="10177272" cy="548640"/>
          </a:xfrm>
          <a:prstGeom prst="rect">
            <a:avLst/>
          </a:prstGeom>
          <a:noFill/>
          <a:ln/>
        </p:spPr>
        <p:txBody>
          <a:bodyPr wrap="square" lIns="0" tIns="0" rIns="0" bIns="0" rtlCol="0" anchor="ctr"/>
          <a:lstStyle/>
          <a:p>
            <a:pPr indent="0" marL="0">
              <a:buNone/>
            </a:pPr>
            <a:r>
              <a:rPr lang="en-US" sz="2600" b="1" dirty="0">
                <a:solidFill>
                  <a:srgbClr val="1E293B"/>
                </a:solidFill>
                <a:latin typeface="Calibri" pitchFamily="34" charset="0"/>
                <a:ea typeface="Calibri" pitchFamily="34" charset="-122"/>
                <a:cs typeface="Calibri" pitchFamily="34" charset="-120"/>
              </a:rPr>
              <a:t>They trained it once</a:t>
            </a:r>
            <a:endParaRPr lang="en-US" sz="2600" dirty="0"/>
          </a:p>
        </p:txBody>
      </p:sp>
      <p:sp>
        <p:nvSpPr>
          <p:cNvPr id="15" name="Text 13"/>
          <p:cNvSpPr txBox="1"/>
          <p:nvPr/>
        </p:nvSpPr>
        <p:spPr>
          <a:xfrm>
            <a:off x="1463040" y="4572000"/>
            <a:ext cx="10177272" cy="502920"/>
          </a:xfrm>
          <a:prstGeom prst="rect">
            <a:avLst/>
          </a:prstGeom>
          <a:noFill/>
          <a:ln/>
        </p:spPr>
        <p:txBody>
          <a:bodyPr wrap="square" lIns="0" tIns="0" rIns="0" bIns="0" rtlCol="0" anchor="ctr"/>
          <a:lstStyle/>
          <a:p>
            <a:pPr indent="0" marL="0">
              <a:buNone/>
            </a:pPr>
            <a:r>
              <a:rPr lang="en-US" sz="2000" dirty="0">
                <a:solidFill>
                  <a:srgbClr val="5B6B7F"/>
                </a:solidFill>
                <a:latin typeface="Calibri" pitchFamily="34" charset="0"/>
                <a:ea typeface="Calibri" pitchFamily="34" charset="-122"/>
                <a:cs typeface="Calibri" pitchFamily="34" charset="-120"/>
              </a:rPr>
              <a:t>one split of the data, one run, one number</a:t>
            </a:r>
            <a:endParaRPr lang="en-US" sz="2000" dirty="0"/>
          </a:p>
        </p:txBody>
      </p:sp>
      <p:sp>
        <p:nvSpPr>
          <p:cNvPr id="16" name="Text 14"/>
          <p:cNvSpPr txBox="1"/>
          <p:nvPr/>
        </p:nvSpPr>
        <p:spPr>
          <a:xfrm>
            <a:off x="548640" y="544068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One run gives one number: how much would it move?</a:t>
            </a:r>
            <a:endParaRPr lang="en-US" sz="2400" dirty="0"/>
          </a:p>
        </p:txBody>
      </p:sp>
      <p:sp>
        <p:nvSpPr>
          <p:cNvPr id="18" name="Text 15"/>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OUR CHECK</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What “58 epochs” means</a:t>
            </a:r>
            <a:endParaRPr lang="en-US" sz="3400" dirty="0"/>
          </a:p>
        </p:txBody>
      </p:sp>
      <p:sp>
        <p:nvSpPr>
          <p:cNvPr id="4" name="Text 2"/>
          <p:cNvSpPr txBox="1"/>
          <p:nvPr/>
        </p:nvSpPr>
        <p:spPr>
          <a:xfrm>
            <a:off x="548640" y="1371600"/>
            <a:ext cx="5120640" cy="914400"/>
          </a:xfrm>
          <a:prstGeom prst="rect">
            <a:avLst/>
          </a:prstGeom>
          <a:noFill/>
          <a:ln/>
        </p:spPr>
        <p:txBody>
          <a:bodyPr wrap="square" lIns="0" tIns="0" rIns="0" bIns="0" rtlCol="0" anchor="b"/>
          <a:lstStyle/>
          <a:p>
            <a:pPr algn="l" indent="0" marL="0">
              <a:buNone/>
            </a:pPr>
            <a:r>
              <a:rPr lang="en-US" sz="4800" b="1" dirty="0">
                <a:solidFill>
                  <a:srgbClr val="1E293B"/>
                </a:solidFill>
                <a:latin typeface="Calibri" pitchFamily="34" charset="0"/>
                <a:ea typeface="Calibri" pitchFamily="34" charset="-122"/>
                <a:cs typeface="Calibri" pitchFamily="34" charset="-120"/>
              </a:rPr>
              <a:t>61.75%</a:t>
            </a:r>
            <a:endParaRPr lang="en-US" sz="4800" dirty="0"/>
          </a:p>
        </p:txBody>
      </p:sp>
      <p:sp>
        <p:nvSpPr>
          <p:cNvPr id="5" name="Text 3"/>
          <p:cNvSpPr txBox="1"/>
          <p:nvPr/>
        </p:nvSpPr>
        <p:spPr>
          <a:xfrm>
            <a:off x="548640" y="2331720"/>
            <a:ext cx="5120640" cy="731520"/>
          </a:xfrm>
          <a:prstGeom prst="rect">
            <a:avLst/>
          </a:prstGeom>
          <a:noFill/>
          <a:ln/>
        </p:spPr>
        <p:txBody>
          <a:bodyPr wrap="square" lIns="0" tIns="0" rIns="0" bIns="0" rtlCol="0" anchor="t"/>
          <a:lstStyle/>
          <a:p>
            <a:pPr algn="l" indent="0" marL="0">
              <a:buNone/>
            </a:pPr>
            <a:r>
              <a:rPr lang="en-US" sz="1900" dirty="0">
                <a:solidFill>
                  <a:srgbClr val="5B6B7F"/>
                </a:solidFill>
                <a:latin typeface="Calibri" pitchFamily="34" charset="0"/>
                <a:ea typeface="Calibri" pitchFamily="34" charset="-122"/>
                <a:cs typeface="Calibri" pitchFamily="34" charset="-120"/>
              </a:rPr>
              <a:t>our rebuild at a fixed 58 epochs (3 runs)</a:t>
            </a:r>
            <a:endParaRPr lang="en-US" sz="1900" dirty="0"/>
          </a:p>
        </p:txBody>
      </p:sp>
      <p:sp>
        <p:nvSpPr>
          <p:cNvPr id="6" name="Text 4"/>
          <p:cNvSpPr txBox="1"/>
          <p:nvPr/>
        </p:nvSpPr>
        <p:spPr>
          <a:xfrm>
            <a:off x="548640" y="3108960"/>
            <a:ext cx="5120640" cy="914400"/>
          </a:xfrm>
          <a:prstGeom prst="rect">
            <a:avLst/>
          </a:prstGeom>
          <a:noFill/>
          <a:ln/>
        </p:spPr>
        <p:txBody>
          <a:bodyPr wrap="square" lIns="0" tIns="0" rIns="0" bIns="0" rtlCol="0" anchor="b"/>
          <a:lstStyle/>
          <a:p>
            <a:pPr algn="l" indent="0" marL="0">
              <a:buNone/>
            </a:pPr>
            <a:r>
              <a:rPr lang="en-US" sz="4800" b="1" dirty="0">
                <a:solidFill>
                  <a:srgbClr val="F08A24"/>
                </a:solidFill>
                <a:latin typeface="Calibri" pitchFamily="34" charset="0"/>
                <a:ea typeface="Calibri" pitchFamily="34" charset="-122"/>
                <a:cs typeface="Calibri" pitchFamily="34" charset="-120"/>
              </a:rPr>
              <a:t>63.21%</a:t>
            </a:r>
            <a:endParaRPr lang="en-US" sz="4800" dirty="0"/>
          </a:p>
        </p:txBody>
      </p:sp>
      <p:sp>
        <p:nvSpPr>
          <p:cNvPr id="7" name="Text 5"/>
          <p:cNvSpPr txBox="1"/>
          <p:nvPr/>
        </p:nvSpPr>
        <p:spPr>
          <a:xfrm>
            <a:off x="548640" y="4069080"/>
            <a:ext cx="5120640" cy="731520"/>
          </a:xfrm>
          <a:prstGeom prst="rect">
            <a:avLst/>
          </a:prstGeom>
          <a:noFill/>
          <a:ln/>
        </p:spPr>
        <p:txBody>
          <a:bodyPr wrap="square" lIns="0" tIns="0" rIns="0" bIns="0" rtlCol="0" anchor="t"/>
          <a:lstStyle/>
          <a:p>
            <a:pPr algn="l" indent="0" marL="0">
              <a:buNone/>
            </a:pPr>
            <a:r>
              <a:rPr lang="en-US" sz="1900" dirty="0">
                <a:solidFill>
                  <a:srgbClr val="5B6B7F"/>
                </a:solidFill>
                <a:latin typeface="Calibri" pitchFamily="34" charset="0"/>
                <a:ea typeface="Calibri" pitchFamily="34" charset="-122"/>
                <a:cs typeface="Calibri" pitchFamily="34" charset="-120"/>
              </a:rPr>
              <a:t>the same, left to run: best at epoch 107</a:t>
            </a:r>
            <a:endParaRPr lang="en-US" sz="1900" dirty="0"/>
          </a:p>
        </p:txBody>
      </p:sp>
      <p:pic>
        <p:nvPicPr>
          <p:cNvPr id="8" name="Image 0" descr="paper/fig7_accuracy_epochs.jpg">    </p:cNvPr>
          <p:cNvPicPr>
            <a:picLocks noChangeAspect="1"/>
          </p:cNvPicPr>
          <p:nvPr/>
        </p:nvPicPr>
        <p:blipFill>
          <a:blip r:embed="rId1"/>
          <a:stretch>
            <a:fillRect/>
          </a:stretch>
        </p:blipFill>
        <p:spPr>
          <a:xfrm>
            <a:off x="5989320" y="1371600"/>
            <a:ext cx="5623560" cy="3559967"/>
          </a:xfrm>
          <a:prstGeom prst="rect">
            <a:avLst/>
          </a:prstGeom>
        </p:spPr>
      </p:pic>
      <p:sp>
        <p:nvSpPr>
          <p:cNvPr id="9" name="Text 6"/>
          <p:cNvSpPr txBox="1"/>
          <p:nvPr/>
        </p:nvSpPr>
        <p:spPr>
          <a:xfrm>
            <a:off x="5989320" y="4983480"/>
            <a:ext cx="5623560" cy="365760"/>
          </a:xfrm>
          <a:prstGeom prst="rect">
            <a:avLst/>
          </a:prstGeom>
          <a:noFill/>
          <a:ln/>
        </p:spPr>
        <p:txBody>
          <a:bodyPr wrap="square" lIns="0" tIns="0" rIns="0" bIns="0" rtlCol="0" anchor="t"/>
          <a:lstStyle/>
          <a:p>
            <a:pPr indent="0" marL="0">
              <a:buNone/>
            </a:pPr>
            <a:r>
              <a:rPr lang="en-US" sz="1800" b="1" dirty="0">
                <a:solidFill>
                  <a:srgbClr val="1E293B"/>
                </a:solidFill>
                <a:latin typeface="Calibri" pitchFamily="34" charset="0"/>
                <a:ea typeface="Calibri" pitchFamily="34" charset="-122"/>
                <a:cs typeface="Calibri" pitchFamily="34" charset="-120"/>
              </a:rPr>
              <a:t>Their Fig. 7: accuracy still rising at 58</a:t>
            </a:r>
            <a:endParaRPr lang="en-US" sz="1800" dirty="0"/>
          </a:p>
        </p:txBody>
      </p:sp>
      <p:sp>
        <p:nvSpPr>
          <p:cNvPr id="10" name="Text 7"/>
          <p:cNvSpPr txBox="1"/>
          <p:nvPr/>
        </p:nvSpPr>
        <p:spPr>
          <a:xfrm>
            <a:off x="5989320" y="5349240"/>
            <a:ext cx="5623560" cy="274320"/>
          </a:xfrm>
          <a:prstGeom prst="rect">
            <a:avLst/>
          </a:prstGeom>
          <a:noFill/>
          <a:ln/>
        </p:spPr>
        <p:txBody>
          <a:bodyPr wrap="square" lIns="0" tIns="0" rIns="0" bIns="0" rtlCol="0" anchor="t"/>
          <a:lstStyle/>
          <a:p>
            <a:pPr indent="0" marL="0">
              <a:buNone/>
            </a:pPr>
            <a:r>
              <a:rPr lang="en-US" sz="1200" i="1" dirty="0">
                <a:solidFill>
                  <a:srgbClr val="5B6B7F"/>
                </a:solidFill>
                <a:latin typeface="Calibri" pitchFamily="34" charset="0"/>
                <a:ea typeface="Calibri" pitchFamily="34" charset="-122"/>
                <a:cs typeface="Calibri" pitchFamily="34" charset="-120"/>
              </a:rPr>
              <a:t>Figure from El-Haryqy et al. 2025 (CC BY-NC 4.0)</a:t>
            </a:r>
            <a:endParaRPr lang="en-US" sz="1200" dirty="0"/>
          </a:p>
        </p:txBody>
      </p:sp>
      <p:sp>
        <p:nvSpPr>
          <p:cNvPr id="11" name="Text 8"/>
          <p:cNvSpPr txBox="1"/>
          <p:nvPr/>
        </p:nvSpPr>
        <p:spPr>
          <a:xfrm>
            <a:off x="548640" y="576072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Their rule stopped on the loss; the accuracy was still climbing.</a:t>
            </a:r>
            <a:endParaRPr lang="en-US" sz="2400" dirty="0"/>
          </a:p>
        </p:txBody>
      </p:sp>
      <p:sp>
        <p:nvSpPr>
          <p:cNvPr id="13" name="Text 9"/>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OUR CHECK</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We rebuilt it; their code agrees</a:t>
            </a:r>
            <a:endParaRPr lang="en-US" sz="3400" dirty="0"/>
          </a:p>
        </p:txBody>
      </p:sp>
      <p:sp>
        <p:nvSpPr>
          <p:cNvPr id="4" name="Shape 2"/>
          <p:cNvSpPr/>
          <p:nvPr/>
        </p:nvSpPr>
        <p:spPr>
          <a:xfrm>
            <a:off x="548640" y="1417320"/>
            <a:ext cx="3520440" cy="960120"/>
          </a:xfrm>
          <a:prstGeom prst="roundRect">
            <a:avLst>
              <a:gd name="adj" fmla="val 11429"/>
            </a:avLst>
          </a:prstGeom>
          <a:solidFill>
            <a:srgbClr val="EEF2F6"/>
          </a:solidFill>
          <a:ln w="12700">
            <a:solidFill>
              <a:srgbClr val="EEF2F6"/>
            </a:solidFill>
            <a:prstDash val="solid"/>
          </a:ln>
        </p:spPr>
      </p:sp>
      <p:sp>
        <p:nvSpPr>
          <p:cNvPr id="5" name="Text 3"/>
          <p:cNvSpPr txBox="1"/>
          <p:nvPr/>
        </p:nvSpPr>
        <p:spPr>
          <a:xfrm>
            <a:off x="777240" y="1463040"/>
            <a:ext cx="3108960" cy="457200"/>
          </a:xfrm>
          <a:prstGeom prst="rect">
            <a:avLst/>
          </a:prstGeom>
          <a:noFill/>
          <a:ln/>
        </p:spPr>
        <p:txBody>
          <a:bodyPr wrap="square" lIns="0" tIns="0" rIns="0" bIns="0" rtlCol="0" anchor="t"/>
          <a:lstStyle/>
          <a:p>
            <a:pPr indent="0" marL="0">
              <a:buNone/>
            </a:pPr>
            <a:r>
              <a:rPr lang="en-US" sz="2000" b="1" dirty="0">
                <a:solidFill>
                  <a:srgbClr val="F08A24"/>
                </a:solidFill>
                <a:latin typeface="Calibri" pitchFamily="34" charset="0"/>
                <a:ea typeface="Calibri" pitchFamily="34" charset="-122"/>
                <a:cs typeface="Calibri" pitchFamily="34" charset="-120"/>
              </a:rPr>
              <a:t>Apr 2025</a:t>
            </a:r>
            <a:endParaRPr lang="en-US" sz="2000" dirty="0"/>
          </a:p>
        </p:txBody>
      </p:sp>
      <p:sp>
        <p:nvSpPr>
          <p:cNvPr id="6" name="Text 4"/>
          <p:cNvSpPr txBox="1"/>
          <p:nvPr/>
        </p:nvSpPr>
        <p:spPr>
          <a:xfrm>
            <a:off x="777240" y="1874520"/>
            <a:ext cx="3200400" cy="457200"/>
          </a:xfrm>
          <a:prstGeom prst="rect">
            <a:avLst/>
          </a:prstGeom>
          <a:noFill/>
          <a:ln/>
        </p:spPr>
        <p:txBody>
          <a:bodyPr wrap="square" lIns="0" tIns="0" rIns="0" bIns="0" rtlCol="0" anchor="t"/>
          <a:lstStyle/>
          <a:p>
            <a:pPr indent="0" marL="0">
              <a:buNone/>
            </a:pPr>
            <a:r>
              <a:rPr lang="en-US" sz="1700" dirty="0">
                <a:solidFill>
                  <a:srgbClr val="5B6B7F"/>
                </a:solidFill>
                <a:latin typeface="Calibri" pitchFamily="34" charset="0"/>
                <a:ea typeface="Calibri" pitchFamily="34" charset="-122"/>
                <a:cs typeface="Calibri" pitchFamily="34" charset="-120"/>
              </a:rPr>
              <a:t>paper, no code</a:t>
            </a:r>
            <a:endParaRPr lang="en-US" sz="1700" dirty="0"/>
          </a:p>
        </p:txBody>
      </p:sp>
      <p:sp>
        <p:nvSpPr>
          <p:cNvPr id="7" name="Shape 5"/>
          <p:cNvSpPr/>
          <p:nvPr/>
        </p:nvSpPr>
        <p:spPr>
          <a:xfrm>
            <a:off x="4343400" y="1417320"/>
            <a:ext cx="3520440" cy="960120"/>
          </a:xfrm>
          <a:prstGeom prst="roundRect">
            <a:avLst>
              <a:gd name="adj" fmla="val 11429"/>
            </a:avLst>
          </a:prstGeom>
          <a:solidFill>
            <a:srgbClr val="EEF2F6"/>
          </a:solidFill>
          <a:ln w="12700">
            <a:solidFill>
              <a:srgbClr val="EEF2F6"/>
            </a:solidFill>
            <a:prstDash val="solid"/>
          </a:ln>
        </p:spPr>
      </p:sp>
      <p:sp>
        <p:nvSpPr>
          <p:cNvPr id="8" name="Text 6"/>
          <p:cNvSpPr txBox="1"/>
          <p:nvPr/>
        </p:nvSpPr>
        <p:spPr>
          <a:xfrm>
            <a:off x="4572000" y="1463040"/>
            <a:ext cx="3108960" cy="457200"/>
          </a:xfrm>
          <a:prstGeom prst="rect">
            <a:avLst/>
          </a:prstGeom>
          <a:noFill/>
          <a:ln/>
        </p:spPr>
        <p:txBody>
          <a:bodyPr wrap="square" lIns="0" tIns="0" rIns="0" bIns="0" rtlCol="0" anchor="t"/>
          <a:lstStyle/>
          <a:p>
            <a:pPr indent="0" marL="0">
              <a:buNone/>
            </a:pPr>
            <a:r>
              <a:rPr lang="en-US" sz="2000" b="1" dirty="0">
                <a:solidFill>
                  <a:srgbClr val="F08A24"/>
                </a:solidFill>
                <a:latin typeface="Calibri" pitchFamily="34" charset="0"/>
                <a:ea typeface="Calibri" pitchFamily="34" charset="-122"/>
                <a:cs typeface="Calibri" pitchFamily="34" charset="-120"/>
              </a:rPr>
              <a:t>Aug 2026</a:t>
            </a:r>
            <a:endParaRPr lang="en-US" sz="2000" dirty="0"/>
          </a:p>
        </p:txBody>
      </p:sp>
      <p:sp>
        <p:nvSpPr>
          <p:cNvPr id="9" name="Text 7"/>
          <p:cNvSpPr txBox="1"/>
          <p:nvPr/>
        </p:nvSpPr>
        <p:spPr>
          <a:xfrm>
            <a:off x="4572000" y="1874520"/>
            <a:ext cx="3200400" cy="457200"/>
          </a:xfrm>
          <a:prstGeom prst="rect">
            <a:avLst/>
          </a:prstGeom>
          <a:noFill/>
          <a:ln/>
        </p:spPr>
        <p:txBody>
          <a:bodyPr wrap="square" lIns="0" tIns="0" rIns="0" bIns="0" rtlCol="0" anchor="t"/>
          <a:lstStyle/>
          <a:p>
            <a:pPr indent="0" marL="0">
              <a:buNone/>
            </a:pPr>
            <a:r>
              <a:rPr lang="en-US" sz="1700" dirty="0">
                <a:solidFill>
                  <a:srgbClr val="5B6B7F"/>
                </a:solidFill>
                <a:latin typeface="Calibri" pitchFamily="34" charset="0"/>
                <a:ea typeface="Calibri" pitchFamily="34" charset="-122"/>
                <a:cs typeface="Calibri" pitchFamily="34" charset="-120"/>
              </a:rPr>
              <a:t>their code on GitHub, no weights</a:t>
            </a:r>
            <a:endParaRPr lang="en-US" sz="1700" dirty="0"/>
          </a:p>
        </p:txBody>
      </p:sp>
      <p:sp>
        <p:nvSpPr>
          <p:cNvPr id="10" name="Shape 8"/>
          <p:cNvSpPr/>
          <p:nvPr/>
        </p:nvSpPr>
        <p:spPr>
          <a:xfrm>
            <a:off x="8138160" y="1417320"/>
            <a:ext cx="3520440" cy="960120"/>
          </a:xfrm>
          <a:prstGeom prst="roundRect">
            <a:avLst>
              <a:gd name="adj" fmla="val 11429"/>
            </a:avLst>
          </a:prstGeom>
          <a:solidFill>
            <a:srgbClr val="0F1B2D"/>
          </a:solidFill>
          <a:ln w="12700">
            <a:solidFill>
              <a:srgbClr val="0F1B2D"/>
            </a:solidFill>
            <a:prstDash val="solid"/>
          </a:ln>
        </p:spPr>
      </p:sp>
      <p:sp>
        <p:nvSpPr>
          <p:cNvPr id="11" name="Text 9"/>
          <p:cNvSpPr txBox="1"/>
          <p:nvPr/>
        </p:nvSpPr>
        <p:spPr>
          <a:xfrm>
            <a:off x="8366760" y="1463040"/>
            <a:ext cx="3108960" cy="457200"/>
          </a:xfrm>
          <a:prstGeom prst="rect">
            <a:avLst/>
          </a:prstGeom>
          <a:noFill/>
          <a:ln/>
        </p:spPr>
        <p:txBody>
          <a:bodyPr wrap="square" lIns="0" tIns="0" rIns="0" bIns="0" rtlCol="0" anchor="t"/>
          <a:lstStyle/>
          <a:p>
            <a:pPr indent="0" marL="0">
              <a:buNone/>
            </a:pPr>
            <a:r>
              <a:rPr lang="en-US" sz="2000" b="1" dirty="0">
                <a:solidFill>
                  <a:srgbClr val="F08A24"/>
                </a:solidFill>
                <a:latin typeface="Calibri" pitchFamily="34" charset="0"/>
                <a:ea typeface="Calibri" pitchFamily="34" charset="-122"/>
                <a:cs typeface="Calibri" pitchFamily="34" charset="-120"/>
              </a:rPr>
              <a:t>Sep 2026</a:t>
            </a:r>
            <a:endParaRPr lang="en-US" sz="2000" dirty="0"/>
          </a:p>
        </p:txBody>
      </p:sp>
      <p:sp>
        <p:nvSpPr>
          <p:cNvPr id="12" name="Text 10"/>
          <p:cNvSpPr txBox="1"/>
          <p:nvPr/>
        </p:nvSpPr>
        <p:spPr>
          <a:xfrm>
            <a:off x="8366760" y="1874520"/>
            <a:ext cx="3200400" cy="457200"/>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our rebuild from the paper alone</a:t>
            </a:r>
            <a:endParaRPr lang="en-US" sz="1700" dirty="0"/>
          </a:p>
        </p:txBody>
      </p:sp>
      <p:sp>
        <p:nvSpPr>
          <p:cNvPr id="13" name="Shape 11"/>
          <p:cNvSpPr/>
          <p:nvPr/>
        </p:nvSpPr>
        <p:spPr>
          <a:xfrm>
            <a:off x="548640" y="2651760"/>
            <a:ext cx="3520440" cy="2514600"/>
          </a:xfrm>
          <a:prstGeom prst="roundRect">
            <a:avLst>
              <a:gd name="adj" fmla="val 4364"/>
            </a:avLst>
          </a:prstGeom>
          <a:solidFill>
            <a:srgbClr val="EEF2F6"/>
          </a:solidFill>
          <a:ln w="12700">
            <a:solidFill>
              <a:srgbClr val="EEF2F6"/>
            </a:solidFill>
            <a:prstDash val="solid"/>
          </a:ln>
        </p:spPr>
      </p:sp>
      <p:sp>
        <p:nvSpPr>
          <p:cNvPr id="14" name="Text 12"/>
          <p:cNvSpPr txBox="1"/>
          <p:nvPr/>
        </p:nvSpPr>
        <p:spPr>
          <a:xfrm>
            <a:off x="822960" y="2743200"/>
            <a:ext cx="3108960" cy="914400"/>
          </a:xfrm>
          <a:prstGeom prst="rect">
            <a:avLst/>
          </a:prstGeom>
          <a:noFill/>
          <a:ln/>
        </p:spPr>
        <p:txBody>
          <a:bodyPr wrap="square" lIns="0" tIns="0" rIns="0" bIns="0" rtlCol="0" anchor="b"/>
          <a:lstStyle/>
          <a:p>
            <a:pPr algn="l" indent="0" marL="0">
              <a:buNone/>
            </a:pPr>
            <a:r>
              <a:rPr lang="en-US" sz="4800" b="1" dirty="0">
                <a:solidFill>
                  <a:srgbClr val="F08A24"/>
                </a:solidFill>
                <a:latin typeface="Calibri" pitchFamily="34" charset="0"/>
                <a:ea typeface="Calibri" pitchFamily="34" charset="-122"/>
                <a:cs typeface="Calibri" pitchFamily="34" charset="-120"/>
              </a:rPr>
              <a:t>63.21%</a:t>
            </a:r>
            <a:endParaRPr lang="en-US" sz="4800" dirty="0"/>
          </a:p>
        </p:txBody>
      </p:sp>
      <p:sp>
        <p:nvSpPr>
          <p:cNvPr id="15" name="Text 13"/>
          <p:cNvSpPr txBox="1"/>
          <p:nvPr/>
        </p:nvSpPr>
        <p:spPr>
          <a:xfrm>
            <a:off x="822960" y="3703320"/>
            <a:ext cx="3108960" cy="731520"/>
          </a:xfrm>
          <a:prstGeom prst="rect">
            <a:avLst/>
          </a:prstGeom>
          <a:noFill/>
          <a:ln/>
        </p:spPr>
        <p:txBody>
          <a:bodyPr wrap="square" lIns="0" tIns="0" rIns="0" bIns="0" rtlCol="0" anchor="t"/>
          <a:lstStyle/>
          <a:p>
            <a:pPr algn="l" indent="0" marL="0">
              <a:buNone/>
            </a:pPr>
            <a:r>
              <a:rPr lang="en-US" sz="1900" dirty="0">
                <a:solidFill>
                  <a:srgbClr val="5B6B7F"/>
                </a:solidFill>
                <a:latin typeface="Calibri" pitchFamily="34" charset="0"/>
                <a:ea typeface="Calibri" pitchFamily="34" charset="-122"/>
                <a:cs typeface="Calibri" pitchFamily="34" charset="-120"/>
              </a:rPr>
              <a:t>our rebuild, trained to the end (paper: 63.24%)</a:t>
            </a:r>
            <a:endParaRPr lang="en-US" sz="1900" dirty="0"/>
          </a:p>
        </p:txBody>
      </p:sp>
      <p:sp>
        <p:nvSpPr>
          <p:cNvPr id="16" name="Shape 14"/>
          <p:cNvSpPr/>
          <p:nvPr/>
        </p:nvSpPr>
        <p:spPr>
          <a:xfrm>
            <a:off x="4343400" y="2651760"/>
            <a:ext cx="3520440" cy="2514600"/>
          </a:xfrm>
          <a:prstGeom prst="roundRect">
            <a:avLst>
              <a:gd name="adj" fmla="val 4364"/>
            </a:avLst>
          </a:prstGeom>
          <a:solidFill>
            <a:srgbClr val="EEF2F6"/>
          </a:solidFill>
          <a:ln w="12700">
            <a:solidFill>
              <a:srgbClr val="EEF2F6"/>
            </a:solidFill>
            <a:prstDash val="solid"/>
          </a:ln>
        </p:spPr>
      </p:sp>
      <p:sp>
        <p:nvSpPr>
          <p:cNvPr id="17" name="Text 15"/>
          <p:cNvSpPr txBox="1"/>
          <p:nvPr/>
        </p:nvSpPr>
        <p:spPr>
          <a:xfrm>
            <a:off x="4617720" y="2788920"/>
            <a:ext cx="3108960" cy="365760"/>
          </a:xfrm>
          <a:prstGeom prst="rect">
            <a:avLst/>
          </a:prstGeom>
          <a:noFill/>
          <a:ln/>
        </p:spPr>
        <p:txBody>
          <a:bodyPr wrap="square" lIns="0" tIns="0" rIns="0" bIns="0" rtlCol="0" anchor="t"/>
          <a:lstStyle/>
          <a:p>
            <a:pPr indent="0" marL="0">
              <a:buNone/>
            </a:pPr>
            <a:r>
              <a:rPr lang="en-US" sz="1500" b="1" spc="100" kern="0" dirty="0">
                <a:solidFill>
                  <a:srgbClr val="F08A24"/>
                </a:solidFill>
                <a:latin typeface="Calibri" pitchFamily="34" charset="0"/>
                <a:ea typeface="Calibri" pitchFamily="34" charset="-122"/>
                <a:cs typeface="Calibri" pitchFamily="34" charset="-120"/>
              </a:rPr>
              <a:t>MATCHED THEIR CODE</a:t>
            </a:r>
            <a:endParaRPr lang="en-US" sz="1500" dirty="0"/>
          </a:p>
        </p:txBody>
      </p:sp>
      <p:sp>
        <p:nvSpPr>
          <p:cNvPr id="18" name="Text 16"/>
          <p:cNvSpPr txBox="1"/>
          <p:nvPr/>
        </p:nvSpPr>
        <p:spPr>
          <a:xfrm>
            <a:off x="4617720" y="3200400"/>
            <a:ext cx="3108960" cy="1828800"/>
          </a:xfrm>
          <a:prstGeom prst="rect">
            <a:avLst/>
          </a:prstGeom>
          <a:noFill/>
          <a:ln/>
        </p:spPr>
        <p:txBody>
          <a:bodyPr wrap="square" lIns="0" tIns="0" rIns="0" bIns="0" rtlCol="0" anchor="t"/>
          <a:lstStyle/>
          <a:p>
            <a:pPr indent="0" marL="0">
              <a:buNone/>
            </a:pPr>
            <a:r>
              <a:rPr lang="en-US" sz="1700" dirty="0">
                <a:solidFill>
                  <a:srgbClr val="1E293B"/>
                </a:solidFill>
                <a:latin typeface="Calibri" pitchFamily="34" charset="0"/>
                <a:ea typeface="Calibri" pitchFamily="34" charset="-122"/>
                <a:cs typeface="Calibri" pitchFamily="34" charset="-120"/>
              </a:rPr>
              <a:t>one pooling step</a:t>
            </a:r>
            <a:endParaRPr lang="en-US" sz="1700" dirty="0"/>
          </a:p>
          <a:p>
            <a:pPr indent="0" marL="0">
              <a:buNone/>
            </a:pPr>
            <a:r>
              <a:rPr lang="en-US" sz="1700" dirty="0">
                <a:solidFill>
                  <a:srgbClr val="1E293B"/>
                </a:solidFill>
                <a:latin typeface="Calibri" pitchFamily="34" charset="0"/>
                <a:ea typeface="Calibri" pitchFamily="34" charset="-122"/>
                <a:cs typeface="Calibri" pitchFamily="34" charset="-120"/>
              </a:rPr>
              <a:t>normalization after each LSTM</a:t>
            </a:r>
            <a:endParaRPr lang="en-US" sz="1700" dirty="0"/>
          </a:p>
          <a:p>
            <a:pPr indent="0" marL="0">
              <a:buNone/>
            </a:pPr>
            <a:r>
              <a:rPr lang="en-US" sz="1700" dirty="0">
                <a:solidFill>
                  <a:srgbClr val="1E293B"/>
                </a:solidFill>
                <a:latin typeface="Calibri" pitchFamily="34" charset="0"/>
                <a:ea typeface="Calibri" pitchFamily="34" charset="-122"/>
                <a:cs typeface="Calibri" pitchFamily="34" charset="-120"/>
              </a:rPr>
              <a:t>dropout on attention weights</a:t>
            </a:r>
            <a:endParaRPr lang="en-US" sz="1700" dirty="0"/>
          </a:p>
          <a:p>
            <a:pPr indent="0" marL="0">
              <a:buNone/>
            </a:pPr>
            <a:r>
              <a:rPr lang="en-US" sz="1700" dirty="0">
                <a:solidFill>
                  <a:srgbClr val="1E293B"/>
                </a:solidFill>
                <a:latin typeface="Calibri" pitchFamily="34" charset="0"/>
                <a:ea typeface="Calibri" pitchFamily="34" charset="-122"/>
                <a:cs typeface="Calibri" pitchFamily="34" charset="-120"/>
              </a:rPr>
              <a:t>size: 794,827 vs 794,188</a:t>
            </a:r>
            <a:endParaRPr lang="en-US" sz="1700" dirty="0"/>
          </a:p>
        </p:txBody>
      </p:sp>
      <p:sp>
        <p:nvSpPr>
          <p:cNvPr id="19" name="Shape 17"/>
          <p:cNvSpPr/>
          <p:nvPr/>
        </p:nvSpPr>
        <p:spPr>
          <a:xfrm>
            <a:off x="8138160" y="2651760"/>
            <a:ext cx="3502152" cy="2514600"/>
          </a:xfrm>
          <a:prstGeom prst="roundRect">
            <a:avLst>
              <a:gd name="adj" fmla="val 4364"/>
            </a:avLst>
          </a:prstGeom>
          <a:solidFill>
            <a:srgbClr val="EEF2F6"/>
          </a:solidFill>
          <a:ln w="12700">
            <a:solidFill>
              <a:srgbClr val="EEF2F6"/>
            </a:solidFill>
            <a:prstDash val="solid"/>
          </a:ln>
        </p:spPr>
      </p:sp>
      <p:sp>
        <p:nvSpPr>
          <p:cNvPr id="20" name="Text 18"/>
          <p:cNvSpPr txBox="1"/>
          <p:nvPr/>
        </p:nvSpPr>
        <p:spPr>
          <a:xfrm>
            <a:off x="8412480" y="2788920"/>
            <a:ext cx="3108960" cy="365760"/>
          </a:xfrm>
          <a:prstGeom prst="rect">
            <a:avLst/>
          </a:prstGeom>
          <a:noFill/>
          <a:ln/>
        </p:spPr>
        <p:txBody>
          <a:bodyPr wrap="square" lIns="0" tIns="0" rIns="0" bIns="0" rtlCol="0" anchor="t"/>
          <a:lstStyle/>
          <a:p>
            <a:pPr indent="0" marL="0">
              <a:buNone/>
            </a:pPr>
            <a:r>
              <a:rPr lang="en-US" sz="1500" b="1" spc="100" kern="0" dirty="0">
                <a:solidFill>
                  <a:srgbClr val="F08A24"/>
                </a:solidFill>
                <a:latin typeface="Calibri" pitchFamily="34" charset="0"/>
                <a:ea typeface="Calibri" pitchFamily="34" charset="-122"/>
                <a:cs typeface="Calibri" pitchFamily="34" charset="-120"/>
              </a:rPr>
              <a:t>MISSED</a:t>
            </a:r>
            <a:endParaRPr lang="en-US" sz="1500" dirty="0"/>
          </a:p>
        </p:txBody>
      </p:sp>
      <p:sp>
        <p:nvSpPr>
          <p:cNvPr id="21" name="Text 19"/>
          <p:cNvSpPr txBox="1"/>
          <p:nvPr/>
        </p:nvSpPr>
        <p:spPr>
          <a:xfrm>
            <a:off x="8412480" y="3200400"/>
            <a:ext cx="3108960" cy="1828800"/>
          </a:xfrm>
          <a:prstGeom prst="rect">
            <a:avLst/>
          </a:prstGeom>
          <a:noFill/>
          <a:ln/>
        </p:spPr>
        <p:txBody>
          <a:bodyPr wrap="square" lIns="0" tIns="0" rIns="0" bIns="0" rtlCol="0" anchor="t"/>
          <a:lstStyle/>
          <a:p>
            <a:pPr indent="0" marL="0">
              <a:buNone/>
            </a:pPr>
            <a:r>
              <a:rPr lang="en-US" sz="1700" dirty="0">
                <a:solidFill>
                  <a:srgbClr val="1E293B"/>
                </a:solidFill>
                <a:latin typeface="Calibri" pitchFamily="34" charset="0"/>
                <a:ea typeface="Calibri" pitchFamily="34" charset="-122"/>
                <a:cs typeface="Calibri" pitchFamily="34" charset="-120"/>
              </a:rPr>
              <a:t>exact attention form and its learned scale</a:t>
            </a:r>
            <a:endParaRPr lang="en-US" sz="1700" dirty="0"/>
          </a:p>
          <a:p>
            <a:pPr indent="0" marL="0">
              <a:buNone/>
            </a:pPr>
            <a:r>
              <a:rPr lang="en-US" sz="1700" dirty="0">
                <a:solidFill>
                  <a:srgbClr val="1E293B"/>
                </a:solidFill>
                <a:latin typeface="Calibri" pitchFamily="34" charset="0"/>
                <a:ea typeface="Calibri" pitchFamily="34" charset="-122"/>
                <a:cs typeface="Calibri" pitchFamily="34" charset="-120"/>
              </a:rPr>
              <a:t>input normalization</a:t>
            </a:r>
            <a:endParaRPr lang="en-US" sz="1700" dirty="0"/>
          </a:p>
          <a:p>
            <a:pPr indent="0" marL="0">
              <a:buNone/>
            </a:pPr>
            <a:r>
              <a:rPr lang="en-US" sz="1700" dirty="0">
                <a:solidFill>
                  <a:srgbClr val="1E293B"/>
                </a:solidFill>
                <a:latin typeface="Calibri" pitchFamily="34" charset="0"/>
                <a:ea typeface="Calibri" pitchFamily="34" charset="-122"/>
                <a:cs typeface="Calibri" pitchFamily="34" charset="-120"/>
              </a:rPr>
              <a:t>gradient clipping</a:t>
            </a:r>
            <a:endParaRPr lang="en-US" sz="1700" dirty="0"/>
          </a:p>
        </p:txBody>
      </p:sp>
      <p:sp>
        <p:nvSpPr>
          <p:cNvPr id="22" name="Text 20"/>
          <p:cNvSpPr txBox="1"/>
          <p:nvPr/>
        </p:nvSpPr>
        <p:spPr>
          <a:xfrm>
            <a:off x="548640" y="544068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Their 63.24% is reproducible from the paper alone.</a:t>
            </a:r>
            <a:endParaRPr lang="en-US" sz="2400" dirty="0"/>
          </a:p>
        </p:txBody>
      </p:sp>
      <p:sp>
        <p:nvSpPr>
          <p:cNvPr id="24" name="Text 21"/>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OUR CHECK</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Three claims their own tables don't support</a:t>
            </a:r>
            <a:endParaRPr lang="en-US" sz="3400" dirty="0"/>
          </a:p>
        </p:txBody>
      </p:sp>
      <p:sp>
        <p:nvSpPr>
          <p:cNvPr id="4" name="Shape 2"/>
          <p:cNvSpPr/>
          <p:nvPr/>
        </p:nvSpPr>
        <p:spPr>
          <a:xfrm>
            <a:off x="548640" y="1463040"/>
            <a:ext cx="11091672" cy="1097280"/>
          </a:xfrm>
          <a:prstGeom prst="roundRect">
            <a:avLst>
              <a:gd name="adj" fmla="val 10000"/>
            </a:avLst>
          </a:prstGeom>
          <a:solidFill>
            <a:srgbClr val="EEF2F6"/>
          </a:solidFill>
          <a:ln w="12700">
            <a:solidFill>
              <a:srgbClr val="EEF2F6"/>
            </a:solidFill>
            <a:prstDash val="solid"/>
          </a:ln>
        </p:spPr>
      </p:sp>
      <p:sp>
        <p:nvSpPr>
          <p:cNvPr id="5" name="Shape 3"/>
          <p:cNvSpPr/>
          <p:nvPr/>
        </p:nvSpPr>
        <p:spPr>
          <a:xfrm>
            <a:off x="777240" y="1737360"/>
            <a:ext cx="548640" cy="548640"/>
          </a:xfrm>
          <a:prstGeom prst="ellipse">
            <a:avLst/>
          </a:prstGeom>
          <a:solidFill>
            <a:srgbClr val="F08A24"/>
          </a:solidFill>
          <a:ln w="12700">
            <a:solidFill>
              <a:srgbClr val="F08A24"/>
            </a:solidFill>
            <a:prstDash val="solid"/>
          </a:ln>
        </p:spPr>
      </p:sp>
      <p:sp>
        <p:nvSpPr>
          <p:cNvPr id="6" name="Text 4"/>
          <p:cNvSpPr txBox="1"/>
          <p:nvPr/>
        </p:nvSpPr>
        <p:spPr>
          <a:xfrm>
            <a:off x="777240" y="17373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Text 5"/>
          <p:cNvSpPr txBox="1"/>
          <p:nvPr/>
        </p:nvSpPr>
        <p:spPr>
          <a:xfrm>
            <a:off x="1554480" y="1463040"/>
            <a:ext cx="4572000" cy="1097280"/>
          </a:xfrm>
          <a:prstGeom prst="rect">
            <a:avLst/>
          </a:prstGeom>
          <a:noFill/>
          <a:ln/>
        </p:spPr>
        <p:txBody>
          <a:bodyPr wrap="square" lIns="0" tIns="0" rIns="0" bIns="0" rtlCol="0" anchor="ctr"/>
          <a:lstStyle/>
          <a:p>
            <a:pPr indent="0" marL="0">
              <a:buNone/>
            </a:pPr>
            <a:r>
              <a:rPr lang="en-US" sz="2100" i="1" dirty="0">
                <a:solidFill>
                  <a:srgbClr val="5B6B7F"/>
                </a:solidFill>
                <a:latin typeface="Calibri" pitchFamily="34" charset="0"/>
                <a:ea typeface="Calibri" pitchFamily="34" charset="-122"/>
                <a:cs typeface="Calibri" pitchFamily="34" charset="-120"/>
              </a:rPr>
              <a:t>“Best at low SNR”</a:t>
            </a:r>
            <a:endParaRPr lang="en-US" sz="2100" dirty="0"/>
          </a:p>
        </p:txBody>
      </p:sp>
      <p:sp>
        <p:nvSpPr>
          <p:cNvPr id="8" name="Text 6"/>
          <p:cNvSpPr txBox="1"/>
          <p:nvPr/>
        </p:nvSpPr>
        <p:spPr>
          <a:xfrm>
            <a:off x="6217920" y="1463040"/>
            <a:ext cx="5239512" cy="1097280"/>
          </a:xfrm>
          <a:prstGeom prst="rect">
            <a:avLst/>
          </a:prstGeom>
          <a:noFill/>
          <a:ln/>
        </p:spPr>
        <p:txBody>
          <a:bodyPr wrap="square" lIns="0" tIns="0" rIns="0" bIns="0" rtlCol="0" anchor="ctr"/>
          <a:lstStyle/>
          <a:p>
            <a:pPr indent="0" marL="0">
              <a:buNone/>
            </a:pPr>
            <a:r>
              <a:rPr lang="en-US" sz="2200" b="1" dirty="0">
                <a:solidFill>
                  <a:srgbClr val="1E293B"/>
                </a:solidFill>
                <a:latin typeface="Calibri" pitchFamily="34" charset="0"/>
                <a:ea typeface="Calibri" pitchFamily="34" charset="-122"/>
                <a:cs typeface="Calibri" pitchFamily="34" charset="-120"/>
              </a:rPr>
              <a:t>Table 5: beaten at −10, −8 and −6 dB</a:t>
            </a:r>
            <a:endParaRPr lang="en-US" sz="2200" dirty="0"/>
          </a:p>
        </p:txBody>
      </p:sp>
      <p:sp>
        <p:nvSpPr>
          <p:cNvPr id="9" name="Shape 7"/>
          <p:cNvSpPr/>
          <p:nvPr/>
        </p:nvSpPr>
        <p:spPr>
          <a:xfrm>
            <a:off x="548640" y="2743200"/>
            <a:ext cx="11091672" cy="1097280"/>
          </a:xfrm>
          <a:prstGeom prst="roundRect">
            <a:avLst>
              <a:gd name="adj" fmla="val 10000"/>
            </a:avLst>
          </a:prstGeom>
          <a:solidFill>
            <a:srgbClr val="EEF2F6"/>
          </a:solidFill>
          <a:ln w="12700">
            <a:solidFill>
              <a:srgbClr val="EEF2F6"/>
            </a:solidFill>
            <a:prstDash val="solid"/>
          </a:ln>
        </p:spPr>
      </p:sp>
      <p:sp>
        <p:nvSpPr>
          <p:cNvPr id="10" name="Shape 8"/>
          <p:cNvSpPr/>
          <p:nvPr/>
        </p:nvSpPr>
        <p:spPr>
          <a:xfrm>
            <a:off x="777240" y="3017520"/>
            <a:ext cx="548640" cy="548640"/>
          </a:xfrm>
          <a:prstGeom prst="ellipse">
            <a:avLst/>
          </a:prstGeom>
          <a:solidFill>
            <a:srgbClr val="F08A24"/>
          </a:solidFill>
          <a:ln w="12700">
            <a:solidFill>
              <a:srgbClr val="F08A24"/>
            </a:solidFill>
            <a:prstDash val="solid"/>
          </a:ln>
        </p:spPr>
      </p:sp>
      <p:sp>
        <p:nvSpPr>
          <p:cNvPr id="11" name="Text 9"/>
          <p:cNvSpPr txBox="1"/>
          <p:nvPr/>
        </p:nvSpPr>
        <p:spPr>
          <a:xfrm>
            <a:off x="777240" y="301752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2" name="Text 10"/>
          <p:cNvSpPr txBox="1"/>
          <p:nvPr/>
        </p:nvSpPr>
        <p:spPr>
          <a:xfrm>
            <a:off x="1554480" y="2743200"/>
            <a:ext cx="4572000" cy="1097280"/>
          </a:xfrm>
          <a:prstGeom prst="rect">
            <a:avLst/>
          </a:prstGeom>
          <a:noFill/>
          <a:ln/>
        </p:spPr>
        <p:txBody>
          <a:bodyPr wrap="square" lIns="0" tIns="0" rIns="0" bIns="0" rtlCol="0" anchor="ctr"/>
          <a:lstStyle/>
          <a:p>
            <a:pPr indent="0" marL="0">
              <a:buNone/>
            </a:pPr>
            <a:r>
              <a:rPr lang="en-US" sz="2100" i="1" dirty="0">
                <a:solidFill>
                  <a:srgbClr val="5B6B7F"/>
                </a:solidFill>
                <a:latin typeface="Calibri" pitchFamily="34" charset="0"/>
                <a:ea typeface="Calibri" pitchFamily="34" charset="-122"/>
                <a:cs typeface="Calibri" pitchFamily="34" charset="-120"/>
              </a:rPr>
              <a:t>“Full model has the highest precision”</a:t>
            </a:r>
            <a:endParaRPr lang="en-US" sz="2100" dirty="0"/>
          </a:p>
        </p:txBody>
      </p:sp>
      <p:sp>
        <p:nvSpPr>
          <p:cNvPr id="13" name="Text 11"/>
          <p:cNvSpPr txBox="1"/>
          <p:nvPr/>
        </p:nvSpPr>
        <p:spPr>
          <a:xfrm>
            <a:off x="6217920" y="2743200"/>
            <a:ext cx="5239512" cy="1097280"/>
          </a:xfrm>
          <a:prstGeom prst="rect">
            <a:avLst/>
          </a:prstGeom>
          <a:noFill/>
          <a:ln/>
        </p:spPr>
        <p:txBody>
          <a:bodyPr wrap="square" lIns="0" tIns="0" rIns="0" bIns="0" rtlCol="0" anchor="ctr"/>
          <a:lstStyle/>
          <a:p>
            <a:pPr indent="0" marL="0">
              <a:buNone/>
            </a:pPr>
            <a:r>
              <a:rPr lang="en-US" sz="2200" b="1" dirty="0">
                <a:solidFill>
                  <a:srgbClr val="1E293B"/>
                </a:solidFill>
                <a:latin typeface="Calibri" pitchFamily="34" charset="0"/>
                <a:ea typeface="Calibri" pitchFamily="34" charset="-122"/>
                <a:cs typeface="Calibri" pitchFamily="34" charset="-120"/>
              </a:rPr>
              <a:t>Table 6: LSTM alone is higher, 0.768 vs 0.754</a:t>
            </a:r>
            <a:endParaRPr lang="en-US" sz="2200" dirty="0"/>
          </a:p>
        </p:txBody>
      </p:sp>
      <p:sp>
        <p:nvSpPr>
          <p:cNvPr id="14" name="Shape 12"/>
          <p:cNvSpPr/>
          <p:nvPr/>
        </p:nvSpPr>
        <p:spPr>
          <a:xfrm>
            <a:off x="548640" y="4023360"/>
            <a:ext cx="11091672" cy="1097280"/>
          </a:xfrm>
          <a:prstGeom prst="roundRect">
            <a:avLst>
              <a:gd name="adj" fmla="val 10000"/>
            </a:avLst>
          </a:prstGeom>
          <a:solidFill>
            <a:srgbClr val="EEF2F6"/>
          </a:solidFill>
          <a:ln w="12700">
            <a:solidFill>
              <a:srgbClr val="EEF2F6"/>
            </a:solidFill>
            <a:prstDash val="solid"/>
          </a:ln>
        </p:spPr>
      </p:sp>
      <p:sp>
        <p:nvSpPr>
          <p:cNvPr id="15" name="Shape 13"/>
          <p:cNvSpPr/>
          <p:nvPr/>
        </p:nvSpPr>
        <p:spPr>
          <a:xfrm>
            <a:off x="777240" y="4297680"/>
            <a:ext cx="548640" cy="548640"/>
          </a:xfrm>
          <a:prstGeom prst="ellipse">
            <a:avLst/>
          </a:prstGeom>
          <a:solidFill>
            <a:srgbClr val="F08A24"/>
          </a:solidFill>
          <a:ln w="12700">
            <a:solidFill>
              <a:srgbClr val="F08A24"/>
            </a:solidFill>
            <a:prstDash val="solid"/>
          </a:ln>
        </p:spPr>
      </p:sp>
      <p:sp>
        <p:nvSpPr>
          <p:cNvPr id="16" name="Text 14"/>
          <p:cNvSpPr txBox="1"/>
          <p:nvPr/>
        </p:nvSpPr>
        <p:spPr>
          <a:xfrm>
            <a:off x="777240" y="429768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7" name="Text 15"/>
          <p:cNvSpPr txBox="1"/>
          <p:nvPr/>
        </p:nvSpPr>
        <p:spPr>
          <a:xfrm>
            <a:off x="1554480" y="4023360"/>
            <a:ext cx="4572000" cy="1097280"/>
          </a:xfrm>
          <a:prstGeom prst="rect">
            <a:avLst/>
          </a:prstGeom>
          <a:noFill/>
          <a:ln/>
        </p:spPr>
        <p:txBody>
          <a:bodyPr wrap="square" lIns="0" tIns="0" rIns="0" bIns="0" rtlCol="0" anchor="ctr"/>
          <a:lstStyle/>
          <a:p>
            <a:pPr indent="0" marL="0">
              <a:buNone/>
            </a:pPr>
            <a:r>
              <a:rPr lang="en-US" sz="2100" i="1" dirty="0">
                <a:solidFill>
                  <a:srgbClr val="5B6B7F"/>
                </a:solidFill>
                <a:latin typeface="Calibri" pitchFamily="34" charset="0"/>
                <a:ea typeface="Calibri" pitchFamily="34" charset="-122"/>
                <a:cs typeface="Calibri" pitchFamily="34" charset="-120"/>
              </a:rPr>
              <a:t>“MCLDNN: 406 million parameters”</a:t>
            </a:r>
            <a:endParaRPr lang="en-US" sz="2100" dirty="0"/>
          </a:p>
        </p:txBody>
      </p:sp>
      <p:sp>
        <p:nvSpPr>
          <p:cNvPr id="18" name="Text 16"/>
          <p:cNvSpPr txBox="1"/>
          <p:nvPr/>
        </p:nvSpPr>
        <p:spPr>
          <a:xfrm>
            <a:off x="6217920" y="4023360"/>
            <a:ext cx="5239512" cy="1097280"/>
          </a:xfrm>
          <a:prstGeom prst="rect">
            <a:avLst/>
          </a:prstGeom>
          <a:noFill/>
          <a:ln/>
        </p:spPr>
        <p:txBody>
          <a:bodyPr wrap="square" lIns="0" tIns="0" rIns="0" bIns="0" rtlCol="0" anchor="ctr"/>
          <a:lstStyle/>
          <a:p>
            <a:pPr indent="0" marL="0">
              <a:buNone/>
            </a:pPr>
            <a:r>
              <a:rPr lang="en-US" sz="2200" b="1" dirty="0">
                <a:solidFill>
                  <a:srgbClr val="1E293B"/>
                </a:solidFill>
                <a:latin typeface="Calibri" pitchFamily="34" charset="0"/>
                <a:ea typeface="Calibri" pitchFamily="34" charset="-122"/>
                <a:cs typeface="Calibri" pitchFamily="34" charset="-120"/>
              </a:rPr>
              <a:t>It has 406,199: 0.41 million</a:t>
            </a:r>
            <a:endParaRPr lang="en-US" sz="2200" dirty="0"/>
          </a:p>
        </p:txBody>
      </p:sp>
      <p:sp>
        <p:nvSpPr>
          <p:cNvPr id="19" name="Text 17"/>
          <p:cNvSpPr txBox="1"/>
          <p:nvPr/>
        </p:nvSpPr>
        <p:spPr>
          <a:xfrm>
            <a:off x="548640" y="544068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ICRNNA is about twice MCLDNN's size, not smaller.</a:t>
            </a:r>
            <a:endParaRPr lang="en-US" sz="2400" dirty="0"/>
          </a:p>
        </p:txBody>
      </p:sp>
      <p:sp>
        <p:nvSpPr>
          <p:cNvPr id="21" name="Text 18"/>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OUR CHECK</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What the paper doesn't tell us</a:t>
            </a:r>
            <a:endParaRPr lang="en-US" sz="3400" dirty="0"/>
          </a:p>
        </p:txBody>
      </p:sp>
      <p:sp>
        <p:nvSpPr>
          <p:cNvPr id="4" name="Shape 2"/>
          <p:cNvSpPr/>
          <p:nvPr/>
        </p:nvSpPr>
        <p:spPr>
          <a:xfrm>
            <a:off x="548640" y="1554480"/>
            <a:ext cx="548640" cy="548640"/>
          </a:xfrm>
          <a:prstGeom prst="ellipse">
            <a:avLst/>
          </a:prstGeom>
          <a:solidFill>
            <a:srgbClr val="0F1B2D"/>
          </a:solidFill>
          <a:ln w="12700">
            <a:solidFill>
              <a:srgbClr val="0F1B2D"/>
            </a:solidFill>
            <a:prstDash val="solid"/>
          </a:ln>
        </p:spPr>
      </p:sp>
      <p:sp>
        <p:nvSpPr>
          <p:cNvPr id="5" name="Text 3"/>
          <p:cNvSpPr txBox="1"/>
          <p:nvPr/>
        </p:nvSpPr>
        <p:spPr>
          <a:xfrm>
            <a:off x="548640" y="155448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6" name="Text 4"/>
          <p:cNvSpPr txBox="1"/>
          <p:nvPr/>
        </p:nvSpPr>
        <p:spPr>
          <a:xfrm>
            <a:off x="1325880" y="1508760"/>
            <a:ext cx="2194560" cy="640080"/>
          </a:xfrm>
          <a:prstGeom prst="rect">
            <a:avLst/>
          </a:prstGeom>
          <a:noFill/>
          <a:ln/>
        </p:spPr>
        <p:txBody>
          <a:bodyPr wrap="square" lIns="0" tIns="0" rIns="0" bIns="0" rtlCol="0" anchor="ctr"/>
          <a:lstStyle/>
          <a:p>
            <a:pPr indent="0" marL="0">
              <a:buNone/>
            </a:pPr>
            <a:r>
              <a:rPr lang="en-US" sz="2400" b="1" dirty="0">
                <a:solidFill>
                  <a:srgbClr val="1E293B"/>
                </a:solidFill>
                <a:latin typeface="Calibri" pitchFamily="34" charset="0"/>
                <a:ea typeface="Calibri" pitchFamily="34" charset="-122"/>
                <a:cs typeface="Calibri" pitchFamily="34" charset="-120"/>
              </a:rPr>
              <a:t>One run</a:t>
            </a:r>
            <a:endParaRPr lang="en-US" sz="2400" dirty="0"/>
          </a:p>
        </p:txBody>
      </p:sp>
      <p:sp>
        <p:nvSpPr>
          <p:cNvPr id="7" name="Text 5"/>
          <p:cNvSpPr txBox="1"/>
          <p:nvPr/>
        </p:nvSpPr>
        <p:spPr>
          <a:xfrm>
            <a:off x="3520440" y="1508760"/>
            <a:ext cx="4206240" cy="685800"/>
          </a:xfrm>
          <a:prstGeom prst="rect">
            <a:avLst/>
          </a:prstGeom>
          <a:noFill/>
          <a:ln/>
        </p:spPr>
        <p:txBody>
          <a:bodyPr wrap="square" lIns="0" tIns="0" rIns="0" bIns="0" rtlCol="0" anchor="ctr"/>
          <a:lstStyle/>
          <a:p>
            <a:pPr indent="0" marL="0">
              <a:buNone/>
            </a:pPr>
            <a:r>
              <a:rPr lang="en-US" sz="2000" dirty="0">
                <a:solidFill>
                  <a:srgbClr val="5B6B7F"/>
                </a:solidFill>
                <a:latin typeface="Calibri" pitchFamily="34" charset="0"/>
                <a:ea typeface="Calibri" pitchFamily="34" charset="-122"/>
                <a:cs typeface="Calibri" pitchFamily="34" charset="-120"/>
              </a:rPr>
              <a:t>no spread; our seeds vary by up to a point</a:t>
            </a:r>
            <a:endParaRPr lang="en-US" sz="2000" dirty="0"/>
          </a:p>
        </p:txBody>
      </p:sp>
      <p:sp>
        <p:nvSpPr>
          <p:cNvPr id="8" name="Shape 6"/>
          <p:cNvSpPr/>
          <p:nvPr/>
        </p:nvSpPr>
        <p:spPr>
          <a:xfrm>
            <a:off x="548640" y="2743200"/>
            <a:ext cx="548640" cy="548640"/>
          </a:xfrm>
          <a:prstGeom prst="ellipse">
            <a:avLst/>
          </a:prstGeom>
          <a:solidFill>
            <a:srgbClr val="0F1B2D"/>
          </a:solidFill>
          <a:ln w="12700">
            <a:solidFill>
              <a:srgbClr val="0F1B2D"/>
            </a:solidFill>
            <a:prstDash val="solid"/>
          </a:ln>
        </p:spPr>
      </p:sp>
      <p:sp>
        <p:nvSpPr>
          <p:cNvPr id="9" name="Text 7"/>
          <p:cNvSpPr txBox="1"/>
          <p:nvPr/>
        </p:nvSpPr>
        <p:spPr>
          <a:xfrm>
            <a:off x="548640" y="27432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0" name="Text 8"/>
          <p:cNvSpPr txBox="1"/>
          <p:nvPr/>
        </p:nvSpPr>
        <p:spPr>
          <a:xfrm>
            <a:off x="1325880" y="2697480"/>
            <a:ext cx="2194560" cy="640080"/>
          </a:xfrm>
          <a:prstGeom prst="rect">
            <a:avLst/>
          </a:prstGeom>
          <a:noFill/>
          <a:ln/>
        </p:spPr>
        <p:txBody>
          <a:bodyPr wrap="square" lIns="0" tIns="0" rIns="0" bIns="0" rtlCol="0" anchor="ctr"/>
          <a:lstStyle/>
          <a:p>
            <a:pPr indent="0" marL="0">
              <a:buNone/>
            </a:pPr>
            <a:r>
              <a:rPr lang="en-US" sz="2400" b="1" dirty="0">
                <a:solidFill>
                  <a:srgbClr val="1E293B"/>
                </a:solidFill>
                <a:latin typeface="Calibri" pitchFamily="34" charset="0"/>
                <a:ea typeface="Calibri" pitchFamily="34" charset="-122"/>
                <a:cs typeface="Calibri" pitchFamily="34" charset="-120"/>
              </a:rPr>
              <a:t>Baselines</a:t>
            </a:r>
            <a:endParaRPr lang="en-US" sz="2400" dirty="0"/>
          </a:p>
        </p:txBody>
      </p:sp>
      <p:sp>
        <p:nvSpPr>
          <p:cNvPr id="11" name="Text 9"/>
          <p:cNvSpPr txBox="1"/>
          <p:nvPr/>
        </p:nvSpPr>
        <p:spPr>
          <a:xfrm>
            <a:off x="3520440" y="2697480"/>
            <a:ext cx="4206240" cy="685800"/>
          </a:xfrm>
          <a:prstGeom prst="rect">
            <a:avLst/>
          </a:prstGeom>
          <a:noFill/>
          <a:ln/>
        </p:spPr>
        <p:txBody>
          <a:bodyPr wrap="square" lIns="0" tIns="0" rIns="0" bIns="0" rtlCol="0" anchor="ctr"/>
          <a:lstStyle/>
          <a:p>
            <a:pPr indent="0" marL="0">
              <a:buNone/>
            </a:pPr>
            <a:r>
              <a:rPr lang="en-US" sz="2000" dirty="0">
                <a:solidFill>
                  <a:srgbClr val="5B6B7F"/>
                </a:solidFill>
                <a:latin typeface="Calibri" pitchFamily="34" charset="0"/>
                <a:ea typeface="Calibri" pitchFamily="34" charset="-122"/>
                <a:cs typeface="Calibri" pitchFamily="34" charset="-120"/>
              </a:rPr>
              <a:t>retrained on the same split, or copied from their papers?</a:t>
            </a:r>
            <a:endParaRPr lang="en-US" sz="2000" dirty="0"/>
          </a:p>
        </p:txBody>
      </p:sp>
      <p:sp>
        <p:nvSpPr>
          <p:cNvPr id="12" name="Shape 10"/>
          <p:cNvSpPr/>
          <p:nvPr/>
        </p:nvSpPr>
        <p:spPr>
          <a:xfrm>
            <a:off x="548640" y="3931920"/>
            <a:ext cx="548640" cy="548640"/>
          </a:xfrm>
          <a:prstGeom prst="ellipse">
            <a:avLst/>
          </a:prstGeom>
          <a:solidFill>
            <a:srgbClr val="0F1B2D"/>
          </a:solidFill>
          <a:ln w="12700">
            <a:solidFill>
              <a:srgbClr val="0F1B2D"/>
            </a:solidFill>
            <a:prstDash val="solid"/>
          </a:ln>
        </p:spPr>
      </p:sp>
      <p:sp>
        <p:nvSpPr>
          <p:cNvPr id="13" name="Text 11"/>
          <p:cNvSpPr txBox="1"/>
          <p:nvPr/>
        </p:nvSpPr>
        <p:spPr>
          <a:xfrm>
            <a:off x="548640" y="393192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4" name="Text 12"/>
          <p:cNvSpPr txBox="1"/>
          <p:nvPr/>
        </p:nvSpPr>
        <p:spPr>
          <a:xfrm>
            <a:off x="1325880" y="3886200"/>
            <a:ext cx="2194560" cy="640080"/>
          </a:xfrm>
          <a:prstGeom prst="rect">
            <a:avLst/>
          </a:prstGeom>
          <a:noFill/>
          <a:ln/>
        </p:spPr>
        <p:txBody>
          <a:bodyPr wrap="square" lIns="0" tIns="0" rIns="0" bIns="0" rtlCol="0" anchor="ctr"/>
          <a:lstStyle/>
          <a:p>
            <a:pPr indent="0" marL="0">
              <a:buNone/>
            </a:pPr>
            <a:r>
              <a:rPr lang="en-US" sz="2400" b="1" dirty="0">
                <a:solidFill>
                  <a:srgbClr val="1E293B"/>
                </a:solidFill>
                <a:latin typeface="Calibri" pitchFamily="34" charset="0"/>
                <a:ea typeface="Calibri" pitchFamily="34" charset="-122"/>
                <a:cs typeface="Calibri" pitchFamily="34" charset="-120"/>
              </a:rPr>
              <a:t>SNR label</a:t>
            </a:r>
            <a:endParaRPr lang="en-US" sz="2400" dirty="0"/>
          </a:p>
        </p:txBody>
      </p:sp>
      <p:sp>
        <p:nvSpPr>
          <p:cNvPr id="15" name="Text 13"/>
          <p:cNvSpPr txBox="1"/>
          <p:nvPr/>
        </p:nvSpPr>
        <p:spPr>
          <a:xfrm>
            <a:off x="3520440" y="3886200"/>
            <a:ext cx="4206240" cy="685800"/>
          </a:xfrm>
          <a:prstGeom prst="rect">
            <a:avLst/>
          </a:prstGeom>
          <a:noFill/>
          <a:ln/>
        </p:spPr>
        <p:txBody>
          <a:bodyPr wrap="square" lIns="0" tIns="0" rIns="0" bIns="0" rtlCol="0" anchor="ctr"/>
          <a:lstStyle/>
          <a:p>
            <a:pPr indent="0" marL="0">
              <a:buNone/>
            </a:pPr>
            <a:r>
              <a:rPr lang="en-US" sz="2000" dirty="0">
                <a:solidFill>
                  <a:srgbClr val="5B6B7F"/>
                </a:solidFill>
                <a:latin typeface="Calibri" pitchFamily="34" charset="0"/>
                <a:ea typeface="Calibri" pitchFamily="34" charset="-122"/>
                <a:cs typeface="Calibri" pitchFamily="34" charset="-120"/>
              </a:rPr>
              <a:t>taken as the true SNR</a:t>
            </a:r>
            <a:endParaRPr lang="en-US" sz="2000" dirty="0"/>
          </a:p>
        </p:txBody>
      </p:sp>
      <p:sp>
        <p:nvSpPr>
          <p:cNvPr id="16" name="Shape 14"/>
          <p:cNvSpPr/>
          <p:nvPr/>
        </p:nvSpPr>
        <p:spPr>
          <a:xfrm>
            <a:off x="7955280" y="1463040"/>
            <a:ext cx="3685032" cy="3520440"/>
          </a:xfrm>
          <a:prstGeom prst="roundRect">
            <a:avLst>
              <a:gd name="adj" fmla="val 3117"/>
            </a:avLst>
          </a:prstGeom>
          <a:solidFill>
            <a:srgbClr val="EEF2F6"/>
          </a:solidFill>
          <a:ln w="12700">
            <a:solidFill>
              <a:srgbClr val="EEF2F6"/>
            </a:solidFill>
            <a:prstDash val="solid"/>
          </a:ln>
        </p:spPr>
      </p:sp>
      <p:sp>
        <p:nvSpPr>
          <p:cNvPr id="17" name="Text 15"/>
          <p:cNvSpPr txBox="1"/>
          <p:nvPr/>
        </p:nvSpPr>
        <p:spPr>
          <a:xfrm>
            <a:off x="8183880" y="1645920"/>
            <a:ext cx="3291840" cy="1005840"/>
          </a:xfrm>
          <a:prstGeom prst="rect">
            <a:avLst/>
          </a:prstGeom>
          <a:noFill/>
          <a:ln/>
        </p:spPr>
        <p:txBody>
          <a:bodyPr wrap="square" lIns="0" tIns="0" rIns="0" bIns="0" rtlCol="0" anchor="b"/>
          <a:lstStyle/>
          <a:p>
            <a:pPr indent="0" marL="0">
              <a:buNone/>
            </a:pPr>
            <a:r>
              <a:rPr lang="en-US" sz="6000" b="1" dirty="0">
                <a:solidFill>
                  <a:srgbClr val="F08A24"/>
                </a:solidFill>
                <a:latin typeface="Calibri" pitchFamily="34" charset="0"/>
                <a:ea typeface="Calibri" pitchFamily="34" charset="-122"/>
                <a:cs typeface="Calibri" pitchFamily="34" charset="-120"/>
              </a:rPr>
              <a:t>+9 dB</a:t>
            </a:r>
            <a:endParaRPr lang="en-US" sz="6000" dirty="0"/>
          </a:p>
        </p:txBody>
      </p:sp>
      <p:sp>
        <p:nvSpPr>
          <p:cNvPr id="18" name="Text 16"/>
          <p:cNvSpPr txBox="1"/>
          <p:nvPr/>
        </p:nvSpPr>
        <p:spPr>
          <a:xfrm>
            <a:off x="8183880" y="2697480"/>
            <a:ext cx="3200400" cy="1463040"/>
          </a:xfrm>
          <a:prstGeom prst="rect">
            <a:avLst/>
          </a:prstGeom>
          <a:noFill/>
          <a:ln/>
        </p:spPr>
        <p:txBody>
          <a:bodyPr wrap="square" lIns="0" tIns="0" rIns="0" bIns="0" rtlCol="0" anchor="t"/>
          <a:lstStyle/>
          <a:p>
            <a:pPr indent="0" marL="0">
              <a:buNone/>
            </a:pPr>
            <a:r>
              <a:rPr lang="en-US" sz="1900" dirty="0">
                <a:solidFill>
                  <a:srgbClr val="5B6B7F"/>
                </a:solidFill>
                <a:latin typeface="Calibri" pitchFamily="34" charset="0"/>
                <a:ea typeface="Calibri" pitchFamily="34" charset="-122"/>
                <a:cs typeface="Calibri" pitchFamily="34" charset="-120"/>
              </a:rPr>
              <a:t>more signal in QAM16 than in QPSK, both labelled 0 dB (measured in the file)</a:t>
            </a:r>
            <a:endParaRPr lang="en-US" sz="1900" dirty="0"/>
          </a:p>
        </p:txBody>
      </p:sp>
      <p:sp>
        <p:nvSpPr>
          <p:cNvPr id="19" name="Text 17"/>
          <p:cNvSpPr txBox="1"/>
          <p:nvPr/>
        </p:nvSpPr>
        <p:spPr>
          <a:xfrm>
            <a:off x="548640" y="544068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A half-point lead from one run may not be real.</a:t>
            </a:r>
            <a:endParaRPr lang="en-US" sz="2400" dirty="0"/>
          </a:p>
        </p:txBody>
      </p:sp>
      <p:sp>
        <p:nvSpPr>
          <p:cNvPr id="21" name="Text 18"/>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22</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ICRNNA: the paper, step by step</dc:title>
  <dc:subject>PptxGenJS Presentation</dc:subject>
  <dc:creator>Yusuf Bilal Cetinkaya</dc:creator>
  <cp:lastModifiedBy>Yusuf Bilal Cetinkaya</cp:lastModifiedBy>
  <cp:revision>1</cp:revision>
  <dcterms:created xsi:type="dcterms:W3CDTF">2026-10-27T19:50:15Z</dcterms:created>
  <dcterms:modified xsi:type="dcterms:W3CDTF">2026-10-27T19:50:15Z</dcterms:modified>
</cp:coreProperties>
</file>